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2" r:id="rId1"/>
  </p:sldMasterIdLst>
  <p:sldIdLst>
    <p:sldId id="256" r:id="rId2"/>
    <p:sldId id="257" r:id="rId3"/>
    <p:sldId id="260" r:id="rId4"/>
    <p:sldId id="259" r:id="rId5"/>
    <p:sldId id="301" r:id="rId6"/>
    <p:sldId id="292" r:id="rId7"/>
    <p:sldId id="263" r:id="rId8"/>
    <p:sldId id="302" r:id="rId9"/>
    <p:sldId id="291" r:id="rId10"/>
    <p:sldId id="261" r:id="rId11"/>
    <p:sldId id="303" r:id="rId12"/>
    <p:sldId id="262" r:id="rId13"/>
    <p:sldId id="293" r:id="rId14"/>
    <p:sldId id="294" r:id="rId15"/>
    <p:sldId id="298" r:id="rId16"/>
    <p:sldId id="297" r:id="rId17"/>
    <p:sldId id="299" r:id="rId18"/>
    <p:sldId id="264" r:id="rId19"/>
    <p:sldId id="265" r:id="rId20"/>
    <p:sldId id="266" r:id="rId21"/>
    <p:sldId id="295" r:id="rId22"/>
    <p:sldId id="267" r:id="rId23"/>
    <p:sldId id="269" r:id="rId24"/>
    <p:sldId id="268" r:id="rId25"/>
    <p:sldId id="270" r:id="rId26"/>
    <p:sldId id="271" r:id="rId27"/>
    <p:sldId id="272" r:id="rId28"/>
    <p:sldId id="274" r:id="rId29"/>
    <p:sldId id="273" r:id="rId30"/>
    <p:sldId id="275" r:id="rId31"/>
    <p:sldId id="276" r:id="rId32"/>
    <p:sldId id="277" r:id="rId33"/>
    <p:sldId id="278" r:id="rId34"/>
    <p:sldId id="279" r:id="rId35"/>
    <p:sldId id="280" r:id="rId36"/>
    <p:sldId id="281" r:id="rId37"/>
    <p:sldId id="282" r:id="rId38"/>
    <p:sldId id="283" r:id="rId39"/>
    <p:sldId id="285" r:id="rId40"/>
    <p:sldId id="284" r:id="rId41"/>
    <p:sldId id="286" r:id="rId42"/>
    <p:sldId id="288" r:id="rId43"/>
    <p:sldId id="287" r:id="rId44"/>
    <p:sldId id="289" r:id="rId4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45" autoAdjust="0"/>
  </p:normalViewPr>
  <p:slideViewPr>
    <p:cSldViewPr>
      <p:cViewPr varScale="1">
        <p:scale>
          <a:sx n="51" d="100"/>
          <a:sy n="51" d="100"/>
        </p:scale>
        <p:origin x="944"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4A3CF8D-44B1-47E6-AAB7-239FD45861C5}" type="slidenum">
              <a:rPr lang="zh-TW" altLang="en-US" smtClean="0"/>
              <a:pPr/>
              <a:t>‹#›</a:t>
            </a:fld>
            <a:endParaRPr lang="zh-TW" altLang="en-US"/>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zh-TW" altLang="en-US"/>
              <a:t>按一下以編輯母片標題樣式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4A3CF8D-44B1-47E6-AAB7-239FD45861C5}" type="slidenum">
              <a:rPr lang="zh-TW" altLang="en-US" smtClean="0"/>
              <a:pPr/>
              <a:t>‹#›</a:t>
            </a:fld>
            <a:endParaRPr lang="zh-TW" altLang="en-US"/>
          </a:p>
        </p:txBody>
      </p:sp>
      <p:sp>
        <p:nvSpPr>
          <p:cNvPr id="8" name="Title 7"/>
          <p:cNvSpPr>
            <a:spLocks noGrp="1"/>
          </p:cNvSpPr>
          <p:nvPr>
            <p:ph type="title"/>
          </p:nvPr>
        </p:nvSpPr>
        <p:spPr/>
        <p:txBody>
          <a:bodyPr/>
          <a:lstStyle/>
          <a:p>
            <a:r>
              <a:rPr lang="zh-TW" altLang="en-US"/>
              <a:t>按一下以編輯母片標題樣式</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zh-TW" altLang="en-US"/>
              <a:t>按一下以編輯母片標題樣式</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4A3CF8D-44B1-47E6-AAB7-239FD45861C5}"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4A3CF8D-44B1-47E6-AAB7-239FD45861C5}" type="slidenum">
              <a:rPr lang="zh-TW" altLang="en-US" smtClean="0"/>
              <a:pPr/>
              <a:t>‹#›</a:t>
            </a:fld>
            <a:endParaRPr lang="zh-TW" altLang="en-US"/>
          </a:p>
        </p:txBody>
      </p:sp>
      <p:sp>
        <p:nvSpPr>
          <p:cNvPr id="8" name="Title 7"/>
          <p:cNvSpPr>
            <a:spLocks noGrp="1"/>
          </p:cNvSpPr>
          <p:nvPr>
            <p:ph type="title"/>
          </p:nvPr>
        </p:nvSpPr>
        <p:spPr/>
        <p:txBody>
          <a:bodyPr/>
          <a:lstStyle/>
          <a:p>
            <a:r>
              <a:rPr lang="zh-TW" altLang="en-US"/>
              <a:t>按一下以編輯母片標題樣式</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zh-TW" altLang="en-US"/>
              <a:t>按一下以編輯母片文字樣式</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4A3CF8D-44B1-47E6-AAB7-239FD45861C5}" type="slidenum">
              <a:rPr lang="zh-TW" altLang="en-US" smtClean="0"/>
              <a:pPr/>
              <a:t>‹#›</a:t>
            </a:fld>
            <a:endParaRPr lang="zh-TW" altLang="en-US"/>
          </a:p>
        </p:txBody>
      </p:sp>
      <p:sp>
        <p:nvSpPr>
          <p:cNvPr id="10" name="Title 9"/>
          <p:cNvSpPr>
            <a:spLocks noGrp="1"/>
          </p:cNvSpPr>
          <p:nvPr>
            <p:ph type="title"/>
          </p:nvPr>
        </p:nvSpPr>
        <p:spPr/>
        <p:txBody>
          <a:bodyPr/>
          <a:lstStyle/>
          <a:p>
            <a:r>
              <a:rPr lang="zh-TW" altLang="en-US"/>
              <a:t>按一下以編輯母片標題樣式</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4A3CF8D-44B1-47E6-AAB7-239FD45861C5}"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4A3CF8D-44B1-47E6-AAB7-239FD45861C5}"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zh-TW" altLang="en-US"/>
              <a:t>按一下以編輯母片標題樣式</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4A3CF8D-44B1-47E6-AAB7-239FD45861C5}"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4A3CF8D-44B1-47E6-AAB7-239FD45861C5}" type="slidenum">
              <a:rPr lang="zh-TW" altLang="en-US" smtClean="0"/>
              <a:pPr/>
              <a:t>‹#›</a:t>
            </a:fld>
            <a:endParaRPr lang="zh-TW" altLang="en-US"/>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zh-TW" altLang="en-US"/>
              <a:t>按一下以編輯母片標題樣式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4A3CF8D-44B1-47E6-AAB7-239FD45861C5}"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FCD20A6-C17E-4B7D-83BF-25D511A37CF6}" type="datetimeFigureOut">
              <a:rPr lang="zh-TW" altLang="en-US" smtClean="0"/>
              <a:pPr/>
              <a:t>2026/5/11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4A3CF8D-44B1-47E6-AAB7-239FD45861C5}"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1FCD20A6-C17E-4B7D-83BF-25D511A37CF6}" type="datetimeFigureOut">
              <a:rPr lang="zh-TW" altLang="en-US" smtClean="0"/>
              <a:pPr/>
              <a:t>2026/5/11</a:t>
            </a:fld>
            <a:endParaRPr lang="zh-TW" altLang="en-US"/>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zh-TW" altLang="en-US"/>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4A3CF8D-44B1-47E6-AAB7-239FD45861C5}"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07504" y="620689"/>
            <a:ext cx="9036496" cy="936104"/>
          </a:xfrm>
        </p:spPr>
        <p:txBody>
          <a:bodyPr/>
          <a:lstStyle/>
          <a:p>
            <a:pPr marL="182880" indent="0" algn="ctr">
              <a:buNone/>
            </a:pPr>
            <a:r>
              <a:rPr lang="zh-TW" altLang="zh-TW" sz="4000" dirty="0">
                <a:effectLst/>
              </a:rPr>
              <a:t>第六章不完全訊息賽局</a:t>
            </a:r>
          </a:p>
        </p:txBody>
      </p:sp>
      <p:sp>
        <p:nvSpPr>
          <p:cNvPr id="4" name="內容版面配置區 2"/>
          <p:cNvSpPr txBox="1">
            <a:spLocks/>
          </p:cNvSpPr>
          <p:nvPr/>
        </p:nvSpPr>
        <p:spPr>
          <a:xfrm>
            <a:off x="1979712" y="908720"/>
            <a:ext cx="6855567" cy="4322305"/>
          </a:xfrm>
          <a:prstGeom prst="rect">
            <a:avLst/>
          </a:prstGeom>
        </p:spPr>
        <p:txBody>
          <a:bodyPr>
            <a:normAutofit/>
          </a:bodyPr>
          <a:lst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a:lstStyle>
          <a:p>
            <a:pPr algn="ctr">
              <a:buFont typeface="Georgia" pitchFamily="18" charset="0"/>
              <a:buNone/>
            </a:pPr>
            <a:endParaRPr lang="en-US" altLang="zh-TW" sz="3600" dirty="0"/>
          </a:p>
          <a:p>
            <a:pPr>
              <a:buFont typeface="Georgia" pitchFamily="18" charset="0"/>
              <a:buNone/>
            </a:pPr>
            <a:endParaRPr lang="en-US" altLang="zh-TW" dirty="0"/>
          </a:p>
          <a:p>
            <a:pPr>
              <a:buFont typeface="Georgia" pitchFamily="18" charset="0"/>
              <a:buNone/>
            </a:pPr>
            <a:r>
              <a:rPr lang="zh-TW" altLang="en-US" sz="3200" dirty="0"/>
              <a:t>第一節 何謂不完全訊息賽局</a:t>
            </a:r>
            <a:endParaRPr lang="en-US" altLang="zh-TW" sz="3200" dirty="0"/>
          </a:p>
          <a:p>
            <a:pPr>
              <a:buFont typeface="Georgia" pitchFamily="18" charset="0"/>
              <a:buNone/>
            </a:pPr>
            <a:r>
              <a:rPr lang="zh-TW" altLang="en-US" sz="3200" dirty="0"/>
              <a:t>第二節不完全訊息靜態賽局實例分析</a:t>
            </a:r>
            <a:endParaRPr lang="zh-TW" altLang="zh-TW" sz="3200" dirty="0"/>
          </a:p>
          <a:p>
            <a:pPr>
              <a:buFont typeface="Georgia" pitchFamily="18" charset="0"/>
              <a:buNone/>
            </a:pPr>
            <a:r>
              <a:rPr lang="zh-TW" altLang="en-US" sz="3200" dirty="0"/>
              <a:t>第三節不完全訊息動態賽局</a:t>
            </a:r>
            <a:endParaRPr lang="en-US" altLang="zh-TW" sz="3200" dirty="0"/>
          </a:p>
          <a:p>
            <a:pPr>
              <a:buFont typeface="Georgia" pitchFamily="18" charset="0"/>
              <a:buNone/>
            </a:pPr>
            <a:r>
              <a:rPr lang="zh-TW" altLang="en-US" sz="3200" dirty="0"/>
              <a:t>第四節完全貝氏</a:t>
            </a:r>
            <a:r>
              <a:rPr lang="en-US" altLang="zh-TW" sz="3200" dirty="0"/>
              <a:t>Nash</a:t>
            </a:r>
            <a:r>
              <a:rPr lang="zh-TW" altLang="en-US" sz="3200" dirty="0"/>
              <a:t>均衡</a:t>
            </a:r>
            <a:r>
              <a:rPr lang="en-US" altLang="zh-TW" sz="3200" dirty="0"/>
              <a:t> (SPNE)</a:t>
            </a:r>
          </a:p>
          <a:p>
            <a:pPr>
              <a:buFont typeface="Georgia" pitchFamily="18" charset="0"/>
              <a:buNone/>
            </a:pPr>
            <a:r>
              <a:rPr lang="zh-TW" altLang="en-US" sz="3200" dirty="0"/>
              <a:t>第五節薛爾頓顫抖手賽局</a:t>
            </a:r>
            <a:endParaRPr lang="zh-TW" altLang="zh-TW" sz="3200" dirty="0"/>
          </a:p>
          <a:p>
            <a:pPr>
              <a:buFont typeface="Georgia" pitchFamily="18" charset="0"/>
              <a:buNone/>
            </a:pPr>
            <a:endParaRPr lang="zh-TW" altLang="en-US" sz="3200" dirty="0"/>
          </a:p>
        </p:txBody>
      </p:sp>
    </p:spTree>
    <p:extLst>
      <p:ext uri="{BB962C8B-B14F-4D97-AF65-F5344CB8AC3E}">
        <p14:creationId xmlns:p14="http://schemas.microsoft.com/office/powerpoint/2010/main" val="4157597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3"/>
          </p:nvPr>
        </p:nvSpPr>
        <p:spPr>
          <a:xfrm>
            <a:off x="395536" y="1700808"/>
            <a:ext cx="7704856" cy="3960440"/>
          </a:xfrm>
        </p:spPr>
        <p:txBody>
          <a:bodyPr>
            <a:normAutofit/>
          </a:bodyPr>
          <a:lstStyle/>
          <a:p>
            <a:pPr marL="45720" indent="0" algn="ctr">
              <a:lnSpc>
                <a:spcPct val="150000"/>
              </a:lnSpc>
              <a:buNone/>
            </a:pPr>
            <a:r>
              <a:rPr lang="zh-TW" altLang="en-US" sz="3500" b="1" dirty="0"/>
              <a:t>觀念</a:t>
            </a:r>
            <a:endParaRPr lang="en-US" altLang="zh-TW" sz="3500" b="1" dirty="0"/>
          </a:p>
          <a:p>
            <a:pPr marL="45720" indent="0">
              <a:lnSpc>
                <a:spcPct val="150000"/>
              </a:lnSpc>
              <a:buNone/>
            </a:pPr>
            <a:r>
              <a:rPr lang="zh-TW" altLang="en-US" sz="2800" dirty="0"/>
              <a:t>對參與者而言，他們在決策時無法掌握足夠的訊息，所以他們不完全清楚其他參與者不同策略時， 只能以猜測方式對方出招的機率</a:t>
            </a:r>
            <a:r>
              <a:rPr lang="en-US" altLang="zh-TW" sz="2800" dirty="0">
                <a:latin typeface="PMingLiU" panose="02020500000000000000" pitchFamily="18" charset="-120"/>
                <a:ea typeface="PMingLiU" panose="02020500000000000000" pitchFamily="18" charset="-120"/>
              </a:rPr>
              <a:t>，</a:t>
            </a:r>
            <a:r>
              <a:rPr lang="zh-TW" altLang="en-US" sz="2800" dirty="0">
                <a:latin typeface="+mn-ea"/>
              </a:rPr>
              <a:t>因此其策略是</a:t>
            </a:r>
            <a:r>
              <a:rPr lang="zh-TW" altLang="en-US" sz="2800" dirty="0"/>
              <a:t>呈現預期收益</a:t>
            </a:r>
            <a:r>
              <a:rPr lang="en-US" altLang="zh-TW" sz="2800" dirty="0"/>
              <a:t>(expected payoff)</a:t>
            </a:r>
            <a:r>
              <a:rPr lang="zh-TW" altLang="en-US" sz="2800" dirty="0"/>
              <a:t>。</a:t>
            </a:r>
            <a:endParaRPr lang="en-US" altLang="zh-TW" sz="2800" dirty="0"/>
          </a:p>
        </p:txBody>
      </p:sp>
      <p:sp>
        <p:nvSpPr>
          <p:cNvPr id="4" name="矩形 3"/>
          <p:cNvSpPr/>
          <p:nvPr/>
        </p:nvSpPr>
        <p:spPr>
          <a:xfrm>
            <a:off x="1835696" y="620688"/>
            <a:ext cx="5211683" cy="584775"/>
          </a:xfrm>
          <a:prstGeom prst="rect">
            <a:avLst/>
          </a:prstGeom>
        </p:spPr>
        <p:txBody>
          <a:bodyPr wrap="none">
            <a:spAutoFit/>
          </a:bodyPr>
          <a:lstStyle/>
          <a:p>
            <a:pPr>
              <a:buFont typeface="Georgia" pitchFamily="18" charset="0"/>
              <a:buNone/>
            </a:pPr>
            <a:r>
              <a:rPr lang="zh-TW" altLang="en-US" sz="3200" dirty="0"/>
              <a:t>第一節 何謂不完全訊息賽局</a:t>
            </a:r>
            <a:endParaRPr lang="en-US" altLang="zh-TW"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99992" y="6093296"/>
            <a:ext cx="4581703" cy="369332"/>
          </a:xfrm>
          <a:prstGeom prst="rect">
            <a:avLst/>
          </a:prstGeom>
        </p:spPr>
        <p:txBody>
          <a:bodyPr wrap="none">
            <a:spAutoFit/>
          </a:bodyPr>
          <a:lstStyle/>
          <a:p>
            <a:r>
              <a:rPr lang="zh-TW" altLang="zh-TW" dirty="0"/>
              <a:t>圖</a:t>
            </a:r>
            <a:r>
              <a:rPr lang="en-US" altLang="zh-TW" dirty="0">
                <a:latin typeface="+mj-ea"/>
                <a:ea typeface="+mj-ea"/>
              </a:rPr>
              <a:t>6-1-1 </a:t>
            </a:r>
            <a:r>
              <a:rPr lang="en-US" altLang="zh-TW" dirty="0"/>
              <a:t>(A)</a:t>
            </a:r>
            <a:r>
              <a:rPr lang="zh-TW" altLang="en-US" dirty="0"/>
              <a:t> </a:t>
            </a:r>
            <a:r>
              <a:rPr lang="en-US" altLang="zh-TW" dirty="0"/>
              <a:t>SONY</a:t>
            </a:r>
            <a:r>
              <a:rPr lang="zh-TW" altLang="zh-TW" dirty="0"/>
              <a:t>及</a:t>
            </a:r>
            <a:r>
              <a:rPr lang="en-US" altLang="zh-TW" dirty="0"/>
              <a:t>VIZIO</a:t>
            </a:r>
            <a:r>
              <a:rPr lang="zh-TW" altLang="zh-TW" dirty="0"/>
              <a:t>之間的策略競爭</a:t>
            </a:r>
            <a:endParaRPr lang="zh-TW" altLang="en-US" dirty="0"/>
          </a:p>
        </p:txBody>
      </p:sp>
      <p:sp>
        <p:nvSpPr>
          <p:cNvPr id="4" name="矩形 3"/>
          <p:cNvSpPr/>
          <p:nvPr/>
        </p:nvSpPr>
        <p:spPr>
          <a:xfrm>
            <a:off x="0" y="4272677"/>
            <a:ext cx="4572000" cy="2585323"/>
          </a:xfrm>
          <a:prstGeom prst="rect">
            <a:avLst/>
          </a:prstGeom>
        </p:spPr>
        <p:txBody>
          <a:bodyPr>
            <a:spAutoFit/>
          </a:bodyPr>
          <a:lstStyle/>
          <a:p>
            <a:pPr marL="514350" indent="-514350">
              <a:lnSpc>
                <a:spcPct val="150000"/>
              </a:lnSpc>
              <a:buClrTx/>
              <a:buFont typeface="Wingdings" pitchFamily="2" charset="2"/>
              <a:buAutoNum type="arabicPeriod"/>
            </a:pPr>
            <a:r>
              <a:rPr lang="en-US" altLang="zh-TW" dirty="0"/>
              <a:t>SONY</a:t>
            </a:r>
            <a:r>
              <a:rPr lang="zh-TW" altLang="en-US" dirty="0"/>
              <a:t>的生產成本是高或低，唯有</a:t>
            </a:r>
            <a:r>
              <a:rPr lang="en-US" altLang="zh-TW" dirty="0"/>
              <a:t>SONY</a:t>
            </a:r>
            <a:r>
              <a:rPr lang="zh-TW" altLang="en-US" dirty="0"/>
              <a:t>本身知道，</a:t>
            </a:r>
            <a:r>
              <a:rPr lang="en-US" altLang="zh-TW" dirty="0"/>
              <a:t>VIZIO</a:t>
            </a:r>
            <a:r>
              <a:rPr lang="zh-TW" altLang="en-US" dirty="0"/>
              <a:t>只能猜測</a:t>
            </a:r>
            <a:endParaRPr lang="en-US" altLang="zh-TW" dirty="0"/>
          </a:p>
          <a:p>
            <a:pPr marL="514350" indent="-514350">
              <a:lnSpc>
                <a:spcPct val="150000"/>
              </a:lnSpc>
              <a:buClrTx/>
              <a:buFont typeface="Wingdings" pitchFamily="2" charset="2"/>
              <a:buAutoNum type="arabicPeriod"/>
            </a:pPr>
            <a:r>
              <a:rPr lang="zh-TW" altLang="en-US" dirty="0"/>
              <a:t>兩家公司“同步出招”</a:t>
            </a:r>
            <a:endParaRPr lang="en-US" altLang="zh-TW" dirty="0"/>
          </a:p>
          <a:p>
            <a:pPr marL="514350" indent="-514350">
              <a:lnSpc>
                <a:spcPct val="150000"/>
              </a:lnSpc>
              <a:buClrTx/>
              <a:buFont typeface="Wingdings" pitchFamily="2" charset="2"/>
              <a:buAutoNum type="arabicPeriod"/>
            </a:pPr>
            <a:r>
              <a:rPr lang="zh-TW" altLang="en-US" dirty="0"/>
              <a:t>對</a:t>
            </a:r>
            <a:r>
              <a:rPr lang="en-US" altLang="zh-TW" dirty="0"/>
              <a:t>VIZIO</a:t>
            </a:r>
            <a:r>
              <a:rPr lang="zh-TW" altLang="en-US" dirty="0"/>
              <a:t>只能用主觀機率方式</a:t>
            </a:r>
            <a:r>
              <a:rPr lang="en-US" altLang="zh-TW" dirty="0"/>
              <a:t>, </a:t>
            </a:r>
            <a:r>
              <a:rPr lang="zh-TW" altLang="en-US" dirty="0"/>
              <a:t>猜測</a:t>
            </a:r>
            <a:r>
              <a:rPr lang="en-US" altLang="zh-TW" dirty="0"/>
              <a:t>SONY</a:t>
            </a:r>
            <a:r>
              <a:rPr lang="zh-TW" altLang="en-US" dirty="0"/>
              <a:t>是屬高或低生產成本的機率，然後計算其進入或不進入的預期收益。</a:t>
            </a:r>
            <a:endParaRPr lang="zh-TW" altLang="zh-TW" dirty="0"/>
          </a:p>
        </p:txBody>
      </p:sp>
      <p:sp>
        <p:nvSpPr>
          <p:cNvPr id="1028" name="Rectangle 4"/>
          <p:cNvSpPr>
            <a:spLocks noChangeArrowheads="1"/>
          </p:cNvSpPr>
          <p:nvPr/>
        </p:nvSpPr>
        <p:spPr bwMode="auto">
          <a:xfrm>
            <a:off x="395536" y="404664"/>
            <a:ext cx="1210588"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32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型一</a:t>
            </a:r>
            <a:r>
              <a:rPr kumimoji="1" lang="en-US" altLang="zh-TW" sz="32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en-US" altLang="zh-TW" sz="32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pic>
        <p:nvPicPr>
          <p:cNvPr id="1026" name="Picture 2"/>
          <p:cNvPicPr>
            <a:picLocks noChangeAspect="1" noChangeArrowheads="1"/>
          </p:cNvPicPr>
          <p:nvPr/>
        </p:nvPicPr>
        <p:blipFill>
          <a:blip r:embed="rId2" cstate="print"/>
          <a:srcRect/>
          <a:stretch>
            <a:fillRect/>
          </a:stretch>
        </p:blipFill>
        <p:spPr bwMode="auto">
          <a:xfrm>
            <a:off x="2627784" y="-243408"/>
            <a:ext cx="6516216" cy="6281737"/>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771800" y="6309320"/>
            <a:ext cx="4564070" cy="369332"/>
          </a:xfrm>
          <a:prstGeom prst="rect">
            <a:avLst/>
          </a:prstGeom>
        </p:spPr>
        <p:txBody>
          <a:bodyPr wrap="none">
            <a:spAutoFit/>
          </a:bodyPr>
          <a:lstStyle/>
          <a:p>
            <a:r>
              <a:rPr lang="zh-TW" altLang="zh-TW" dirty="0"/>
              <a:t>圖</a:t>
            </a:r>
            <a:r>
              <a:rPr lang="en-US" altLang="zh-TW" dirty="0">
                <a:latin typeface="+mj-ea"/>
                <a:ea typeface="+mj-ea"/>
              </a:rPr>
              <a:t>6-1-1 </a:t>
            </a:r>
            <a:r>
              <a:rPr lang="en-US" altLang="zh-TW" dirty="0"/>
              <a:t>(B)</a:t>
            </a:r>
            <a:r>
              <a:rPr lang="zh-TW" altLang="en-US" dirty="0"/>
              <a:t> </a:t>
            </a:r>
            <a:r>
              <a:rPr lang="en-US" altLang="zh-TW" dirty="0"/>
              <a:t>SONY</a:t>
            </a:r>
            <a:r>
              <a:rPr lang="zh-TW" altLang="zh-TW" dirty="0"/>
              <a:t>及</a:t>
            </a:r>
            <a:r>
              <a:rPr lang="en-US" altLang="zh-TW" dirty="0"/>
              <a:t>VIZIO</a:t>
            </a:r>
            <a:r>
              <a:rPr lang="zh-TW" altLang="zh-TW" dirty="0"/>
              <a:t>之間的策略競爭</a:t>
            </a:r>
            <a:endParaRPr lang="zh-TW" altLang="en-US" dirty="0"/>
          </a:p>
        </p:txBody>
      </p:sp>
      <p:pic>
        <p:nvPicPr>
          <p:cNvPr id="1027" name="Picture 3"/>
          <p:cNvPicPr>
            <a:picLocks noChangeAspect="1" noChangeArrowheads="1"/>
          </p:cNvPicPr>
          <p:nvPr/>
        </p:nvPicPr>
        <p:blipFill>
          <a:blip r:embed="rId2" cstate="print"/>
          <a:srcRect/>
          <a:stretch>
            <a:fillRect/>
          </a:stretch>
        </p:blipFill>
        <p:spPr bwMode="auto">
          <a:xfrm>
            <a:off x="1259632" y="520700"/>
            <a:ext cx="6984776" cy="5819775"/>
          </a:xfrm>
          <a:prstGeom prst="rect">
            <a:avLst/>
          </a:prstGeom>
          <a:noFill/>
          <a:ln w="9525">
            <a:noFill/>
            <a:miter lim="800000"/>
            <a:headEnd/>
            <a:tailEnd/>
          </a:ln>
          <a:effectLst/>
        </p:spPr>
      </p:pic>
      <p:sp>
        <p:nvSpPr>
          <p:cNvPr id="2" name="文字方塊 1">
            <a:extLst>
              <a:ext uri="{FF2B5EF4-FFF2-40B4-BE49-F238E27FC236}">
                <a16:creationId xmlns:a16="http://schemas.microsoft.com/office/drawing/2014/main" id="{CB62114E-C1CA-EF55-FD28-9D11D581B13E}"/>
              </a:ext>
            </a:extLst>
          </p:cNvPr>
          <p:cNvSpPr txBox="1"/>
          <p:nvPr/>
        </p:nvSpPr>
        <p:spPr>
          <a:xfrm>
            <a:off x="0" y="404664"/>
            <a:ext cx="4788024" cy="954107"/>
          </a:xfrm>
          <a:prstGeom prst="rect">
            <a:avLst/>
          </a:prstGeom>
          <a:noFill/>
        </p:spPr>
        <p:txBody>
          <a:bodyPr wrap="square" rtlCol="0">
            <a:spAutoFit/>
          </a:bodyPr>
          <a:lstStyle/>
          <a:p>
            <a:r>
              <a:rPr lang="zh-TW" altLang="zh-TW" sz="2800" b="1" dirty="0">
                <a:solidFill>
                  <a:srgbClr val="FF0000"/>
                </a:solidFill>
                <a:effectLst/>
                <a:ea typeface="標楷體" panose="03000509000000000000" pitchFamily="65" charset="-120"/>
                <a:cs typeface="Times New Roman" panose="02020603050405020304" pitchFamily="18" charset="0"/>
              </a:rPr>
              <a:t>以</a:t>
            </a:r>
            <a:r>
              <a:rPr lang="en-US" altLang="zh-TW" sz="2800" b="1" dirty="0">
                <a:solidFill>
                  <a:srgbClr val="FF0000"/>
                </a:solidFill>
                <a:effectLst/>
                <a:ea typeface="標楷體" panose="03000509000000000000" pitchFamily="65" charset="-120"/>
                <a:cs typeface="Times New Roman" panose="02020603050405020304" pitchFamily="18" charset="0"/>
              </a:rPr>
              <a:t>VIZIO </a:t>
            </a:r>
            <a:r>
              <a:rPr lang="zh-TW" altLang="zh-TW" sz="2800" b="1" dirty="0">
                <a:solidFill>
                  <a:srgbClr val="FF0000"/>
                </a:solidFill>
                <a:effectLst/>
                <a:ea typeface="標楷體" panose="03000509000000000000" pitchFamily="65" charset="-120"/>
                <a:cs typeface="Times New Roman" panose="02020603050405020304" pitchFamily="18" charset="0"/>
              </a:rPr>
              <a:t>角度所呈現的不完全訊息靜態賽局</a:t>
            </a:r>
            <a:endParaRPr lang="zh-TW" alt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8B8BA53D-2F1B-E1BA-6D17-DB5A7647AEA2}"/>
              </a:ext>
            </a:extLst>
          </p:cNvPr>
          <p:cNvSpPr txBox="1"/>
          <p:nvPr/>
        </p:nvSpPr>
        <p:spPr>
          <a:xfrm>
            <a:off x="1691680" y="476672"/>
            <a:ext cx="6372200" cy="584775"/>
          </a:xfrm>
          <a:prstGeom prst="rect">
            <a:avLst/>
          </a:prstGeom>
          <a:noFill/>
        </p:spPr>
        <p:txBody>
          <a:bodyPr wrap="square">
            <a:spAutoFit/>
          </a:bodyPr>
          <a:lstStyle/>
          <a:p>
            <a:r>
              <a:rPr lang="zh-TW" altLang="zh-TW" sz="3200" dirty="0">
                <a:effectLst/>
                <a:ea typeface="標楷體" panose="03000509000000000000" pitchFamily="65" charset="-120"/>
                <a:cs typeface="Times New Roman" panose="02020603050405020304" pitchFamily="18" charset="0"/>
              </a:rPr>
              <a:t>圖</a:t>
            </a:r>
            <a:r>
              <a:rPr lang="en-US" altLang="zh-TW" sz="3200" dirty="0">
                <a:effectLst/>
                <a:ea typeface="標楷體" panose="03000509000000000000" pitchFamily="65" charset="-120"/>
                <a:cs typeface="Times New Roman" panose="02020603050405020304" pitchFamily="18" charset="0"/>
              </a:rPr>
              <a:t>6-1-1</a:t>
            </a:r>
            <a:r>
              <a:rPr lang="zh-TW" altLang="zh-TW" sz="3200" dirty="0">
                <a:effectLst/>
                <a:ea typeface="標楷體" panose="03000509000000000000" pitchFamily="65" charset="-120"/>
                <a:cs typeface="Times New Roman" panose="02020603050405020304" pitchFamily="18" charset="0"/>
              </a:rPr>
              <a:t>擴展式</a:t>
            </a:r>
            <a:r>
              <a:rPr lang="zh-TW" altLang="en-US" sz="3200" dirty="0">
                <a:effectLst/>
                <a:ea typeface="標楷體" panose="03000509000000000000" pitchFamily="65" charset="-120"/>
                <a:cs typeface="Times New Roman" panose="02020603050405020304" pitchFamily="18" charset="0"/>
              </a:rPr>
              <a:t>轉成的</a:t>
            </a:r>
            <a:r>
              <a:rPr lang="zh-TW" altLang="zh-TW" sz="3200" dirty="0">
                <a:effectLst/>
                <a:ea typeface="標楷體" panose="03000509000000000000" pitchFamily="65" charset="-120"/>
                <a:cs typeface="Arial Unicode MS"/>
              </a:rPr>
              <a:t>標準式</a:t>
            </a:r>
            <a:endParaRPr lang="zh-TW" altLang="en-US" sz="3200" dirty="0"/>
          </a:p>
        </p:txBody>
      </p:sp>
      <p:pic>
        <p:nvPicPr>
          <p:cNvPr id="5" name="圖片 4">
            <a:extLst>
              <a:ext uri="{FF2B5EF4-FFF2-40B4-BE49-F238E27FC236}">
                <a16:creationId xmlns:a16="http://schemas.microsoft.com/office/drawing/2014/main" id="{DF2DE83B-A768-1AE4-9B87-2FD2177A0DA5}"/>
              </a:ext>
            </a:extLst>
          </p:cNvPr>
          <p:cNvPicPr>
            <a:picLocks noChangeAspect="1"/>
          </p:cNvPicPr>
          <p:nvPr/>
        </p:nvPicPr>
        <p:blipFill>
          <a:blip r:embed="rId2"/>
          <a:stretch>
            <a:fillRect/>
          </a:stretch>
        </p:blipFill>
        <p:spPr>
          <a:xfrm>
            <a:off x="-108520" y="1556792"/>
            <a:ext cx="9144000" cy="5146235"/>
          </a:xfrm>
          <a:prstGeom prst="rect">
            <a:avLst/>
          </a:prstGeom>
        </p:spPr>
      </p:pic>
    </p:spTree>
    <p:extLst>
      <p:ext uri="{BB962C8B-B14F-4D97-AF65-F5344CB8AC3E}">
        <p14:creationId xmlns:p14="http://schemas.microsoft.com/office/powerpoint/2010/main" val="4031731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1941" y="194454"/>
            <a:ext cx="8951489" cy="523220"/>
          </a:xfrm>
          <a:prstGeom prst="rect">
            <a:avLst/>
          </a:prstGeom>
        </p:spPr>
        <p:txBody>
          <a:bodyPr wrap="none">
            <a:spAutoFit/>
          </a:bodyPr>
          <a:lstStyle/>
          <a:p>
            <a:r>
              <a:rPr lang="zh-TW" altLang="zh-TW" sz="2800" dirty="0">
                <a:solidFill>
                  <a:srgbClr val="FF0000"/>
                </a:solidFill>
                <a:cs typeface="Times New Roman" panose="02020603050405020304" pitchFamily="18" charset="0"/>
              </a:rPr>
              <a:t>對</a:t>
            </a:r>
            <a:r>
              <a:rPr lang="en-US" altLang="zh-TW" sz="2800" dirty="0">
                <a:solidFill>
                  <a:srgbClr val="FF0000"/>
                </a:solidFill>
                <a:cs typeface="Times New Roman" panose="02020603050405020304" pitchFamily="18" charset="0"/>
              </a:rPr>
              <a:t>SONY</a:t>
            </a:r>
            <a:r>
              <a:rPr lang="zh-TW" altLang="zh-TW" sz="2800" dirty="0">
                <a:solidFill>
                  <a:srgbClr val="FF0000"/>
                </a:solidFill>
                <a:cs typeface="Times New Roman" panose="02020603050405020304" pitchFamily="18" charset="0"/>
              </a:rPr>
              <a:t>而言</a:t>
            </a:r>
            <a:r>
              <a:rPr lang="en-US" altLang="zh-TW" sz="2800" dirty="0">
                <a:solidFill>
                  <a:srgbClr val="FF0000"/>
                </a:solidFill>
                <a:cs typeface="Times New Roman" panose="02020603050405020304" pitchFamily="18" charset="0"/>
              </a:rPr>
              <a:t>, </a:t>
            </a:r>
            <a:r>
              <a:rPr lang="zh-TW" altLang="en-US" sz="2800" dirty="0">
                <a:solidFill>
                  <a:srgbClr val="FF0000"/>
                </a:solidFill>
                <a:cs typeface="Times New Roman" panose="02020603050405020304" pitchFamily="18" charset="0"/>
              </a:rPr>
              <a:t>因成為完全訊息</a:t>
            </a:r>
            <a:r>
              <a:rPr lang="en-US" altLang="zh-TW" sz="2800" dirty="0">
                <a:solidFill>
                  <a:srgbClr val="FF0000"/>
                </a:solidFill>
                <a:cs typeface="Times New Roman" panose="02020603050405020304" pitchFamily="18" charset="0"/>
              </a:rPr>
              <a:t>,</a:t>
            </a:r>
            <a:r>
              <a:rPr lang="zh-TW" altLang="zh-TW" sz="2800" dirty="0">
                <a:solidFill>
                  <a:srgbClr val="FF0000"/>
                </a:solidFill>
                <a:cs typeface="Times New Roman" panose="02020603050405020304" pitchFamily="18" charset="0"/>
              </a:rPr>
              <a:t>此局將成為兩個同步賽局</a:t>
            </a:r>
            <a:endParaRPr lang="zh-TW" altLang="en-US" sz="2800" dirty="0">
              <a:solidFill>
                <a:srgbClr val="FF0000"/>
              </a:solidFill>
            </a:endParaRPr>
          </a:p>
        </p:txBody>
      </p:sp>
      <p:pic>
        <p:nvPicPr>
          <p:cNvPr id="3" name="圖片 2"/>
          <p:cNvPicPr>
            <a:picLocks noChangeAspect="1"/>
          </p:cNvPicPr>
          <p:nvPr/>
        </p:nvPicPr>
        <p:blipFill>
          <a:blip r:embed="rId2"/>
          <a:stretch>
            <a:fillRect/>
          </a:stretch>
        </p:blipFill>
        <p:spPr>
          <a:xfrm>
            <a:off x="179512" y="698169"/>
            <a:ext cx="8136904" cy="6159831"/>
          </a:xfrm>
          <a:prstGeom prst="rect">
            <a:avLst/>
          </a:prstGeom>
        </p:spPr>
      </p:pic>
    </p:spTree>
    <p:extLst>
      <p:ext uri="{BB962C8B-B14F-4D97-AF65-F5344CB8AC3E}">
        <p14:creationId xmlns:p14="http://schemas.microsoft.com/office/powerpoint/2010/main" val="3106406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4581128"/>
            <a:ext cx="4572000" cy="2169825"/>
          </a:xfrm>
          <a:prstGeom prst="rect">
            <a:avLst/>
          </a:prstGeom>
        </p:spPr>
        <p:txBody>
          <a:bodyPr>
            <a:spAutoFit/>
          </a:bodyPr>
          <a:lstStyle/>
          <a:p>
            <a:pPr marL="514350" indent="-514350">
              <a:lnSpc>
                <a:spcPct val="150000"/>
              </a:lnSpc>
              <a:buClrTx/>
              <a:buFont typeface="Wingdings" pitchFamily="2" charset="2"/>
              <a:buAutoNum type="arabicPeriod"/>
              <a:defRPr/>
            </a:pPr>
            <a:r>
              <a:rPr lang="en-US" altLang="zh-TW" dirty="0"/>
              <a:t>SONY</a:t>
            </a:r>
            <a:r>
              <a:rPr lang="zh-TW" altLang="zh-TW" dirty="0"/>
              <a:t>先出招</a:t>
            </a:r>
            <a:endParaRPr lang="en-US" altLang="zh-TW" dirty="0"/>
          </a:p>
          <a:p>
            <a:pPr marL="514350" indent="-514350">
              <a:lnSpc>
                <a:spcPct val="150000"/>
              </a:lnSpc>
              <a:buClrTx/>
              <a:buFont typeface="Wingdings" pitchFamily="2" charset="2"/>
              <a:buAutoNum type="arabicPeriod"/>
              <a:defRPr/>
            </a:pPr>
            <a:r>
              <a:rPr lang="en-US" altLang="zh-TW" dirty="0"/>
              <a:t>VIZIO</a:t>
            </a:r>
            <a:r>
              <a:rPr lang="zh-TW" altLang="zh-TW" dirty="0"/>
              <a:t>可觀察到</a:t>
            </a:r>
            <a:r>
              <a:rPr lang="en-US" altLang="zh-TW" dirty="0"/>
              <a:t>SONY</a:t>
            </a:r>
            <a:r>
              <a:rPr lang="zh-TW" altLang="zh-TW" dirty="0"/>
              <a:t>擴廠或不擴廠的策略，然後再依其猜測</a:t>
            </a:r>
            <a:r>
              <a:rPr lang="en-US" altLang="zh-TW" dirty="0"/>
              <a:t>SONY</a:t>
            </a:r>
            <a:r>
              <a:rPr lang="zh-TW" altLang="zh-TW" dirty="0"/>
              <a:t>是屬高或低成本的主觀機率分配，估算不同策略的預期收益</a:t>
            </a:r>
            <a:endParaRPr lang="zh-TW" altLang="en-US" dirty="0"/>
          </a:p>
        </p:txBody>
      </p:sp>
      <p:sp>
        <p:nvSpPr>
          <p:cNvPr id="1027" name="Rectangle 3"/>
          <p:cNvSpPr>
            <a:spLocks noChangeArrowheads="1"/>
          </p:cNvSpPr>
          <p:nvPr/>
        </p:nvSpPr>
        <p:spPr bwMode="auto">
          <a:xfrm>
            <a:off x="4283968" y="6175757"/>
            <a:ext cx="4860032"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kumimoji="1" lang="zh-TW"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圖</a:t>
            </a:r>
            <a:r>
              <a:rPr kumimoji="1" lang="en-US" altLang="zh-TW"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6-1-2 </a:t>
            </a:r>
            <a:r>
              <a:rPr kumimoji="1" lang="zh-TW" altLang="en-US"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不完全訊息阻撓進入者</a:t>
            </a:r>
            <a:r>
              <a:rPr kumimoji="1" lang="zh-TW" altLang="en-US" sz="2000" dirty="0">
                <a:latin typeface="標楷體" pitchFamily="65" charset="-120"/>
                <a:cs typeface="Times New Roman" pitchFamily="18" charset="0"/>
              </a:rPr>
              <a:t>動態</a:t>
            </a:r>
            <a:r>
              <a:rPr kumimoji="1" lang="zh-TW" altLang="en-US"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賽局</a:t>
            </a:r>
            <a:endParaRPr kumimoji="1" lang="zh-TW" altLang="en-US" sz="20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30721" name="Rectangle 1"/>
          <p:cNvSpPr>
            <a:spLocks noChangeArrowheads="1"/>
          </p:cNvSpPr>
          <p:nvPr/>
        </p:nvSpPr>
        <p:spPr bwMode="auto">
          <a:xfrm>
            <a:off x="0" y="49832"/>
            <a:ext cx="1390124"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304800" algn="l" defTabSz="914400" rtl="0" eaLnBrk="1" fontAlgn="base" latinLnBrk="0" hangingPunct="1">
              <a:lnSpc>
                <a:spcPct val="100000"/>
              </a:lnSpc>
              <a:spcBef>
                <a:spcPct val="0"/>
              </a:spcBef>
              <a:spcAft>
                <a:spcPct val="0"/>
              </a:spcAft>
              <a:buClrTx/>
              <a:buSzTx/>
              <a:buFontTx/>
              <a:buNone/>
              <a:tabLst/>
            </a:pPr>
            <a:r>
              <a:rPr kumimoji="1" lang="zh-TW" sz="2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型二</a:t>
            </a:r>
            <a:r>
              <a:rPr kumimoji="1" lang="en-US" altLang="zh-TW" sz="28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en-US" altLang="zh-TW" sz="2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pic>
        <p:nvPicPr>
          <p:cNvPr id="30722" name="Picture 2"/>
          <p:cNvPicPr>
            <a:picLocks noChangeAspect="1" noChangeArrowheads="1"/>
          </p:cNvPicPr>
          <p:nvPr/>
        </p:nvPicPr>
        <p:blipFill>
          <a:blip r:embed="rId2" cstate="print"/>
          <a:srcRect/>
          <a:stretch>
            <a:fillRect/>
          </a:stretch>
        </p:blipFill>
        <p:spPr bwMode="auto">
          <a:xfrm>
            <a:off x="1835696" y="0"/>
            <a:ext cx="7308304" cy="5627067"/>
          </a:xfrm>
          <a:prstGeom prst="rect">
            <a:avLst/>
          </a:prstGeom>
          <a:noFill/>
          <a:ln w="9525">
            <a:noFill/>
            <a:miter lim="800000"/>
            <a:headEnd/>
            <a:tailEnd/>
          </a:ln>
          <a:effectLst/>
        </p:spPr>
      </p:pic>
      <p:sp>
        <p:nvSpPr>
          <p:cNvPr id="4" name="文字方塊 3">
            <a:extLst>
              <a:ext uri="{FF2B5EF4-FFF2-40B4-BE49-F238E27FC236}">
                <a16:creationId xmlns:a16="http://schemas.microsoft.com/office/drawing/2014/main" id="{3B6F3A97-1133-9A84-8331-EDB860ACED56}"/>
              </a:ext>
            </a:extLst>
          </p:cNvPr>
          <p:cNvSpPr txBox="1"/>
          <p:nvPr/>
        </p:nvSpPr>
        <p:spPr>
          <a:xfrm>
            <a:off x="107504" y="765663"/>
            <a:ext cx="4603314" cy="830997"/>
          </a:xfrm>
          <a:prstGeom prst="rect">
            <a:avLst/>
          </a:prstGeom>
          <a:noFill/>
        </p:spPr>
        <p:txBody>
          <a:bodyPr wrap="square">
            <a:spAutoFit/>
          </a:bodyPr>
          <a:lstStyle/>
          <a:p>
            <a:r>
              <a:rPr lang="zh-TW" altLang="zh-TW" sz="2400" b="1" dirty="0">
                <a:solidFill>
                  <a:srgbClr val="FF0000"/>
                </a:solidFill>
                <a:effectLst/>
                <a:ea typeface="標楷體" panose="03000509000000000000" pitchFamily="65" charset="-120"/>
                <a:cs typeface="Times New Roman" panose="02020603050405020304" pitchFamily="18" charset="0"/>
              </a:rPr>
              <a:t>以</a:t>
            </a:r>
            <a:r>
              <a:rPr lang="en-US" altLang="zh-TW" sz="2400" b="1" dirty="0">
                <a:solidFill>
                  <a:srgbClr val="FF0000"/>
                </a:solidFill>
                <a:effectLst/>
                <a:ea typeface="標楷體" panose="03000509000000000000" pitchFamily="65" charset="-120"/>
                <a:cs typeface="Times New Roman" panose="02020603050405020304" pitchFamily="18" charset="0"/>
              </a:rPr>
              <a:t>VIZIO </a:t>
            </a:r>
            <a:r>
              <a:rPr lang="zh-TW" altLang="zh-TW" sz="2400" b="1" dirty="0">
                <a:solidFill>
                  <a:srgbClr val="FF0000"/>
                </a:solidFill>
                <a:effectLst/>
                <a:ea typeface="標楷體" panose="03000509000000000000" pitchFamily="65" charset="-120"/>
                <a:cs typeface="Times New Roman" panose="02020603050405020304" pitchFamily="18" charset="0"/>
              </a:rPr>
              <a:t>角度所呈現的不完全訊息動態賽局</a:t>
            </a:r>
            <a:endParaRPr lang="zh-TW"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3909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35696" y="260648"/>
            <a:ext cx="5032147" cy="523220"/>
          </a:xfrm>
          <a:prstGeom prst="rect">
            <a:avLst/>
          </a:prstGeom>
        </p:spPr>
        <p:txBody>
          <a:bodyPr wrap="none">
            <a:spAutoFit/>
          </a:bodyPr>
          <a:lstStyle/>
          <a:p>
            <a:r>
              <a:rPr lang="zh-TW" altLang="zh-TW" sz="2800" dirty="0">
                <a:latin typeface="+mn-ea"/>
                <a:cs typeface="Times New Roman" panose="02020603050405020304" pitchFamily="18" charset="0"/>
              </a:rPr>
              <a:t>圖</a:t>
            </a:r>
            <a:r>
              <a:rPr lang="en-US" altLang="zh-TW" sz="2800" dirty="0">
                <a:latin typeface="+mn-ea"/>
                <a:cs typeface="Times New Roman" panose="02020603050405020304" pitchFamily="18" charset="0"/>
              </a:rPr>
              <a:t>6-1-2</a:t>
            </a:r>
            <a:r>
              <a:rPr lang="zh-TW" altLang="zh-TW" sz="2800" dirty="0">
                <a:latin typeface="+mn-ea"/>
                <a:cs typeface="Times New Roman" panose="02020603050405020304" pitchFamily="18" charset="0"/>
              </a:rPr>
              <a:t>的擴展式</a:t>
            </a:r>
            <a:r>
              <a:rPr lang="zh-TW" altLang="en-US" sz="2800" dirty="0">
                <a:latin typeface="+mn-ea"/>
                <a:cs typeface="Times New Roman" panose="02020603050405020304" pitchFamily="18" charset="0"/>
              </a:rPr>
              <a:t>轉成的</a:t>
            </a:r>
            <a:r>
              <a:rPr lang="zh-TW" altLang="zh-TW" sz="2800" dirty="0">
                <a:latin typeface="+mn-ea"/>
                <a:cs typeface="Arial Unicode MS"/>
              </a:rPr>
              <a:t>標準式</a:t>
            </a:r>
            <a:endParaRPr lang="zh-TW" altLang="en-US" sz="2800" dirty="0">
              <a:latin typeface="+mn-ea"/>
            </a:endParaRPr>
          </a:p>
        </p:txBody>
      </p:sp>
      <p:pic>
        <p:nvPicPr>
          <p:cNvPr id="13" name="圖片 12">
            <a:extLst>
              <a:ext uri="{FF2B5EF4-FFF2-40B4-BE49-F238E27FC236}">
                <a16:creationId xmlns:a16="http://schemas.microsoft.com/office/drawing/2014/main" id="{049E822E-F6FC-47F7-1E19-96B481E043B9}"/>
              </a:ext>
            </a:extLst>
          </p:cNvPr>
          <p:cNvPicPr>
            <a:picLocks noChangeAspect="1"/>
          </p:cNvPicPr>
          <p:nvPr/>
        </p:nvPicPr>
        <p:blipFill>
          <a:blip r:embed="rId2"/>
          <a:stretch>
            <a:fillRect/>
          </a:stretch>
        </p:blipFill>
        <p:spPr>
          <a:xfrm>
            <a:off x="251520" y="1340768"/>
            <a:ext cx="8784976" cy="5688632"/>
          </a:xfrm>
          <a:prstGeom prst="rect">
            <a:avLst/>
          </a:prstGeom>
        </p:spPr>
      </p:pic>
    </p:spTree>
    <p:extLst>
      <p:ext uri="{BB962C8B-B14F-4D97-AF65-F5344CB8AC3E}">
        <p14:creationId xmlns:p14="http://schemas.microsoft.com/office/powerpoint/2010/main" val="4262852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5519172"/>
            <a:ext cx="4788024" cy="923330"/>
          </a:xfrm>
          <a:prstGeom prst="rect">
            <a:avLst/>
          </a:prstGeom>
        </p:spPr>
        <p:txBody>
          <a:bodyPr wrap="square">
            <a:spAutoFit/>
          </a:bodyPr>
          <a:lstStyle/>
          <a:p>
            <a:pPr marL="514350" indent="-514350">
              <a:lnSpc>
                <a:spcPct val="150000"/>
              </a:lnSpc>
              <a:buFont typeface="Wingdings" pitchFamily="2" charset="2"/>
              <a:buAutoNum type="arabicPeriod"/>
            </a:pPr>
            <a:r>
              <a:rPr lang="en-US" altLang="zh-TW" dirty="0"/>
              <a:t>VIZIO</a:t>
            </a:r>
            <a:r>
              <a:rPr lang="zh-TW" altLang="en-US" dirty="0"/>
              <a:t>先選擇進入或不進入</a:t>
            </a:r>
            <a:endParaRPr lang="en-US" altLang="zh-TW" dirty="0"/>
          </a:p>
          <a:p>
            <a:pPr marL="514350" indent="-514350">
              <a:lnSpc>
                <a:spcPct val="150000"/>
              </a:lnSpc>
              <a:buFont typeface="Wingdings" pitchFamily="2" charset="2"/>
              <a:buAutoNum type="arabicPeriod"/>
            </a:pPr>
            <a:r>
              <a:rPr lang="en-US" altLang="zh-TW" dirty="0"/>
              <a:t>SONY</a:t>
            </a:r>
            <a:r>
              <a:rPr lang="zh-TW" altLang="en-US" dirty="0"/>
              <a:t>觀察到以後，再選擇擴廠或不擴廠</a:t>
            </a:r>
          </a:p>
        </p:txBody>
      </p:sp>
      <p:sp>
        <p:nvSpPr>
          <p:cNvPr id="3073" name="Rectangle 1"/>
          <p:cNvSpPr>
            <a:spLocks noChangeArrowheads="1"/>
          </p:cNvSpPr>
          <p:nvPr/>
        </p:nvSpPr>
        <p:spPr bwMode="auto">
          <a:xfrm>
            <a:off x="4572000" y="6447660"/>
            <a:ext cx="45720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TW"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圖</a:t>
            </a:r>
            <a:r>
              <a:rPr kumimoji="1" lang="en-US" altLang="zh-TW"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6-1-3 VIZIO</a:t>
            </a:r>
            <a:r>
              <a:rPr kumimoji="1" lang="zh-TW" altLang="en-US"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先出招</a:t>
            </a:r>
            <a:r>
              <a:rPr kumimoji="1" lang="en-US" altLang="zh-TW"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,SONY</a:t>
            </a:r>
            <a:r>
              <a:rPr kumimoji="1" lang="zh-TW" altLang="en-US" sz="20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後出招賽局</a:t>
            </a:r>
            <a:endParaRPr kumimoji="1" lang="zh-TW" altLang="en-US" sz="20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63" name="矩形 62"/>
          <p:cNvSpPr/>
          <p:nvPr/>
        </p:nvSpPr>
        <p:spPr>
          <a:xfrm>
            <a:off x="539552" y="404664"/>
            <a:ext cx="1122423" cy="584775"/>
          </a:xfrm>
          <a:prstGeom prst="rect">
            <a:avLst/>
          </a:prstGeom>
        </p:spPr>
        <p:txBody>
          <a:bodyPr wrap="none">
            <a:spAutoFit/>
          </a:bodyPr>
          <a:lstStyle/>
          <a:p>
            <a:r>
              <a:rPr lang="zh-TW" altLang="zh-TW" sz="3200" b="1" dirty="0"/>
              <a:t>型三</a:t>
            </a:r>
            <a:r>
              <a:rPr lang="en-US" altLang="zh-TW" sz="3200" b="1" dirty="0"/>
              <a:t>:</a:t>
            </a:r>
            <a:endParaRPr lang="zh-TW" altLang="en-US" sz="3200" dirty="0"/>
          </a:p>
        </p:txBody>
      </p:sp>
      <p:pic>
        <p:nvPicPr>
          <p:cNvPr id="29788" name="Picture 92"/>
          <p:cNvPicPr>
            <a:picLocks noChangeAspect="1" noChangeArrowheads="1"/>
          </p:cNvPicPr>
          <p:nvPr/>
        </p:nvPicPr>
        <p:blipFill>
          <a:blip r:embed="rId2" cstate="print"/>
          <a:srcRect/>
          <a:stretch>
            <a:fillRect/>
          </a:stretch>
        </p:blipFill>
        <p:spPr bwMode="auto">
          <a:xfrm>
            <a:off x="1259632" y="153789"/>
            <a:ext cx="7884368" cy="5939507"/>
          </a:xfrm>
          <a:prstGeom prst="rect">
            <a:avLst/>
          </a:prstGeom>
          <a:noFill/>
          <a:ln w="9525">
            <a:noFill/>
            <a:miter lim="800000"/>
            <a:headEnd/>
            <a:tailEnd/>
          </a:ln>
          <a:effectLst/>
        </p:spPr>
      </p:pic>
      <p:sp>
        <p:nvSpPr>
          <p:cNvPr id="29789" name="AutoShape 93"/>
          <p:cNvSpPr>
            <a:spLocks noChangeArrowheads="1"/>
          </p:cNvSpPr>
          <p:nvPr/>
        </p:nvSpPr>
        <p:spPr bwMode="auto">
          <a:xfrm>
            <a:off x="2555776" y="2924944"/>
            <a:ext cx="138113" cy="174625"/>
          </a:xfrm>
          <a:prstGeom prst="flowChartConnector">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TW" altLang="en-US"/>
          </a:p>
        </p:txBody>
      </p:sp>
      <p:sp>
        <p:nvSpPr>
          <p:cNvPr id="29846" name="Rectangle 241"/>
          <p:cNvSpPr>
            <a:spLocks noChangeArrowheads="1"/>
          </p:cNvSpPr>
          <p:nvPr/>
        </p:nvSpPr>
        <p:spPr bwMode="auto">
          <a:xfrm>
            <a:off x="4788024" y="1988840"/>
            <a:ext cx="533945" cy="3087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TW" sz="1200" b="0" i="0" u="none" strike="noStrike" cap="none" normalizeH="0" baseline="0" dirty="0">
                <a:ln>
                  <a:noFill/>
                </a:ln>
                <a:solidFill>
                  <a:schemeClr val="tx1"/>
                </a:solidFill>
                <a:effectLst/>
                <a:latin typeface="標楷體" pitchFamily="65" charset="-120"/>
                <a:ea typeface="標楷體" pitchFamily="65" charset="-120"/>
                <a:cs typeface="新細明體" pitchFamily="18" charset="-120"/>
              </a:rPr>
              <a:t>SONY</a:t>
            </a:r>
            <a:endParaRPr kumimoji="1" lang="zh-TW" altLang="zh-TW" sz="1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302CBAB8-8FC3-72B5-80FE-312E00FC55F7}"/>
              </a:ext>
            </a:extLst>
          </p:cNvPr>
          <p:cNvPicPr>
            <a:picLocks noChangeAspect="1"/>
          </p:cNvPicPr>
          <p:nvPr/>
        </p:nvPicPr>
        <p:blipFill>
          <a:blip r:embed="rId2"/>
          <a:stretch>
            <a:fillRect/>
          </a:stretch>
        </p:blipFill>
        <p:spPr>
          <a:xfrm>
            <a:off x="539552" y="2241042"/>
            <a:ext cx="8064896" cy="4500326"/>
          </a:xfrm>
          <a:prstGeom prst="rect">
            <a:avLst/>
          </a:prstGeom>
        </p:spPr>
      </p:pic>
      <p:sp>
        <p:nvSpPr>
          <p:cNvPr id="12" name="文字方塊 11">
            <a:extLst>
              <a:ext uri="{FF2B5EF4-FFF2-40B4-BE49-F238E27FC236}">
                <a16:creationId xmlns:a16="http://schemas.microsoft.com/office/drawing/2014/main" id="{9C63CCF5-5410-14F1-02A7-165AD6F66E76}"/>
              </a:ext>
            </a:extLst>
          </p:cNvPr>
          <p:cNvSpPr txBox="1"/>
          <p:nvPr/>
        </p:nvSpPr>
        <p:spPr>
          <a:xfrm>
            <a:off x="107504" y="1412776"/>
            <a:ext cx="9036496" cy="461665"/>
          </a:xfrm>
          <a:prstGeom prst="rect">
            <a:avLst/>
          </a:prstGeom>
          <a:noFill/>
        </p:spPr>
        <p:txBody>
          <a:bodyPr wrap="square">
            <a:spAutoFit/>
          </a:bodyPr>
          <a:lstStyle/>
          <a:p>
            <a:r>
              <a:rPr lang="en-US" altLang="zh-TW" sz="2400" dirty="0">
                <a:effectLst/>
                <a:ea typeface="標楷體" panose="03000509000000000000" pitchFamily="65" charset="-120"/>
                <a:cs typeface="Times New Roman" panose="02020603050405020304" pitchFamily="18" charset="0"/>
              </a:rPr>
              <a:t>VIZIO </a:t>
            </a:r>
            <a:r>
              <a:rPr lang="zh-TW" altLang="zh-TW" sz="2400" dirty="0">
                <a:effectLst/>
                <a:ea typeface="標楷體" panose="03000509000000000000" pitchFamily="65" charset="-120"/>
                <a:cs typeface="Times New Roman" panose="02020603050405020304" pitchFamily="18" charset="0"/>
              </a:rPr>
              <a:t>也只有兩招可以選</a:t>
            </a:r>
            <a:r>
              <a:rPr lang="en-US" altLang="zh-TW" sz="2400" dirty="0">
                <a:effectLst/>
                <a:ea typeface="標楷體" panose="03000509000000000000" pitchFamily="65" charset="-120"/>
                <a:cs typeface="Times New Roman" panose="02020603050405020304" pitchFamily="18" charset="0"/>
              </a:rPr>
              <a:t>:</a:t>
            </a:r>
            <a:r>
              <a:rPr lang="zh-TW" altLang="zh-TW" sz="2400" dirty="0">
                <a:effectLst/>
                <a:ea typeface="標楷體" panose="03000509000000000000" pitchFamily="65" charset="-120"/>
                <a:cs typeface="Times New Roman" panose="02020603050405020304" pitchFamily="18" charset="0"/>
              </a:rPr>
              <a:t>進入與不進入</a:t>
            </a:r>
            <a:r>
              <a:rPr lang="zh-TW" altLang="zh-TW" sz="2400" dirty="0">
                <a:effectLst/>
                <a:ea typeface="新細明體" panose="02020500000000000000" pitchFamily="18" charset="-120"/>
                <a:cs typeface="Times New Roman" panose="02020603050405020304" pitchFamily="18" charset="0"/>
              </a:rPr>
              <a:t>，</a:t>
            </a:r>
            <a:r>
              <a:rPr lang="en-US" altLang="zh-TW" sz="2400" dirty="0">
                <a:effectLst/>
                <a:latin typeface="標楷體" panose="03000509000000000000" pitchFamily="65" charset="-120"/>
                <a:cs typeface="Times New Roman" panose="02020603050405020304" pitchFamily="18" charset="0"/>
              </a:rPr>
              <a:t>SONY </a:t>
            </a:r>
            <a:r>
              <a:rPr lang="zh-TW" altLang="zh-TW" sz="2400" dirty="0">
                <a:effectLst/>
                <a:ea typeface="標楷體" panose="03000509000000000000" pitchFamily="65" charset="-120"/>
                <a:cs typeface="Times New Roman" panose="02020603050405020304" pitchFamily="18" charset="0"/>
              </a:rPr>
              <a:t>則有四種策略組合</a:t>
            </a:r>
            <a:endParaRPr lang="zh-TW" altLang="en-US" sz="2400" dirty="0"/>
          </a:p>
        </p:txBody>
      </p:sp>
      <p:sp>
        <p:nvSpPr>
          <p:cNvPr id="14" name="文字方塊 13">
            <a:extLst>
              <a:ext uri="{FF2B5EF4-FFF2-40B4-BE49-F238E27FC236}">
                <a16:creationId xmlns:a16="http://schemas.microsoft.com/office/drawing/2014/main" id="{6A14F6E5-C156-FB58-0D0E-650837A66C75}"/>
              </a:ext>
            </a:extLst>
          </p:cNvPr>
          <p:cNvSpPr txBox="1"/>
          <p:nvPr/>
        </p:nvSpPr>
        <p:spPr>
          <a:xfrm>
            <a:off x="2699792" y="476672"/>
            <a:ext cx="4572000" cy="523220"/>
          </a:xfrm>
          <a:prstGeom prst="rect">
            <a:avLst/>
          </a:prstGeom>
          <a:noFill/>
        </p:spPr>
        <p:txBody>
          <a:bodyPr wrap="square">
            <a:spAutoFit/>
          </a:bodyPr>
          <a:lstStyle/>
          <a:p>
            <a:pPr algn="ctr"/>
            <a:r>
              <a:rPr lang="zh-TW" altLang="zh-TW" sz="2800" dirty="0">
                <a:effectLst/>
                <a:latin typeface="+mn-ea"/>
                <a:cs typeface="Times New Roman" panose="02020603050405020304" pitchFamily="18" charset="0"/>
              </a:rPr>
              <a:t>圖</a:t>
            </a:r>
            <a:r>
              <a:rPr lang="en-US" altLang="zh-TW" sz="2800" dirty="0">
                <a:effectLst/>
                <a:latin typeface="+mn-ea"/>
                <a:cs typeface="Times New Roman" panose="02020603050405020304" pitchFamily="18" charset="0"/>
              </a:rPr>
              <a:t>6-1-3</a:t>
            </a:r>
            <a:r>
              <a:rPr lang="zh-TW" altLang="en-US" sz="2800" dirty="0">
                <a:effectLst/>
                <a:latin typeface="+mn-ea"/>
                <a:cs typeface="Times New Roman" panose="02020603050405020304" pitchFamily="18" charset="0"/>
              </a:rPr>
              <a:t>轉成擴展式</a:t>
            </a:r>
            <a:endParaRPr lang="en-US" altLang="zh-TW" sz="2800" dirty="0">
              <a:effectLst/>
              <a:latin typeface="+mn-ea"/>
              <a:cs typeface="Times New Roman" panose="02020603050405020304" pitchFamily="18" charset="0"/>
            </a:endParaRPr>
          </a:p>
        </p:txBody>
      </p:sp>
    </p:spTree>
    <p:extLst>
      <p:ext uri="{BB962C8B-B14F-4D97-AF65-F5344CB8AC3E}">
        <p14:creationId xmlns:p14="http://schemas.microsoft.com/office/powerpoint/2010/main" val="1601542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p:txBody>
          <a:bodyPr/>
          <a:lstStyle/>
          <a:p>
            <a:pPr marL="514350" indent="-514350">
              <a:lnSpc>
                <a:spcPct val="150000"/>
              </a:lnSpc>
              <a:buClrTx/>
              <a:buNone/>
              <a:defRPr/>
            </a:pPr>
            <a:endParaRPr lang="zh-TW" altLang="zh-TW" dirty="0"/>
          </a:p>
          <a:p>
            <a:endParaRPr lang="zh-TW" altLang="en-US" dirty="0"/>
          </a:p>
        </p:txBody>
      </p:sp>
      <p:pic>
        <p:nvPicPr>
          <p:cNvPr id="4" name="Picture 3"/>
          <p:cNvPicPr>
            <a:picLocks noChangeAspect="1" noChangeArrowheads="1"/>
          </p:cNvPicPr>
          <p:nvPr/>
        </p:nvPicPr>
        <p:blipFill>
          <a:blip r:embed="rId2" cstate="print"/>
          <a:srcRect/>
          <a:stretch>
            <a:fillRect/>
          </a:stretch>
        </p:blipFill>
        <p:spPr>
          <a:xfrm>
            <a:off x="323528" y="116632"/>
            <a:ext cx="8712968" cy="6192688"/>
          </a:xfrm>
          <a:prstGeom prst="rect">
            <a:avLst/>
          </a:prstGeom>
          <a:noFill/>
        </p:spPr>
      </p:pic>
      <p:sp>
        <p:nvSpPr>
          <p:cNvPr id="5" name="矩形 4"/>
          <p:cNvSpPr/>
          <p:nvPr/>
        </p:nvSpPr>
        <p:spPr>
          <a:xfrm>
            <a:off x="2235937" y="6396335"/>
            <a:ext cx="5307863" cy="461665"/>
          </a:xfrm>
          <a:prstGeom prst="rect">
            <a:avLst/>
          </a:prstGeom>
        </p:spPr>
        <p:txBody>
          <a:bodyPr wrap="none">
            <a:spAutoFit/>
          </a:bodyPr>
          <a:lstStyle/>
          <a:p>
            <a:r>
              <a:rPr lang="zh-TW" altLang="zh-TW" sz="2400" dirty="0"/>
              <a:t>圖</a:t>
            </a:r>
            <a:r>
              <a:rPr lang="en-US" altLang="zh-TW" sz="2400" dirty="0">
                <a:latin typeface="+mn-ea"/>
              </a:rPr>
              <a:t>6-1-4 </a:t>
            </a:r>
            <a:r>
              <a:rPr lang="zh-TW" altLang="zh-TW" sz="2400" dirty="0"/>
              <a:t>台積電與</a:t>
            </a:r>
            <a:r>
              <a:rPr lang="en-US" altLang="zh-TW" sz="2400" dirty="0"/>
              <a:t>ASML</a:t>
            </a:r>
            <a:r>
              <a:rPr lang="zh-TW" altLang="zh-TW" sz="2400" dirty="0"/>
              <a:t>同步出招賽局</a:t>
            </a:r>
            <a:endParaRPr lang="zh-TW" altLang="en-US" sz="2400" dirty="0"/>
          </a:p>
        </p:txBody>
      </p:sp>
      <p:sp>
        <p:nvSpPr>
          <p:cNvPr id="28673" name="Rectangle 1"/>
          <p:cNvSpPr>
            <a:spLocks noChangeArrowheads="1"/>
          </p:cNvSpPr>
          <p:nvPr/>
        </p:nvSpPr>
        <p:spPr bwMode="auto">
          <a:xfrm>
            <a:off x="0" y="-30777"/>
            <a:ext cx="1005403" cy="58477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3200" b="1"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型四</a:t>
            </a:r>
            <a:endParaRPr kumimoji="1" lang="en-US" altLang="zh-TW" sz="2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28674" name="AutoShape 2"/>
          <p:cNvSpPr>
            <a:spLocks noChangeArrowheads="1"/>
          </p:cNvSpPr>
          <p:nvPr/>
        </p:nvSpPr>
        <p:spPr bwMode="auto">
          <a:xfrm>
            <a:off x="1835696" y="2852936"/>
            <a:ext cx="141288" cy="153988"/>
          </a:xfrm>
          <a:prstGeom prst="flowChartConnector">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0"/>
            <a:ext cx="8748464" cy="1754326"/>
          </a:xfrm>
          <a:prstGeom prst="rect">
            <a:avLst/>
          </a:prstGeom>
        </p:spPr>
        <p:txBody>
          <a:bodyPr wrap="square">
            <a:spAutoFit/>
          </a:bodyPr>
          <a:lstStyle/>
          <a:p>
            <a:pPr marL="342900" lvl="0" indent="-342900">
              <a:lnSpc>
                <a:spcPct val="150000"/>
              </a:lnSpc>
              <a:spcAft>
                <a:spcPts val="0"/>
              </a:spcAft>
              <a:buFont typeface="+mj-lt"/>
              <a:buAutoNum type="alphaUcPeriod"/>
            </a:pPr>
            <a:r>
              <a:rPr lang="zh-TW" altLang="zh-TW" sz="2400" kern="100" dirty="0">
                <a:latin typeface="Calibri" panose="020F0502020204030204" pitchFamily="34" charset="0"/>
                <a:cs typeface="Times New Roman" panose="02020603050405020304" pitchFamily="18" charset="0"/>
              </a:rPr>
              <a:t>假設台積電和</a:t>
            </a:r>
            <a:r>
              <a:rPr lang="en-US" altLang="zh-TW" sz="2400" kern="100" dirty="0">
                <a:latin typeface="Calibri" panose="020F0502020204030204" pitchFamily="34" charset="0"/>
                <a:cs typeface="Times New Roman" panose="02020603050405020304" pitchFamily="18" charset="0"/>
              </a:rPr>
              <a:t>ASML </a:t>
            </a:r>
            <a:r>
              <a:rPr lang="zh-TW" altLang="zh-TW" sz="2400" kern="100" dirty="0">
                <a:latin typeface="Calibri" panose="020F0502020204030204" pitchFamily="34" charset="0"/>
                <a:cs typeface="Times New Roman" panose="02020603050405020304" pitchFamily="18" charset="0"/>
              </a:rPr>
              <a:t>對同研發成功的主觀機率預測相同都是</a:t>
            </a:r>
            <a:r>
              <a:rPr lang="en-US" altLang="zh-TW" sz="2400" kern="100" dirty="0">
                <a:latin typeface="Calibri" panose="020F0502020204030204" pitchFamily="34" charset="0"/>
                <a:cs typeface="Times New Roman" panose="02020603050405020304" pitchFamily="18" charset="0"/>
              </a:rPr>
              <a:t>p; </a:t>
            </a:r>
            <a:r>
              <a:rPr lang="zh-TW" altLang="zh-TW" sz="2400" kern="100" dirty="0">
                <a:latin typeface="Calibri" panose="020F0502020204030204" pitchFamily="34" charset="0"/>
                <a:cs typeface="Times New Roman" panose="02020603050405020304" pitchFamily="18" charset="0"/>
              </a:rPr>
              <a:t>失敗是</a:t>
            </a:r>
            <a:r>
              <a:rPr lang="en-US" altLang="zh-TW" sz="2400" kern="100" dirty="0">
                <a:latin typeface="Calibri" panose="020F0502020204030204" pitchFamily="34" charset="0"/>
                <a:cs typeface="Times New Roman" panose="02020603050405020304" pitchFamily="18" charset="0"/>
              </a:rPr>
              <a:t>1-p,</a:t>
            </a:r>
            <a:r>
              <a:rPr lang="zh-TW" altLang="en-US" sz="2400" dirty="0">
                <a:cs typeface="Arial Unicode MS"/>
              </a:rPr>
              <a:t> </a:t>
            </a:r>
            <a:r>
              <a:rPr lang="zh-TW" altLang="zh-TW" sz="2400" dirty="0">
                <a:cs typeface="Arial Unicode MS"/>
              </a:rPr>
              <a:t>對於兩家企業而言</a:t>
            </a:r>
            <a:r>
              <a:rPr lang="en-US" altLang="zh-TW" sz="2400" dirty="0">
                <a:cs typeface="Arial Unicode MS"/>
              </a:rPr>
              <a:t>, </a:t>
            </a:r>
            <a:r>
              <a:rPr lang="zh-TW" altLang="zh-TW" sz="2400" dirty="0">
                <a:cs typeface="Arial Unicode MS"/>
              </a:rPr>
              <a:t>此訊息不完全的擴展式賽局可以變成以下標準式賽局</a:t>
            </a:r>
            <a:r>
              <a:rPr lang="zh-TW" altLang="en-US" sz="2400" dirty="0">
                <a:latin typeface="PMingLiU" panose="02020500000000000000" pitchFamily="18" charset="-120"/>
                <a:ea typeface="PMingLiU" panose="02020500000000000000" pitchFamily="18" charset="-120"/>
                <a:cs typeface="Arial Unicode MS"/>
              </a:rPr>
              <a:t>。</a:t>
            </a:r>
            <a:endParaRPr lang="zh-TW" altLang="en-US" sz="2400" dirty="0"/>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extLst>
                  <p:ext uri="{D42A27DB-BD31-4B8C-83A1-F6EECF244321}">
                    <p14:modId xmlns:p14="http://schemas.microsoft.com/office/powerpoint/2010/main" val="2156638608"/>
                  </p:ext>
                </p:extLst>
              </p:nvPr>
            </p:nvGraphicFramePr>
            <p:xfrm>
              <a:off x="159238" y="1867171"/>
              <a:ext cx="8640962" cy="4680520"/>
            </p:xfrm>
            <a:graphic>
              <a:graphicData uri="http://schemas.openxmlformats.org/drawingml/2006/table">
                <a:tbl>
                  <a:tblPr firstRow="1" firstCol="1" bandRow="1">
                    <a:tableStyleId>{5C22544A-7EE6-4342-B048-85BDC9FD1C3A}</a:tableStyleId>
                  </a:tblPr>
                  <a:tblGrid>
                    <a:gridCol w="2728194">
                      <a:extLst>
                        <a:ext uri="{9D8B030D-6E8A-4147-A177-3AD203B41FA5}">
                          <a16:colId xmlns:a16="http://schemas.microsoft.com/office/drawing/2014/main" val="1608331203"/>
                        </a:ext>
                      </a:extLst>
                    </a:gridCol>
                    <a:gridCol w="2956384">
                      <a:extLst>
                        <a:ext uri="{9D8B030D-6E8A-4147-A177-3AD203B41FA5}">
                          <a16:colId xmlns:a16="http://schemas.microsoft.com/office/drawing/2014/main" val="4231016950"/>
                        </a:ext>
                      </a:extLst>
                    </a:gridCol>
                    <a:gridCol w="2956384">
                      <a:extLst>
                        <a:ext uri="{9D8B030D-6E8A-4147-A177-3AD203B41FA5}">
                          <a16:colId xmlns:a16="http://schemas.microsoft.com/office/drawing/2014/main" val="3124604274"/>
                        </a:ext>
                      </a:extLst>
                    </a:gridCol>
                  </a:tblGrid>
                  <a:tr h="1405630">
                    <a:tc rowSpan="2">
                      <a:txBody>
                        <a:bodyPr/>
                        <a:lstStyle/>
                        <a:p>
                          <a:pPr>
                            <a:spcAft>
                              <a:spcPts val="0"/>
                            </a:spcAft>
                          </a:pPr>
                          <a:r>
                            <a:rPr lang="en-US" sz="2000" kern="100" dirty="0">
                              <a:effectLst/>
                            </a:rPr>
                            <a:t>                    ASML</a:t>
                          </a:r>
                          <a:endParaRPr lang="zh-TW" sz="2000" kern="100" dirty="0">
                            <a:effectLst/>
                          </a:endParaRPr>
                        </a:p>
                        <a:p>
                          <a:pPr>
                            <a:spcAft>
                              <a:spcPts val="0"/>
                            </a:spcAft>
                          </a:pPr>
                          <a:endParaRPr lang="en-US" altLang="zh-TW" sz="2000" kern="100" dirty="0">
                            <a:effectLst/>
                          </a:endParaRPr>
                        </a:p>
                        <a:p>
                          <a:pPr>
                            <a:spcAft>
                              <a:spcPts val="0"/>
                            </a:spcAft>
                          </a:pPr>
                          <a:r>
                            <a:rPr lang="zh-TW" sz="2000" kern="100" dirty="0">
                              <a:effectLst/>
                            </a:rPr>
                            <a:t>台積電</a:t>
                          </a:r>
                        </a:p>
                        <a:p>
                          <a:pPr>
                            <a:lnSpc>
                              <a:spcPct val="150000"/>
                            </a:lnSpc>
                            <a:spcAft>
                              <a:spcPts val="0"/>
                            </a:spcAft>
                          </a:pPr>
                          <a:r>
                            <a:rPr lang="en-US" sz="2000" kern="100" dirty="0">
                              <a:effectLst/>
                            </a:rPr>
                            <a:t> </a:t>
                          </a:r>
                          <a:endParaRPr lang="zh-TW" sz="2000" kern="100" dirty="0">
                            <a:effectLst/>
                          </a:endParaRPr>
                        </a:p>
                        <a:p>
                          <a:pPr>
                            <a:lnSpc>
                              <a:spcPct val="150000"/>
                            </a:lnSpc>
                            <a:spcAft>
                              <a:spcPts val="0"/>
                            </a:spcAft>
                          </a:pPr>
                          <a:br>
                            <a:rPr lang="zh-TW" sz="2000" kern="100" dirty="0">
                              <a:effectLst/>
                            </a:rPr>
                          </a:br>
                          <a:r>
                            <a:rPr lang="zh-TW" sz="2000" kern="100" dirty="0">
                              <a:effectLst/>
                            </a:rPr>
                            <a:t>盡力</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000" kern="100" dirty="0">
                              <a:effectLst/>
                            </a:rPr>
                            <a:t>盡力</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000" kern="100">
                              <a:effectLst/>
                            </a:rPr>
                            <a:t>留一手</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699436602"/>
                      </a:ext>
                    </a:extLst>
                  </a:tr>
                  <a:tr h="1662057">
                    <a:tc vMerge="1">
                      <a:txBody>
                        <a:bodyPr/>
                        <a:lstStyle/>
                        <a:p>
                          <a:endParaRPr lang="zh-TW" altLang="en-US"/>
                        </a:p>
                      </a:txBody>
                      <a:tcPr/>
                    </a:tc>
                    <a:tc>
                      <a:txBody>
                        <a:bodyPr/>
                        <a:lstStyle/>
                        <a:p>
                          <a:pPr algn="just">
                            <a:lnSpc>
                              <a:spcPct val="150000"/>
                            </a:lnSpc>
                            <a:spcAft>
                              <a:spcPts val="0"/>
                            </a:spcAft>
                          </a:pPr>
                          <a14:m>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∗0+</m:t>
                              </m:r>
                              <m:d>
                                <m:dPr>
                                  <m:ctrlPr>
                                    <a:rPr lang="zh-TW" sz="2000" i="1" kern="100">
                                      <a:effectLst/>
                                      <a:latin typeface="Cambria Math" panose="02040503050406030204" pitchFamily="18" charset="0"/>
                                    </a:rPr>
                                  </m:ctrlPr>
                                </m:dPr>
                                <m:e>
                                  <m:r>
                                    <a:rPr lang="en-US" sz="2000" kern="100">
                                      <a:effectLst/>
                                      <a:latin typeface="Cambria Math" panose="02040503050406030204" pitchFamily="18" charset="0"/>
                                    </a:rPr>
                                    <m:t>1−</m:t>
                                  </m:r>
                                  <m:r>
                                    <a:rPr lang="en-US" sz="2000" kern="100">
                                      <a:effectLst/>
                                      <a:latin typeface="Cambria Math" panose="02040503050406030204" pitchFamily="18" charset="0"/>
                                    </a:rPr>
                                    <m:t>𝑝</m:t>
                                  </m:r>
                                </m:e>
                              </m:d>
                              <m:r>
                                <a:rPr lang="en-US" sz="2000" kern="100">
                                  <a:effectLst/>
                                  <a:latin typeface="Cambria Math" panose="02040503050406030204" pitchFamily="18" charset="0"/>
                                </a:rPr>
                                <m:t>∗0=0</m:t>
                              </m:r>
                            </m:oMath>
                          </a14:m>
                          <a:r>
                            <a:rPr lang="en-US" sz="2000" kern="100" dirty="0">
                              <a:effectLst/>
                            </a:rPr>
                            <a:t>,</a:t>
                          </a:r>
                          <a:endParaRPr lang="zh-TW" sz="2000" kern="100" dirty="0">
                            <a:effectLst/>
                          </a:endParaRPr>
                        </a:p>
                        <a:p>
                          <a:pPr>
                            <a:lnSpc>
                              <a:spcPct val="150000"/>
                            </a:lnSpc>
                            <a:spcAft>
                              <a:spcPts val="0"/>
                            </a:spcAft>
                          </a:pPr>
                          <a14:m>
                            <m:oMathPara xmlns:m="http://schemas.openxmlformats.org/officeDocument/2006/math">
                              <m:oMathParaPr>
                                <m:jc m:val="left"/>
                              </m:oMathParaPr>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∗30+(1−</m:t>
                                </m:r>
                                <m:r>
                                  <a:rPr lang="en-US" sz="2000" kern="100">
                                    <a:effectLst/>
                                    <a:latin typeface="Cambria Math" panose="02040503050406030204" pitchFamily="18" charset="0"/>
                                  </a:rPr>
                                  <m:t>𝑝</m:t>
                                </m:r>
                                <m:r>
                                  <a:rPr lang="en-US" sz="2000" kern="100">
                                    <a:effectLst/>
                                    <a:latin typeface="Cambria Math" panose="02040503050406030204" pitchFamily="18" charset="0"/>
                                  </a:rPr>
                                  <m:t>)∗30</m:t>
                                </m:r>
                              </m:oMath>
                            </m:oMathPara>
                          </a14:m>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nSpc>
                              <a:spcPct val="150000"/>
                            </a:lnSpc>
                            <a:spcAft>
                              <a:spcPts val="0"/>
                            </a:spcAft>
                          </a:pPr>
                          <a14:m>
                            <m:oMathPara xmlns:m="http://schemas.openxmlformats.org/officeDocument/2006/math">
                              <m:oMathParaPr>
                                <m:jc m:val="centerGroup"/>
                              </m:oMathParaPr>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∗15+</m:t>
                                </m:r>
                                <m:d>
                                  <m:dPr>
                                    <m:ctrlPr>
                                      <a:rPr lang="zh-TW" sz="2000" i="1" kern="100">
                                        <a:effectLst/>
                                        <a:latin typeface="Cambria Math" panose="02040503050406030204" pitchFamily="18" charset="0"/>
                                      </a:rPr>
                                    </m:ctrlPr>
                                  </m:dPr>
                                  <m:e>
                                    <m:r>
                                      <a:rPr lang="en-US" sz="2000" kern="100">
                                        <a:effectLst/>
                                        <a:latin typeface="Cambria Math" panose="02040503050406030204" pitchFamily="18" charset="0"/>
                                      </a:rPr>
                                      <m:t>1−</m:t>
                                    </m:r>
                                    <m:r>
                                      <a:rPr lang="en-US" sz="2000" kern="100">
                                        <a:effectLst/>
                                        <a:latin typeface="Cambria Math" panose="02040503050406030204" pitchFamily="18" charset="0"/>
                                      </a:rPr>
                                      <m:t>𝑝</m:t>
                                    </m:r>
                                  </m:e>
                                </m:d>
                                <m:r>
                                  <a:rPr lang="en-US" sz="2000" kern="100">
                                    <a:effectLst/>
                                    <a:latin typeface="Cambria Math" panose="02040503050406030204" pitchFamily="18" charset="0"/>
                                  </a:rPr>
                                  <m:t>∗</m:t>
                                </m:r>
                                <m:d>
                                  <m:dPr>
                                    <m:ctrlPr>
                                      <a:rPr lang="zh-TW" sz="2000" i="1" kern="100">
                                        <a:effectLst/>
                                        <a:latin typeface="Cambria Math" panose="02040503050406030204" pitchFamily="18" charset="0"/>
                                      </a:rPr>
                                    </m:ctrlPr>
                                  </m:dPr>
                                  <m:e>
                                    <m:r>
                                      <a:rPr lang="en-US" sz="2000" kern="100">
                                        <a:effectLst/>
                                        <a:latin typeface="Cambria Math" panose="02040503050406030204" pitchFamily="18" charset="0"/>
                                      </a:rPr>
                                      <m:t>−5</m:t>
                                    </m:r>
                                  </m:e>
                                </m:d>
                              </m:oMath>
                            </m:oMathPara>
                          </a14:m>
                          <a:endParaRPr lang="zh-TW" sz="2000" kern="100" dirty="0">
                            <a:effectLst/>
                          </a:endParaRPr>
                        </a:p>
                        <a:p>
                          <a:pPr>
                            <a:lnSpc>
                              <a:spcPct val="150000"/>
                            </a:lnSpc>
                            <a:spcAft>
                              <a:spcPts val="0"/>
                            </a:spcAft>
                          </a:pPr>
                          <a14:m>
                            <m:oMathPara xmlns:m="http://schemas.openxmlformats.org/officeDocument/2006/math">
                              <m:oMathParaPr>
                                <m:jc m:val="left"/>
                              </m:oMathParaPr>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∗20+(1−</m:t>
                                </m:r>
                                <m:r>
                                  <a:rPr lang="en-US" sz="2000" kern="100">
                                    <a:effectLst/>
                                    <a:latin typeface="Cambria Math" panose="02040503050406030204" pitchFamily="18" charset="0"/>
                                  </a:rPr>
                                  <m:t>𝑝</m:t>
                                </m:r>
                                <m:r>
                                  <a:rPr lang="en-US" sz="2000" kern="100">
                                    <a:effectLst/>
                                    <a:latin typeface="Cambria Math" panose="02040503050406030204" pitchFamily="18" charset="0"/>
                                  </a:rPr>
                                  <m:t>)∗15</m:t>
                                </m:r>
                              </m:oMath>
                            </m:oMathPara>
                          </a14:m>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09680518"/>
                      </a:ext>
                    </a:extLst>
                  </a:tr>
                  <a:tr h="1612833">
                    <a:tc>
                      <a:txBody>
                        <a:bodyPr/>
                        <a:lstStyle/>
                        <a:p>
                          <a:pPr>
                            <a:lnSpc>
                              <a:spcPct val="150000"/>
                            </a:lnSpc>
                            <a:spcAft>
                              <a:spcPts val="0"/>
                            </a:spcAft>
                          </a:pPr>
                          <a:r>
                            <a:rPr lang="zh-TW" sz="2000" kern="100">
                              <a:effectLst/>
                            </a:rPr>
                            <a:t>留一手</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nSpc>
                              <a:spcPct val="150000"/>
                            </a:lnSpc>
                            <a:spcAft>
                              <a:spcPts val="0"/>
                            </a:spcAft>
                          </a:pPr>
                          <a14:m>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∗0+(1−</m:t>
                              </m:r>
                              <m:r>
                                <a:rPr lang="en-US" sz="2000" kern="100">
                                  <a:effectLst/>
                                  <a:latin typeface="Cambria Math" panose="02040503050406030204" pitchFamily="18" charset="0"/>
                                </a:rPr>
                                <m:t>𝑝</m:t>
                              </m:r>
                              <m:r>
                                <a:rPr lang="en-US" sz="2000" kern="100">
                                  <a:effectLst/>
                                  <a:latin typeface="Cambria Math" panose="02040503050406030204" pitchFamily="18" charset="0"/>
                                </a:rPr>
                                <m:t>)∗0</m:t>
                              </m:r>
                            </m:oMath>
                          </a14:m>
                          <a:r>
                            <a:rPr lang="en-US" sz="2000" kern="100" dirty="0">
                              <a:effectLst/>
                            </a:rPr>
                            <a:t>,</a:t>
                          </a:r>
                          <a:endParaRPr lang="zh-TW" sz="2000" kern="100" dirty="0">
                            <a:effectLst/>
                          </a:endParaRPr>
                        </a:p>
                        <a:p>
                          <a:pPr>
                            <a:lnSpc>
                              <a:spcPct val="150000"/>
                            </a:lnSpc>
                            <a:spcAft>
                              <a:spcPts val="0"/>
                            </a:spcAft>
                          </a:pPr>
                          <a14:m>
                            <m:oMathPara xmlns:m="http://schemas.openxmlformats.org/officeDocument/2006/math">
                              <m:oMathParaPr>
                                <m:jc m:val="left"/>
                              </m:oMathParaPr>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∗20+(1−</m:t>
                                </m:r>
                                <m:r>
                                  <a:rPr lang="en-US" sz="2000" kern="100">
                                    <a:effectLst/>
                                    <a:latin typeface="Cambria Math" panose="02040503050406030204" pitchFamily="18" charset="0"/>
                                  </a:rPr>
                                  <m:t>𝑝</m:t>
                                </m:r>
                                <m:r>
                                  <a:rPr lang="en-US" sz="2000" kern="100">
                                    <a:effectLst/>
                                    <a:latin typeface="Cambria Math" panose="02040503050406030204" pitchFamily="18" charset="0"/>
                                  </a:rPr>
                                  <m:t>)∗30</m:t>
                                </m:r>
                              </m:oMath>
                            </m:oMathPara>
                          </a14:m>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14:m>
                            <m:oMath xmlns:m="http://schemas.openxmlformats.org/officeDocument/2006/math">
                              <m:r>
                                <a:rPr lang="en-US" sz="2000" kern="100">
                                  <a:effectLst/>
                                  <a:latin typeface="Cambria Math" panose="02040503050406030204" pitchFamily="18" charset="0"/>
                                </a:rPr>
                                <m:t>−10</m:t>
                              </m:r>
                            </m:oMath>
                          </a14:m>
                          <a:r>
                            <a:rPr lang="en-US" sz="2000" kern="100" dirty="0">
                              <a:effectLst/>
                            </a:rPr>
                            <a:t>,</a:t>
                          </a:r>
                          <a:endParaRPr lang="zh-TW" sz="2000" kern="100" dirty="0">
                            <a:effectLst/>
                          </a:endParaRPr>
                        </a:p>
                        <a:p>
                          <a:pPr>
                            <a:lnSpc>
                              <a:spcPct val="150000"/>
                            </a:lnSpc>
                            <a:spcAft>
                              <a:spcPts val="0"/>
                            </a:spcAft>
                          </a:pPr>
                          <a14:m>
                            <m:oMathPara xmlns:m="http://schemas.openxmlformats.org/officeDocument/2006/math">
                              <m:oMathParaPr>
                                <m:jc m:val="centerGroup"/>
                              </m:oMathParaPr>
                              <m:oMath xmlns:m="http://schemas.openxmlformats.org/officeDocument/2006/math">
                                <m:r>
                                  <m:rPr>
                                    <m:sty m:val="p"/>
                                  </m:rPr>
                                  <a:rPr lang="en-US" sz="2000" kern="100">
                                    <a:effectLst/>
                                    <a:latin typeface="Cambria Math" panose="02040503050406030204" pitchFamily="18" charset="0"/>
                                  </a:rPr>
                                  <m:t>p</m:t>
                                </m:r>
                                <m:r>
                                  <a:rPr lang="en-US" sz="2000" kern="100">
                                    <a:effectLst/>
                                    <a:latin typeface="Cambria Math" panose="02040503050406030204" pitchFamily="18" charset="0"/>
                                  </a:rPr>
                                  <m:t>∗0+(1−</m:t>
                                </m:r>
                                <m:r>
                                  <a:rPr lang="en-US" sz="2000" kern="100">
                                    <a:effectLst/>
                                    <a:latin typeface="Cambria Math" panose="02040503050406030204" pitchFamily="18" charset="0"/>
                                  </a:rPr>
                                  <m:t>𝑝</m:t>
                                </m:r>
                                <m:r>
                                  <a:rPr lang="en-US" sz="2000" kern="100">
                                    <a:effectLst/>
                                    <a:latin typeface="Cambria Math" panose="02040503050406030204" pitchFamily="18" charset="0"/>
                                  </a:rPr>
                                  <m:t>)∗25</m:t>
                                </m:r>
                              </m:oMath>
                            </m:oMathPara>
                          </a14:m>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33025616"/>
                      </a:ext>
                    </a:extLst>
                  </a:tr>
                </a:tbl>
              </a:graphicData>
            </a:graphic>
          </p:graphicFrame>
        </mc:Choice>
        <mc:Fallback xmlns="">
          <p:graphicFrame>
            <p:nvGraphicFramePr>
              <p:cNvPr id="3" name="表格 2"/>
              <p:cNvGraphicFramePr>
                <a:graphicFrameLocks noGrp="1"/>
              </p:cNvGraphicFramePr>
              <p:nvPr>
                <p:extLst>
                  <p:ext uri="{D42A27DB-BD31-4B8C-83A1-F6EECF244321}">
                    <p14:modId xmlns:p14="http://schemas.microsoft.com/office/powerpoint/2010/main" val="2156638608"/>
                  </p:ext>
                </p:extLst>
              </p:nvPr>
            </p:nvGraphicFramePr>
            <p:xfrm>
              <a:off x="159238" y="1867171"/>
              <a:ext cx="8640962" cy="4680520"/>
            </p:xfrm>
            <a:graphic>
              <a:graphicData uri="http://schemas.openxmlformats.org/drawingml/2006/table">
                <a:tbl>
                  <a:tblPr firstRow="1" firstCol="1" bandRow="1">
                    <a:tableStyleId>{5C22544A-7EE6-4342-B048-85BDC9FD1C3A}</a:tableStyleId>
                  </a:tblPr>
                  <a:tblGrid>
                    <a:gridCol w="2728194">
                      <a:extLst>
                        <a:ext uri="{9D8B030D-6E8A-4147-A177-3AD203B41FA5}">
                          <a16:colId xmlns:a16="http://schemas.microsoft.com/office/drawing/2014/main" val="1608331203"/>
                        </a:ext>
                      </a:extLst>
                    </a:gridCol>
                    <a:gridCol w="2956384">
                      <a:extLst>
                        <a:ext uri="{9D8B030D-6E8A-4147-A177-3AD203B41FA5}">
                          <a16:colId xmlns:a16="http://schemas.microsoft.com/office/drawing/2014/main" val="4231016950"/>
                        </a:ext>
                      </a:extLst>
                    </a:gridCol>
                    <a:gridCol w="2956384">
                      <a:extLst>
                        <a:ext uri="{9D8B030D-6E8A-4147-A177-3AD203B41FA5}">
                          <a16:colId xmlns:a16="http://schemas.microsoft.com/office/drawing/2014/main" val="3124604274"/>
                        </a:ext>
                      </a:extLst>
                    </a:gridCol>
                  </a:tblGrid>
                  <a:tr h="1405630">
                    <a:tc rowSpan="2">
                      <a:txBody>
                        <a:bodyPr/>
                        <a:lstStyle/>
                        <a:p>
                          <a:pPr>
                            <a:spcAft>
                              <a:spcPts val="0"/>
                            </a:spcAft>
                          </a:pPr>
                          <a:r>
                            <a:rPr lang="en-US" sz="2000" kern="100" dirty="0">
                              <a:effectLst/>
                            </a:rPr>
                            <a:t>          </a:t>
                          </a:r>
                          <a:r>
                            <a:rPr lang="en-US" sz="2000" kern="100" dirty="0" smtClean="0">
                              <a:effectLst/>
                            </a:rPr>
                            <a:t>          </a:t>
                          </a:r>
                          <a:r>
                            <a:rPr lang="en-US" sz="2000" kern="100" dirty="0">
                              <a:effectLst/>
                            </a:rPr>
                            <a:t>ASML</a:t>
                          </a:r>
                          <a:endParaRPr lang="zh-TW" sz="2000" kern="100" dirty="0">
                            <a:effectLst/>
                          </a:endParaRPr>
                        </a:p>
                        <a:p>
                          <a:pPr>
                            <a:spcAft>
                              <a:spcPts val="0"/>
                            </a:spcAft>
                          </a:pPr>
                          <a:endParaRPr lang="en-US" altLang="zh-TW" sz="2000" kern="100" dirty="0" smtClean="0">
                            <a:effectLst/>
                          </a:endParaRPr>
                        </a:p>
                        <a:p>
                          <a:pPr>
                            <a:spcAft>
                              <a:spcPts val="0"/>
                            </a:spcAft>
                          </a:pPr>
                          <a:r>
                            <a:rPr lang="zh-TW" sz="2000" kern="100" dirty="0" smtClean="0">
                              <a:effectLst/>
                            </a:rPr>
                            <a:t>台積電</a:t>
                          </a:r>
                          <a:endParaRPr lang="zh-TW" sz="2000" kern="100" dirty="0">
                            <a:effectLst/>
                          </a:endParaRPr>
                        </a:p>
                        <a:p>
                          <a:pPr>
                            <a:lnSpc>
                              <a:spcPct val="150000"/>
                            </a:lnSpc>
                            <a:spcAft>
                              <a:spcPts val="0"/>
                            </a:spcAft>
                          </a:pPr>
                          <a:r>
                            <a:rPr lang="en-US" sz="2000" kern="100" dirty="0">
                              <a:effectLst/>
                            </a:rPr>
                            <a:t> </a:t>
                          </a:r>
                          <a:endParaRPr lang="zh-TW" sz="2000" kern="100" dirty="0">
                            <a:effectLst/>
                          </a:endParaRPr>
                        </a:p>
                        <a:p>
                          <a:pPr>
                            <a:lnSpc>
                              <a:spcPct val="150000"/>
                            </a:lnSpc>
                            <a:spcAft>
                              <a:spcPts val="0"/>
                            </a:spcAft>
                          </a:pPr>
                          <a:r>
                            <a:rPr lang="zh-TW" sz="2000" kern="100" dirty="0">
                              <a:effectLst/>
                            </a:rPr>
                            <a:t/>
                          </a:r>
                          <a:br>
                            <a:rPr lang="zh-TW" sz="2000" kern="100" dirty="0">
                              <a:effectLst/>
                            </a:rPr>
                          </a:br>
                          <a:r>
                            <a:rPr lang="zh-TW" sz="2000" kern="100" dirty="0">
                              <a:effectLst/>
                            </a:rPr>
                            <a:t>盡力</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000" kern="100" dirty="0">
                              <a:effectLst/>
                            </a:rPr>
                            <a:t>盡力</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000" kern="100">
                              <a:effectLst/>
                            </a:rPr>
                            <a:t>留一手</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699436602"/>
                      </a:ext>
                    </a:extLst>
                  </a:tr>
                  <a:tr h="1662057">
                    <a:tc vMerge="1">
                      <a:txBody>
                        <a:bodyPr/>
                        <a:lstStyle/>
                        <a:p>
                          <a:endParaRPr lang="zh-TW" altLang="en-US"/>
                        </a:p>
                      </a:txBody>
                      <a:tcPr/>
                    </a:tc>
                    <a:tc>
                      <a:txBody>
                        <a:bodyPr/>
                        <a:lstStyle/>
                        <a:p>
                          <a:endParaRPr lang="zh-TW"/>
                        </a:p>
                      </a:txBody>
                      <a:tcPr marL="68580" marR="68580" marT="0" marB="0">
                        <a:blipFill>
                          <a:blip r:embed="rId2"/>
                          <a:stretch>
                            <a:fillRect l="-92577" t="-89377" r="-100825" b="-97802"/>
                          </a:stretch>
                        </a:blipFill>
                      </a:tcPr>
                    </a:tc>
                    <a:tc>
                      <a:txBody>
                        <a:bodyPr/>
                        <a:lstStyle/>
                        <a:p>
                          <a:endParaRPr lang="zh-TW"/>
                        </a:p>
                      </a:txBody>
                      <a:tcPr marL="68580" marR="68580" marT="0" marB="0">
                        <a:blipFill>
                          <a:blip r:embed="rId2"/>
                          <a:stretch>
                            <a:fillRect l="-192577" t="-89377" r="-825" b="-97802"/>
                          </a:stretch>
                        </a:blipFill>
                      </a:tcPr>
                    </a:tc>
                    <a:extLst>
                      <a:ext uri="{0D108BD9-81ED-4DB2-BD59-A6C34878D82A}">
                        <a16:rowId xmlns:a16="http://schemas.microsoft.com/office/drawing/2014/main" val="309680518"/>
                      </a:ext>
                    </a:extLst>
                  </a:tr>
                  <a:tr h="1612833">
                    <a:tc>
                      <a:txBody>
                        <a:bodyPr/>
                        <a:lstStyle/>
                        <a:p>
                          <a:pPr>
                            <a:lnSpc>
                              <a:spcPct val="150000"/>
                            </a:lnSpc>
                            <a:spcAft>
                              <a:spcPts val="0"/>
                            </a:spcAft>
                          </a:pPr>
                          <a:r>
                            <a:rPr lang="zh-TW" sz="2000" kern="100">
                              <a:effectLst/>
                            </a:rPr>
                            <a:t>留一手</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p>
                      </a:txBody>
                      <a:tcPr marL="68580" marR="68580" marT="0" marB="0">
                        <a:blipFill>
                          <a:blip r:embed="rId2"/>
                          <a:stretch>
                            <a:fillRect l="-92577" t="-195094" r="-100825" b="-755"/>
                          </a:stretch>
                        </a:blipFill>
                      </a:tcPr>
                    </a:tc>
                    <a:tc>
                      <a:txBody>
                        <a:bodyPr/>
                        <a:lstStyle/>
                        <a:p>
                          <a:endParaRPr lang="zh-TW"/>
                        </a:p>
                      </a:txBody>
                      <a:tcPr marL="68580" marR="68580" marT="0" marB="0">
                        <a:blipFill>
                          <a:blip r:embed="rId2"/>
                          <a:stretch>
                            <a:fillRect l="-192577" t="-195094" r="-825" b="-755"/>
                          </a:stretch>
                        </a:blipFill>
                      </a:tcPr>
                    </a:tc>
                    <a:extLst>
                      <a:ext uri="{0D108BD9-81ED-4DB2-BD59-A6C34878D82A}">
                        <a16:rowId xmlns:a16="http://schemas.microsoft.com/office/drawing/2014/main" val="433025616"/>
                      </a:ext>
                    </a:extLst>
                  </a:tr>
                </a:tbl>
              </a:graphicData>
            </a:graphic>
          </p:graphicFrame>
        </mc:Fallback>
      </mc:AlternateContent>
      <p:cxnSp>
        <p:nvCxnSpPr>
          <p:cNvPr id="4" name="AutoShape 1003"/>
          <p:cNvCxnSpPr>
            <a:cxnSpLocks noChangeShapeType="1"/>
          </p:cNvCxnSpPr>
          <p:nvPr/>
        </p:nvCxnSpPr>
        <p:spPr bwMode="auto">
          <a:xfrm>
            <a:off x="210400" y="1867171"/>
            <a:ext cx="2705416" cy="1319326"/>
          </a:xfrm>
          <a:prstGeom prst="straightConnector1">
            <a:avLst/>
          </a:prstGeom>
          <a:noFill/>
          <a:ln w="9525">
            <a:solidFill>
              <a:srgbClr val="000000"/>
            </a:solidFill>
            <a:round/>
            <a:headEnd type="none" w="med" len="med"/>
            <a:tailEnd type="none" w="med" len="med"/>
          </a:ln>
          <a:extLst>
            <a:ext uri="{909E8E84-426E-40DD-AFC4-6F175D3DCCD1}">
              <a14:hiddenFill xmlns:a14="http://schemas.microsoft.com/office/drawing/2010/main">
                <a:noFill/>
              </a14:hiddenFill>
            </a:ext>
          </a:extLst>
        </p:spPr>
      </p:cxnSp>
      <p:cxnSp>
        <p:nvCxnSpPr>
          <p:cNvPr id="5" name="直線接點 4"/>
          <p:cNvCxnSpPr/>
          <p:nvPr/>
        </p:nvCxnSpPr>
        <p:spPr>
          <a:xfrm>
            <a:off x="179511" y="3160018"/>
            <a:ext cx="2736305" cy="52958"/>
          </a:xfrm>
          <a:prstGeom prst="line">
            <a:avLst/>
          </a:prstGeom>
        </p:spPr>
        <p:style>
          <a:lnRef idx="1">
            <a:schemeClr val="dk1"/>
          </a:lnRef>
          <a:fillRef idx="0">
            <a:schemeClr val="dk1"/>
          </a:fillRef>
          <a:effectRef idx="0">
            <a:schemeClr val="dk1"/>
          </a:effectRef>
          <a:fontRef idx="minor">
            <a:schemeClr val="tx1"/>
          </a:fontRef>
        </p:style>
      </p:cxnSp>
      <p:sp>
        <p:nvSpPr>
          <p:cNvPr id="6" name="Rectangle 3"/>
          <p:cNvSpPr>
            <a:spLocks noChangeArrowheads="1"/>
          </p:cNvSpPr>
          <p:nvPr/>
        </p:nvSpPr>
        <p:spPr bwMode="auto">
          <a:xfrm>
            <a:off x="1349375" y="15525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7" name="Rectangle 4"/>
          <p:cNvSpPr>
            <a:spLocks noChangeArrowheads="1"/>
          </p:cNvSpPr>
          <p:nvPr/>
        </p:nvSpPr>
        <p:spPr bwMode="auto">
          <a:xfrm>
            <a:off x="1349375" y="20097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Tree>
    <p:extLst>
      <p:ext uri="{BB962C8B-B14F-4D97-AF65-F5344CB8AC3E}">
        <p14:creationId xmlns:p14="http://schemas.microsoft.com/office/powerpoint/2010/main" val="3817816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7" name="表格 6"/>
              <p:cNvGraphicFramePr>
                <a:graphicFrameLocks noGrp="1"/>
              </p:cNvGraphicFramePr>
              <p:nvPr>
                <p:extLst>
                  <p:ext uri="{D42A27DB-BD31-4B8C-83A1-F6EECF244321}">
                    <p14:modId xmlns:p14="http://schemas.microsoft.com/office/powerpoint/2010/main" val="2520970234"/>
                  </p:ext>
                </p:extLst>
              </p:nvPr>
            </p:nvGraphicFramePr>
            <p:xfrm>
              <a:off x="2267744" y="1102021"/>
              <a:ext cx="6120681" cy="3514201"/>
            </p:xfrm>
            <a:graphic>
              <a:graphicData uri="http://schemas.openxmlformats.org/drawingml/2006/table">
                <a:tbl>
                  <a:tblPr firstRow="1" firstCol="1" bandRow="1">
                    <a:tableStyleId>{5C22544A-7EE6-4342-B048-85BDC9FD1C3A}</a:tableStyleId>
                  </a:tblPr>
                  <a:tblGrid>
                    <a:gridCol w="2019005">
                      <a:extLst>
                        <a:ext uri="{9D8B030D-6E8A-4147-A177-3AD203B41FA5}">
                          <a16:colId xmlns:a16="http://schemas.microsoft.com/office/drawing/2014/main" val="1959321194"/>
                        </a:ext>
                      </a:extLst>
                    </a:gridCol>
                    <a:gridCol w="2050838">
                      <a:extLst>
                        <a:ext uri="{9D8B030D-6E8A-4147-A177-3AD203B41FA5}">
                          <a16:colId xmlns:a16="http://schemas.microsoft.com/office/drawing/2014/main" val="3317225774"/>
                        </a:ext>
                      </a:extLst>
                    </a:gridCol>
                    <a:gridCol w="2050838">
                      <a:extLst>
                        <a:ext uri="{9D8B030D-6E8A-4147-A177-3AD203B41FA5}">
                          <a16:colId xmlns:a16="http://schemas.microsoft.com/office/drawing/2014/main" val="3155612307"/>
                        </a:ext>
                      </a:extLst>
                    </a:gridCol>
                  </a:tblGrid>
                  <a:tr h="1174851">
                    <a:tc rowSpan="2">
                      <a:txBody>
                        <a:bodyPr/>
                        <a:lstStyle/>
                        <a:p>
                          <a:pPr>
                            <a:spcAft>
                              <a:spcPts val="0"/>
                            </a:spcAft>
                          </a:pPr>
                          <a:r>
                            <a:rPr lang="en-US" sz="2400" kern="100" dirty="0">
                              <a:effectLst/>
                            </a:rPr>
                            <a:t>           ASML</a:t>
                          </a:r>
                          <a:endParaRPr lang="zh-TW" sz="2400" kern="100" dirty="0">
                            <a:effectLst/>
                          </a:endParaRPr>
                        </a:p>
                        <a:p>
                          <a:pPr>
                            <a:spcAft>
                              <a:spcPts val="0"/>
                            </a:spcAft>
                          </a:pPr>
                          <a:endParaRPr lang="en-US" altLang="zh-TW" sz="2400" kern="100" dirty="0">
                            <a:effectLst/>
                          </a:endParaRPr>
                        </a:p>
                        <a:p>
                          <a:pPr>
                            <a:spcAft>
                              <a:spcPts val="0"/>
                            </a:spcAft>
                          </a:pPr>
                          <a:r>
                            <a:rPr lang="zh-TW" sz="2400" kern="100" dirty="0">
                              <a:effectLst/>
                            </a:rPr>
                            <a:t>台積電</a:t>
                          </a:r>
                        </a:p>
                        <a:p>
                          <a:pPr>
                            <a:lnSpc>
                              <a:spcPct val="150000"/>
                            </a:lnSpc>
                            <a:spcAft>
                              <a:spcPts val="0"/>
                            </a:spcAft>
                          </a:pPr>
                          <a:endParaRPr lang="en-US" altLang="zh-TW" sz="2400" kern="100" dirty="0">
                            <a:effectLst/>
                          </a:endParaRPr>
                        </a:p>
                        <a:p>
                          <a:pPr>
                            <a:lnSpc>
                              <a:spcPct val="150000"/>
                            </a:lnSpc>
                            <a:spcAft>
                              <a:spcPts val="0"/>
                            </a:spcAft>
                          </a:pPr>
                          <a:r>
                            <a:rPr lang="zh-TW" sz="2400" kern="100" dirty="0">
                              <a:effectLst/>
                            </a:rPr>
                            <a:t>盡力</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400" kern="100" dirty="0">
                              <a:effectLst/>
                            </a:rPr>
                            <a:t>盡力</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400" kern="100" dirty="0">
                              <a:effectLst/>
                            </a:rPr>
                            <a:t>留一手</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214426080"/>
                      </a:ext>
                    </a:extLst>
                  </a:tr>
                  <a:tr h="901682">
                    <a:tc vMerge="1">
                      <a:txBody>
                        <a:bodyPr/>
                        <a:lstStyle/>
                        <a:p>
                          <a:endParaRPr lang="zh-TW" altLang="en-US"/>
                        </a:p>
                      </a:txBody>
                      <a:tcPr/>
                    </a:tc>
                    <a:tc>
                      <a:txBody>
                        <a:bodyPr/>
                        <a:lstStyle/>
                        <a:p>
                          <a:pPr algn="ctr">
                            <a:lnSpc>
                              <a:spcPct val="150000"/>
                            </a:lnSpc>
                            <a:spcAft>
                              <a:spcPts val="0"/>
                            </a:spcAft>
                          </a:pPr>
                          <a14:m>
                            <m:oMath xmlns:m="http://schemas.openxmlformats.org/officeDocument/2006/math">
                              <m:r>
                                <a:rPr lang="en-US" sz="2400" kern="100">
                                  <a:effectLst/>
                                  <a:latin typeface="Cambria Math" panose="02040503050406030204" pitchFamily="18" charset="0"/>
                                </a:rPr>
                                <m:t>0</m:t>
                              </m:r>
                            </m:oMath>
                          </a14:m>
                          <a:r>
                            <a:rPr lang="en-US" sz="2400" kern="100">
                              <a:effectLst/>
                            </a:rPr>
                            <a:t>,</a:t>
                          </a:r>
                          <a14:m>
                            <m:oMath xmlns:m="http://schemas.openxmlformats.org/officeDocument/2006/math">
                              <m:r>
                                <a:rPr lang="en-US" sz="2400" kern="100">
                                  <a:effectLst/>
                                  <a:latin typeface="Cambria Math" panose="02040503050406030204" pitchFamily="18" charset="0"/>
                                </a:rPr>
                                <m:t>30</m:t>
                              </m:r>
                            </m:oMath>
                          </a14:m>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nSpc>
                              <a:spcPct val="150000"/>
                            </a:lnSpc>
                            <a:spcAft>
                              <a:spcPts val="0"/>
                            </a:spcAft>
                          </a:pPr>
                          <a14:m>
                            <m:oMathPara xmlns:m="http://schemas.openxmlformats.org/officeDocument/2006/math">
                              <m:oMathParaPr>
                                <m:jc m:val="centerGroup"/>
                              </m:oMathParaPr>
                              <m:oMath xmlns:m="http://schemas.openxmlformats.org/officeDocument/2006/math">
                                <m:r>
                                  <a:rPr lang="en-US" sz="2400" kern="100">
                                    <a:effectLst/>
                                    <a:latin typeface="Cambria Math" panose="02040503050406030204" pitchFamily="18" charset="0"/>
                                  </a:rPr>
                                  <m:t>13, 19.5</m:t>
                                </m:r>
                              </m:oMath>
                            </m:oMathPara>
                          </a14:m>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337809691"/>
                      </a:ext>
                    </a:extLst>
                  </a:tr>
                  <a:tr h="1377997">
                    <a:tc>
                      <a:txBody>
                        <a:bodyPr/>
                        <a:lstStyle/>
                        <a:p>
                          <a:pPr>
                            <a:lnSpc>
                              <a:spcPct val="150000"/>
                            </a:lnSpc>
                            <a:spcAft>
                              <a:spcPts val="0"/>
                            </a:spcAft>
                          </a:pPr>
                          <a:r>
                            <a:rPr lang="zh-TW" sz="2400" kern="100" dirty="0">
                              <a:effectLst/>
                            </a:rPr>
                            <a:t>留一手</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14:m>
                            <m:oMath xmlns:m="http://schemas.openxmlformats.org/officeDocument/2006/math">
                              <m:r>
                                <a:rPr lang="en-US" sz="2400" kern="100">
                                  <a:effectLst/>
                                  <a:latin typeface="Cambria Math" panose="02040503050406030204" pitchFamily="18" charset="0"/>
                                </a:rPr>
                                <m:t>0</m:t>
                              </m:r>
                            </m:oMath>
                          </a14:m>
                          <a:r>
                            <a:rPr lang="en-US" sz="2400" kern="100">
                              <a:effectLst/>
                            </a:rPr>
                            <a:t>,15</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14:m>
                            <m:oMath xmlns:m="http://schemas.openxmlformats.org/officeDocument/2006/math">
                              <m:r>
                                <a:rPr lang="en-US" sz="2400" kern="100">
                                  <a:effectLst/>
                                  <a:latin typeface="Cambria Math" panose="02040503050406030204" pitchFamily="18" charset="0"/>
                                </a:rPr>
                                <m:t>−10</m:t>
                              </m:r>
                            </m:oMath>
                          </a14:m>
                          <a:r>
                            <a:rPr lang="en-US" sz="2400" kern="100" dirty="0">
                              <a:effectLst/>
                            </a:rPr>
                            <a:t>,2.5</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117935173"/>
                      </a:ext>
                    </a:extLst>
                  </a:tr>
                </a:tbl>
              </a:graphicData>
            </a:graphic>
          </p:graphicFrame>
        </mc:Choice>
        <mc:Fallback xmlns="">
          <p:graphicFrame>
            <p:nvGraphicFramePr>
              <p:cNvPr id="7" name="表格 6"/>
              <p:cNvGraphicFramePr>
                <a:graphicFrameLocks noGrp="1"/>
              </p:cNvGraphicFramePr>
              <p:nvPr>
                <p:extLst>
                  <p:ext uri="{D42A27DB-BD31-4B8C-83A1-F6EECF244321}">
                    <p14:modId xmlns:p14="http://schemas.microsoft.com/office/powerpoint/2010/main" val="2520970234"/>
                  </p:ext>
                </p:extLst>
              </p:nvPr>
            </p:nvGraphicFramePr>
            <p:xfrm>
              <a:off x="2267744" y="1102021"/>
              <a:ext cx="6120681" cy="3514201"/>
            </p:xfrm>
            <a:graphic>
              <a:graphicData uri="http://schemas.openxmlformats.org/drawingml/2006/table">
                <a:tbl>
                  <a:tblPr firstRow="1" firstCol="1" bandRow="1">
                    <a:tableStyleId>{5C22544A-7EE6-4342-B048-85BDC9FD1C3A}</a:tableStyleId>
                  </a:tblPr>
                  <a:tblGrid>
                    <a:gridCol w="2019005">
                      <a:extLst>
                        <a:ext uri="{9D8B030D-6E8A-4147-A177-3AD203B41FA5}">
                          <a16:colId xmlns:a16="http://schemas.microsoft.com/office/drawing/2014/main" val="1959321194"/>
                        </a:ext>
                      </a:extLst>
                    </a:gridCol>
                    <a:gridCol w="2050838">
                      <a:extLst>
                        <a:ext uri="{9D8B030D-6E8A-4147-A177-3AD203B41FA5}">
                          <a16:colId xmlns:a16="http://schemas.microsoft.com/office/drawing/2014/main" val="3317225774"/>
                        </a:ext>
                      </a:extLst>
                    </a:gridCol>
                    <a:gridCol w="2050838">
                      <a:extLst>
                        <a:ext uri="{9D8B030D-6E8A-4147-A177-3AD203B41FA5}">
                          <a16:colId xmlns:a16="http://schemas.microsoft.com/office/drawing/2014/main" val="3155612307"/>
                        </a:ext>
                      </a:extLst>
                    </a:gridCol>
                  </a:tblGrid>
                  <a:tr h="1174851">
                    <a:tc rowSpan="2">
                      <a:txBody>
                        <a:bodyPr/>
                        <a:lstStyle/>
                        <a:p>
                          <a:pPr>
                            <a:spcAft>
                              <a:spcPts val="0"/>
                            </a:spcAft>
                          </a:pPr>
                          <a:r>
                            <a:rPr lang="en-US" sz="2400" kern="100" dirty="0">
                              <a:effectLst/>
                            </a:rPr>
                            <a:t>           ASML</a:t>
                          </a:r>
                          <a:endParaRPr lang="zh-TW" sz="2400" kern="100" dirty="0">
                            <a:effectLst/>
                          </a:endParaRPr>
                        </a:p>
                        <a:p>
                          <a:pPr>
                            <a:spcAft>
                              <a:spcPts val="0"/>
                            </a:spcAft>
                          </a:pPr>
                          <a:endParaRPr lang="en-US" altLang="zh-TW" sz="2400" kern="100" dirty="0" smtClean="0">
                            <a:effectLst/>
                          </a:endParaRPr>
                        </a:p>
                        <a:p>
                          <a:pPr>
                            <a:spcAft>
                              <a:spcPts val="0"/>
                            </a:spcAft>
                          </a:pPr>
                          <a:r>
                            <a:rPr lang="zh-TW" sz="2400" kern="100" dirty="0" smtClean="0">
                              <a:effectLst/>
                            </a:rPr>
                            <a:t>台積電</a:t>
                          </a:r>
                          <a:endParaRPr lang="zh-TW" sz="2400" kern="100" dirty="0">
                            <a:effectLst/>
                          </a:endParaRPr>
                        </a:p>
                        <a:p>
                          <a:pPr>
                            <a:lnSpc>
                              <a:spcPct val="150000"/>
                            </a:lnSpc>
                            <a:spcAft>
                              <a:spcPts val="0"/>
                            </a:spcAft>
                          </a:pPr>
                          <a:endParaRPr lang="en-US" altLang="zh-TW" sz="2400" kern="100" dirty="0" smtClean="0">
                            <a:effectLst/>
                          </a:endParaRPr>
                        </a:p>
                        <a:p>
                          <a:pPr>
                            <a:lnSpc>
                              <a:spcPct val="150000"/>
                            </a:lnSpc>
                            <a:spcAft>
                              <a:spcPts val="0"/>
                            </a:spcAft>
                          </a:pPr>
                          <a:r>
                            <a:rPr lang="zh-TW" sz="2400" kern="100" dirty="0" smtClean="0">
                              <a:effectLst/>
                            </a:rPr>
                            <a:t>盡力</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400" kern="100" dirty="0">
                              <a:effectLst/>
                            </a:rPr>
                            <a:t>盡力</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lnSpc>
                              <a:spcPct val="150000"/>
                            </a:lnSpc>
                            <a:spcAft>
                              <a:spcPts val="0"/>
                            </a:spcAft>
                          </a:pPr>
                          <a:r>
                            <a:rPr lang="zh-TW" sz="2400" kern="100" dirty="0">
                              <a:effectLst/>
                            </a:rPr>
                            <a:t>留一手</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2214426080"/>
                      </a:ext>
                    </a:extLst>
                  </a:tr>
                  <a:tr h="961353">
                    <a:tc vMerge="1">
                      <a:txBody>
                        <a:bodyPr/>
                        <a:lstStyle/>
                        <a:p>
                          <a:endParaRPr lang="zh-TW" altLang="en-US"/>
                        </a:p>
                      </a:txBody>
                      <a:tcPr/>
                    </a:tc>
                    <a:tc>
                      <a:txBody>
                        <a:bodyPr/>
                        <a:lstStyle/>
                        <a:p>
                          <a:endParaRPr lang="zh-TW"/>
                        </a:p>
                      </a:txBody>
                      <a:tcPr marL="68580" marR="68580" marT="0" marB="0">
                        <a:blipFill>
                          <a:blip r:embed="rId2"/>
                          <a:stretch>
                            <a:fillRect l="-99405" t="-131646" r="-101488" b="-144937"/>
                          </a:stretch>
                        </a:blipFill>
                      </a:tcPr>
                    </a:tc>
                    <a:tc>
                      <a:txBody>
                        <a:bodyPr/>
                        <a:lstStyle/>
                        <a:p>
                          <a:endParaRPr lang="zh-TW"/>
                        </a:p>
                      </a:txBody>
                      <a:tcPr marL="68580" marR="68580" marT="0" marB="0">
                        <a:blipFill>
                          <a:blip r:embed="rId2"/>
                          <a:stretch>
                            <a:fillRect l="-198813" t="-131646" r="-1187" b="-144937"/>
                          </a:stretch>
                        </a:blipFill>
                      </a:tcPr>
                    </a:tc>
                    <a:extLst>
                      <a:ext uri="{0D108BD9-81ED-4DB2-BD59-A6C34878D82A}">
                        <a16:rowId xmlns:a16="http://schemas.microsoft.com/office/drawing/2014/main" val="1337809691"/>
                      </a:ext>
                    </a:extLst>
                  </a:tr>
                  <a:tr h="1377997">
                    <a:tc>
                      <a:txBody>
                        <a:bodyPr/>
                        <a:lstStyle/>
                        <a:p>
                          <a:pPr>
                            <a:lnSpc>
                              <a:spcPct val="150000"/>
                            </a:lnSpc>
                            <a:spcAft>
                              <a:spcPts val="0"/>
                            </a:spcAft>
                          </a:pPr>
                          <a:r>
                            <a:rPr lang="zh-TW" sz="2400" kern="100" dirty="0">
                              <a:effectLst/>
                            </a:rPr>
                            <a:t>留一手</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endParaRPr lang="zh-TW"/>
                        </a:p>
                      </a:txBody>
                      <a:tcPr marL="68580" marR="68580" marT="0" marB="0">
                        <a:blipFill>
                          <a:blip r:embed="rId2"/>
                          <a:stretch>
                            <a:fillRect l="-99405" t="-161233" r="-101488" b="-881"/>
                          </a:stretch>
                        </a:blipFill>
                      </a:tcPr>
                    </a:tc>
                    <a:tc>
                      <a:txBody>
                        <a:bodyPr/>
                        <a:lstStyle/>
                        <a:p>
                          <a:endParaRPr lang="zh-TW"/>
                        </a:p>
                      </a:txBody>
                      <a:tcPr marL="68580" marR="68580" marT="0" marB="0">
                        <a:blipFill>
                          <a:blip r:embed="rId2"/>
                          <a:stretch>
                            <a:fillRect l="-198813" t="-161233" r="-1187" b="-881"/>
                          </a:stretch>
                        </a:blipFill>
                      </a:tcPr>
                    </a:tc>
                    <a:extLst>
                      <a:ext uri="{0D108BD9-81ED-4DB2-BD59-A6C34878D82A}">
                        <a16:rowId xmlns:a16="http://schemas.microsoft.com/office/drawing/2014/main" val="3117935173"/>
                      </a:ext>
                    </a:extLst>
                  </a:tr>
                </a:tbl>
              </a:graphicData>
            </a:graphic>
          </p:graphicFrame>
        </mc:Fallback>
      </mc:AlternateContent>
      <p:cxnSp>
        <p:nvCxnSpPr>
          <p:cNvPr id="8" name="AutoShape 1004"/>
          <p:cNvCxnSpPr>
            <a:cxnSpLocks noChangeShapeType="1"/>
          </p:cNvCxnSpPr>
          <p:nvPr/>
        </p:nvCxnSpPr>
        <p:spPr bwMode="auto">
          <a:xfrm>
            <a:off x="2267744" y="1124162"/>
            <a:ext cx="2045049" cy="1129289"/>
          </a:xfrm>
          <a:prstGeom prst="straightConnector1">
            <a:avLst/>
          </a:prstGeom>
          <a:noFill/>
          <a:ln w="9525">
            <a:solidFill>
              <a:srgbClr val="000000"/>
            </a:solidFill>
            <a:round/>
            <a:headEnd type="none" w="med" len="med"/>
            <a:tailEnd type="none" w="med" len="med"/>
          </a:ln>
          <a:extLst>
            <a:ext uri="{909E8E84-426E-40DD-AFC4-6F175D3DCCD1}">
              <a14:hiddenFill xmlns:a14="http://schemas.microsoft.com/office/drawing/2010/main">
                <a:noFill/>
              </a14:hiddenFill>
            </a:ext>
          </a:extLst>
        </p:spPr>
      </p:cxnSp>
      <p:cxnSp>
        <p:nvCxnSpPr>
          <p:cNvPr id="9" name="AutoShape 1005"/>
          <p:cNvCxnSpPr>
            <a:cxnSpLocks noChangeShapeType="1"/>
          </p:cNvCxnSpPr>
          <p:nvPr/>
        </p:nvCxnSpPr>
        <p:spPr bwMode="auto">
          <a:xfrm flipV="1">
            <a:off x="2267744" y="2253451"/>
            <a:ext cx="2045049" cy="25889"/>
          </a:xfrm>
          <a:prstGeom prst="straightConnector1">
            <a:avLst/>
          </a:prstGeom>
          <a:noFill/>
          <a:ln w="9525">
            <a:solidFill>
              <a:srgbClr val="000000"/>
            </a:solidFill>
            <a:round/>
            <a:headEnd type="none" w="med" len="med"/>
            <a:tailEnd type="none" w="med" len="med"/>
          </a:ln>
          <a:extLst>
            <a:ext uri="{909E8E84-426E-40DD-AFC4-6F175D3DCCD1}">
              <a14:hiddenFill xmlns:a14="http://schemas.microsoft.com/office/drawing/2010/main">
                <a:noFill/>
              </a14:hiddenFill>
            </a:ext>
          </a:extLst>
        </p:spPr>
      </p:cxnSp>
      <p:sp>
        <p:nvSpPr>
          <p:cNvPr id="10" name="Rectangle 7"/>
          <p:cNvSpPr>
            <a:spLocks noChangeArrowheads="1"/>
          </p:cNvSpPr>
          <p:nvPr/>
        </p:nvSpPr>
        <p:spPr bwMode="auto">
          <a:xfrm>
            <a:off x="1536466" y="1787525"/>
            <a:ext cx="13890904" cy="1699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TW" altLang="en-US"/>
          </a:p>
        </p:txBody>
      </p:sp>
      <p:sp>
        <p:nvSpPr>
          <p:cNvPr id="16" name="矩形 15"/>
          <p:cNvSpPr/>
          <p:nvPr/>
        </p:nvSpPr>
        <p:spPr>
          <a:xfrm>
            <a:off x="4112013" y="476672"/>
            <a:ext cx="1423788" cy="523220"/>
          </a:xfrm>
          <a:prstGeom prst="rect">
            <a:avLst/>
          </a:prstGeom>
        </p:spPr>
        <p:txBody>
          <a:bodyPr wrap="none">
            <a:spAutoFit/>
          </a:bodyPr>
          <a:lstStyle/>
          <a:p>
            <a:r>
              <a:rPr lang="zh-TW" altLang="zh-TW" sz="2800" dirty="0">
                <a:cs typeface="Arial Unicode MS"/>
              </a:rPr>
              <a:t>若</a:t>
            </a:r>
            <a:r>
              <a:rPr lang="en-US" altLang="zh-TW" sz="2800" dirty="0">
                <a:cs typeface="Arial Unicode MS"/>
              </a:rPr>
              <a:t>p=0.9</a:t>
            </a:r>
            <a:endParaRPr lang="zh-TW" altLang="en-US" sz="2800" dirty="0"/>
          </a:p>
        </p:txBody>
      </p:sp>
      <p:sp>
        <p:nvSpPr>
          <p:cNvPr id="17" name="矩形 16"/>
          <p:cNvSpPr/>
          <p:nvPr/>
        </p:nvSpPr>
        <p:spPr>
          <a:xfrm>
            <a:off x="680963" y="5082148"/>
            <a:ext cx="8532439" cy="1141403"/>
          </a:xfrm>
          <a:prstGeom prst="rect">
            <a:avLst/>
          </a:prstGeom>
        </p:spPr>
        <p:txBody>
          <a:bodyPr wrap="square">
            <a:spAutoFit/>
          </a:bodyPr>
          <a:lstStyle/>
          <a:p>
            <a:pPr marL="228600">
              <a:lnSpc>
                <a:spcPct val="150000"/>
              </a:lnSpc>
              <a:spcAft>
                <a:spcPts val="0"/>
              </a:spcAft>
            </a:pPr>
            <a:r>
              <a:rPr lang="en-US" altLang="zh-TW" sz="2400" kern="100" dirty="0">
                <a:latin typeface="標楷體" panose="03000509000000000000" pitchFamily="65" charset="-120"/>
                <a:ea typeface="新細明體" panose="02020500000000000000" pitchFamily="18" charset="-120"/>
                <a:cs typeface="Arial Unicode MS"/>
              </a:rPr>
              <a:t>Nash </a:t>
            </a:r>
            <a:r>
              <a:rPr lang="zh-TW" altLang="zh-TW" sz="2400" kern="100" dirty="0">
                <a:latin typeface="Calibri" panose="020F0502020204030204" pitchFamily="34" charset="0"/>
                <a:cs typeface="Arial Unicode MS"/>
              </a:rPr>
              <a:t>均衡可能為</a:t>
            </a:r>
            <a:r>
              <a:rPr lang="en-US" altLang="zh-TW" sz="2400" kern="100" dirty="0">
                <a:latin typeface="Calibri" panose="020F0502020204030204" pitchFamily="34" charset="0"/>
                <a:cs typeface="Arial Unicode MS"/>
              </a:rPr>
              <a:t>(</a:t>
            </a:r>
            <a:r>
              <a:rPr lang="zh-TW" altLang="zh-TW" sz="2400" kern="100" dirty="0">
                <a:latin typeface="Calibri" panose="020F0502020204030204" pitchFamily="34" charset="0"/>
                <a:cs typeface="Arial Unicode MS"/>
              </a:rPr>
              <a:t>台積電盡力與不盡力各有</a:t>
            </a:r>
            <a:r>
              <a:rPr lang="en-US" altLang="zh-TW" sz="2400" kern="100" dirty="0">
                <a:latin typeface="Calibri" panose="020F0502020204030204" pitchFamily="34" charset="0"/>
                <a:cs typeface="Arial Unicode MS"/>
              </a:rPr>
              <a:t>1/2</a:t>
            </a:r>
            <a:r>
              <a:rPr lang="zh-TW" altLang="zh-TW" sz="2400" kern="100" dirty="0">
                <a:latin typeface="Calibri" panose="020F0502020204030204" pitchFamily="34" charset="0"/>
                <a:cs typeface="Arial Unicode MS"/>
              </a:rPr>
              <a:t>的機率</a:t>
            </a:r>
            <a:r>
              <a:rPr lang="en-US" altLang="zh-TW" sz="2400" kern="100" dirty="0">
                <a:latin typeface="Calibri" panose="020F0502020204030204" pitchFamily="34" charset="0"/>
                <a:cs typeface="Arial Unicode MS"/>
              </a:rPr>
              <a:t>; </a:t>
            </a:r>
          </a:p>
          <a:p>
            <a:pPr marL="228600">
              <a:lnSpc>
                <a:spcPct val="150000"/>
              </a:lnSpc>
              <a:spcAft>
                <a:spcPts val="0"/>
              </a:spcAft>
            </a:pPr>
            <a:r>
              <a:rPr lang="en-US" altLang="zh-TW" sz="2400" kern="100" dirty="0">
                <a:latin typeface="Calibri" panose="020F0502020204030204" pitchFamily="34" charset="0"/>
                <a:cs typeface="Arial Unicode MS"/>
              </a:rPr>
              <a:t>                                  ASML</a:t>
            </a:r>
            <a:r>
              <a:rPr lang="zh-TW" altLang="zh-TW" sz="2400" kern="100" dirty="0">
                <a:latin typeface="Calibri" panose="020F0502020204030204" pitchFamily="34" charset="0"/>
                <a:cs typeface="Arial Unicode MS"/>
              </a:rPr>
              <a:t>選盡力</a:t>
            </a:r>
            <a:r>
              <a:rPr lang="en-US" altLang="zh-TW" sz="2400" kern="100" dirty="0">
                <a:latin typeface="Calibri" panose="020F0502020204030204" pitchFamily="34" charset="0"/>
                <a:cs typeface="Arial Unicode MS"/>
              </a:rPr>
              <a:t>)</a:t>
            </a:r>
            <a:endParaRPr lang="zh-TW" altLang="zh-TW" sz="2400" kern="100" dirty="0">
              <a:latin typeface="Calibri" panose="020F050202020403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061672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23928" y="404664"/>
            <a:ext cx="1441420" cy="523220"/>
          </a:xfrm>
          <a:prstGeom prst="rect">
            <a:avLst/>
          </a:prstGeom>
        </p:spPr>
        <p:txBody>
          <a:bodyPr wrap="none">
            <a:spAutoFit/>
          </a:bodyPr>
          <a:lstStyle/>
          <a:p>
            <a:r>
              <a:rPr lang="zh-TW" altLang="zh-TW" sz="2800" dirty="0">
                <a:latin typeface="+mn-ea"/>
                <a:cs typeface="Arial Unicode MS"/>
              </a:rPr>
              <a:t>若</a:t>
            </a:r>
            <a:r>
              <a:rPr lang="en-US" altLang="zh-TW" sz="2800" dirty="0">
                <a:latin typeface="+mn-ea"/>
                <a:cs typeface="Arial Unicode MS"/>
              </a:rPr>
              <a:t>p=0.5</a:t>
            </a:r>
            <a:endParaRPr lang="zh-TW" altLang="en-US" sz="2800" dirty="0">
              <a:latin typeface="+mn-ea"/>
            </a:endParaRPr>
          </a:p>
        </p:txBody>
      </p:sp>
      <p:pic>
        <p:nvPicPr>
          <p:cNvPr id="3" name="圖片 2"/>
          <p:cNvPicPr>
            <a:picLocks noChangeAspect="1"/>
          </p:cNvPicPr>
          <p:nvPr/>
        </p:nvPicPr>
        <p:blipFill>
          <a:blip r:embed="rId2"/>
          <a:stretch>
            <a:fillRect/>
          </a:stretch>
        </p:blipFill>
        <p:spPr>
          <a:xfrm>
            <a:off x="539552" y="1124744"/>
            <a:ext cx="8352928" cy="5400600"/>
          </a:xfrm>
          <a:prstGeom prst="rect">
            <a:avLst/>
          </a:prstGeom>
        </p:spPr>
      </p:pic>
    </p:spTree>
    <p:extLst>
      <p:ext uri="{BB962C8B-B14F-4D97-AF65-F5344CB8AC3E}">
        <p14:creationId xmlns:p14="http://schemas.microsoft.com/office/powerpoint/2010/main" val="3685495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323529" y="1340768"/>
            <a:ext cx="8424936" cy="5040560"/>
          </a:xfrm>
          <a:prstGeom prst="rect">
            <a:avLst/>
          </a:prstGeom>
        </p:spPr>
      </p:pic>
      <p:sp>
        <p:nvSpPr>
          <p:cNvPr id="3" name="矩形 2"/>
          <p:cNvSpPr/>
          <p:nvPr/>
        </p:nvSpPr>
        <p:spPr>
          <a:xfrm>
            <a:off x="3635896" y="476672"/>
            <a:ext cx="1441420" cy="523220"/>
          </a:xfrm>
          <a:prstGeom prst="rect">
            <a:avLst/>
          </a:prstGeom>
        </p:spPr>
        <p:txBody>
          <a:bodyPr wrap="none">
            <a:spAutoFit/>
          </a:bodyPr>
          <a:lstStyle/>
          <a:p>
            <a:r>
              <a:rPr lang="zh-TW" altLang="zh-TW" sz="2800" dirty="0">
                <a:latin typeface="+mn-ea"/>
                <a:cs typeface="Arial Unicode MS"/>
              </a:rPr>
              <a:t>若</a:t>
            </a:r>
            <a:r>
              <a:rPr lang="en-US" altLang="zh-TW" sz="2800" dirty="0">
                <a:latin typeface="+mn-ea"/>
                <a:cs typeface="Arial Unicode MS"/>
              </a:rPr>
              <a:t>p=0.1</a:t>
            </a:r>
            <a:endParaRPr lang="zh-TW" altLang="en-US" sz="2800" dirty="0">
              <a:latin typeface="+mn-ea"/>
            </a:endParaRPr>
          </a:p>
        </p:txBody>
      </p:sp>
    </p:spTree>
    <p:extLst>
      <p:ext uri="{BB962C8B-B14F-4D97-AF65-F5344CB8AC3E}">
        <p14:creationId xmlns:p14="http://schemas.microsoft.com/office/powerpoint/2010/main" val="3417225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836712"/>
            <a:ext cx="8892480" cy="2831544"/>
          </a:xfrm>
          <a:prstGeom prst="rect">
            <a:avLst/>
          </a:prstGeom>
        </p:spPr>
        <p:txBody>
          <a:bodyPr wrap="square">
            <a:spAutoFit/>
          </a:bodyPr>
          <a:lstStyle/>
          <a:p>
            <a:pPr marL="342900" lvl="0" indent="-342900">
              <a:lnSpc>
                <a:spcPct val="150000"/>
              </a:lnSpc>
              <a:spcAft>
                <a:spcPts val="0"/>
              </a:spcAft>
              <a:buFont typeface="+mj-lt"/>
              <a:buAutoNum type="alphaUcPeriod"/>
            </a:pPr>
            <a:r>
              <a:rPr lang="zh-TW" altLang="zh-TW" sz="3200" kern="100" dirty="0">
                <a:latin typeface="Calibri" panose="020F0502020204030204" pitchFamily="34" charset="0"/>
                <a:cs typeface="Times New Roman" panose="02020603050405020304" pitchFamily="18" charset="0"/>
              </a:rPr>
              <a:t>假設台積電和</a:t>
            </a:r>
            <a:r>
              <a:rPr lang="en-US" altLang="zh-TW" sz="3200" kern="100" dirty="0">
                <a:latin typeface="Calibri" panose="020F0502020204030204" pitchFamily="34" charset="0"/>
                <a:cs typeface="Times New Roman" panose="02020603050405020304" pitchFamily="18" charset="0"/>
              </a:rPr>
              <a:t>ASML </a:t>
            </a:r>
            <a:r>
              <a:rPr lang="zh-TW" altLang="zh-TW" sz="3200" kern="100" dirty="0">
                <a:latin typeface="Calibri" panose="020F0502020204030204" pitchFamily="34" charset="0"/>
                <a:cs typeface="Times New Roman" panose="02020603050405020304" pitchFamily="18" charset="0"/>
              </a:rPr>
              <a:t>對同研發成功的主觀機率預測是</a:t>
            </a:r>
            <a:r>
              <a:rPr lang="en-US" altLang="zh-TW" sz="3200" kern="100" dirty="0">
                <a:latin typeface="Calibri" panose="020F0502020204030204" pitchFamily="34" charset="0"/>
                <a:cs typeface="Times New Roman" panose="02020603050405020304" pitchFamily="18" charset="0"/>
              </a:rPr>
              <a:t>p</a:t>
            </a:r>
            <a:r>
              <a:rPr lang="zh-TW" altLang="zh-TW" sz="3200" kern="100" dirty="0">
                <a:latin typeface="Calibri" panose="020F0502020204030204" pitchFamily="34" charset="0"/>
                <a:cs typeface="Times New Roman" panose="02020603050405020304" pitchFamily="18" charset="0"/>
              </a:rPr>
              <a:t>與</a:t>
            </a:r>
            <a:r>
              <a:rPr lang="en-US" altLang="zh-TW" sz="3200" kern="100" dirty="0">
                <a:latin typeface="Calibri" panose="020F0502020204030204" pitchFamily="34" charset="0"/>
                <a:cs typeface="Times New Roman" panose="02020603050405020304" pitchFamily="18" charset="0"/>
              </a:rPr>
              <a:t>q; </a:t>
            </a:r>
            <a:r>
              <a:rPr lang="zh-TW" altLang="zh-TW" sz="3200" kern="100" dirty="0">
                <a:latin typeface="Calibri" panose="020F0502020204030204" pitchFamily="34" charset="0"/>
                <a:cs typeface="Times New Roman" panose="02020603050405020304" pitchFamily="18" charset="0"/>
              </a:rPr>
              <a:t>失敗是</a:t>
            </a:r>
            <a:r>
              <a:rPr lang="en-US" altLang="zh-TW" sz="3200" kern="100" dirty="0">
                <a:latin typeface="Calibri" panose="020F0502020204030204" pitchFamily="34" charset="0"/>
                <a:cs typeface="Times New Roman" panose="02020603050405020304" pitchFamily="18" charset="0"/>
              </a:rPr>
              <a:t>1-p</a:t>
            </a:r>
            <a:r>
              <a:rPr lang="zh-TW" altLang="zh-TW" sz="3200" kern="100" dirty="0">
                <a:latin typeface="Calibri" panose="020F0502020204030204" pitchFamily="34" charset="0"/>
                <a:cs typeface="Times New Roman" panose="02020603050405020304" pitchFamily="18" charset="0"/>
              </a:rPr>
              <a:t>與</a:t>
            </a:r>
            <a:r>
              <a:rPr lang="en-US" altLang="zh-TW" sz="3200" kern="100" dirty="0">
                <a:latin typeface="Calibri" panose="020F0502020204030204" pitchFamily="34" charset="0"/>
                <a:cs typeface="Times New Roman" panose="02020603050405020304" pitchFamily="18" charset="0"/>
              </a:rPr>
              <a:t>1-q</a:t>
            </a:r>
            <a:endParaRPr lang="zh-TW" altLang="zh-TW" sz="3200" kern="100" dirty="0">
              <a:latin typeface="Calibri" panose="020F0502020204030204" pitchFamily="34" charset="0"/>
              <a:ea typeface="新細明體" panose="02020500000000000000" pitchFamily="18" charset="-120"/>
              <a:cs typeface="Times New Roman" panose="02020603050405020304" pitchFamily="18" charset="0"/>
            </a:endParaRPr>
          </a:p>
          <a:p>
            <a:pPr>
              <a:spcAft>
                <a:spcPts val="0"/>
              </a:spcAft>
            </a:pPr>
            <a:r>
              <a:rPr lang="en-US" altLang="zh-TW" b="1" kern="100" dirty="0">
                <a:latin typeface="標楷體" panose="03000509000000000000" pitchFamily="65" charset="-120"/>
                <a:cs typeface="Times New Roman" panose="02020603050405020304" pitchFamily="18" charset="0"/>
              </a:rPr>
              <a:t>  </a:t>
            </a:r>
          </a:p>
          <a:p>
            <a:pPr>
              <a:spcAft>
                <a:spcPts val="0"/>
              </a:spcAft>
            </a:pPr>
            <a:r>
              <a:rPr lang="zh-TW" altLang="zh-TW" sz="3200" b="1" kern="100" dirty="0">
                <a:latin typeface="標楷體" panose="03000509000000000000" pitchFamily="65" charset="-120"/>
                <a:cs typeface="Times New Roman" panose="02020603050405020304" pitchFamily="18" charset="0"/>
              </a:rPr>
              <a:t>從</a:t>
            </a:r>
            <a:r>
              <a:rPr lang="en-US" altLang="zh-TW" sz="3200" b="1" kern="100" dirty="0">
                <a:latin typeface="標楷體" panose="03000509000000000000" pitchFamily="65" charset="-120"/>
                <a:cs typeface="Times New Roman" panose="02020603050405020304" pitchFamily="18" charset="0"/>
              </a:rPr>
              <a:t>A</a:t>
            </a:r>
            <a:r>
              <a:rPr lang="zh-TW" altLang="zh-TW" sz="3200" b="1" kern="100" dirty="0">
                <a:latin typeface="標楷體" panose="03000509000000000000" pitchFamily="65" charset="-120"/>
                <a:cs typeface="Times New Roman" panose="02020603050405020304" pitchFamily="18" charset="0"/>
              </a:rPr>
              <a:t>的結果我們可以知悉</a:t>
            </a:r>
            <a:r>
              <a:rPr lang="en-US" altLang="zh-TW" sz="3200" b="1" kern="100" dirty="0">
                <a:latin typeface="標楷體" panose="03000509000000000000" pitchFamily="65" charset="-120"/>
                <a:cs typeface="Times New Roman" panose="02020603050405020304" pitchFamily="18" charset="0"/>
              </a:rPr>
              <a:t>, </a:t>
            </a:r>
            <a:r>
              <a:rPr lang="zh-TW" altLang="zh-TW" sz="3200" b="1" kern="100" dirty="0">
                <a:latin typeface="標楷體" panose="03000509000000000000" pitchFamily="65" charset="-120"/>
                <a:cs typeface="Times New Roman" panose="02020603050405020304" pitchFamily="18" charset="0"/>
              </a:rPr>
              <a:t>雙方的最佳策略選擇會出現不一致</a:t>
            </a:r>
            <a:r>
              <a:rPr lang="en-US" altLang="zh-TW" sz="3200" b="1" kern="100" dirty="0">
                <a:latin typeface="標楷體" panose="03000509000000000000" pitchFamily="65" charset="-120"/>
                <a:cs typeface="Times New Roman" panose="02020603050405020304" pitchFamily="18" charset="0"/>
              </a:rPr>
              <a:t>, </a:t>
            </a:r>
            <a:r>
              <a:rPr lang="zh-TW" altLang="zh-TW" sz="3200" b="1" kern="100" dirty="0">
                <a:latin typeface="標楷體" panose="03000509000000000000" pitchFamily="65" charset="-120"/>
                <a:cs typeface="Times New Roman" panose="02020603050405020304" pitchFamily="18" charset="0"/>
              </a:rPr>
              <a:t>可能無法成功的合作一起研發</a:t>
            </a:r>
            <a:r>
              <a:rPr lang="en-US" altLang="zh-TW" sz="3200" b="1" kern="100" dirty="0">
                <a:latin typeface="標楷體" panose="03000509000000000000" pitchFamily="65" charset="-120"/>
                <a:cs typeface="Times New Roman" panose="02020603050405020304" pitchFamily="18" charset="0"/>
              </a:rPr>
              <a:t>.</a:t>
            </a:r>
            <a:endParaRPr lang="zh-TW" altLang="zh-TW" sz="3200" b="1" kern="100" dirty="0">
              <a:latin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3659700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259632" y="404664"/>
            <a:ext cx="7488832" cy="5922992"/>
          </a:xfrm>
        </p:spPr>
        <p:txBody>
          <a:bodyPr>
            <a:normAutofit lnSpcReduction="10000"/>
          </a:bodyPr>
          <a:lstStyle/>
          <a:p>
            <a:pPr algn="ctr">
              <a:buNone/>
            </a:pPr>
            <a:r>
              <a:rPr lang="zh-TW" altLang="en-US" sz="3200" dirty="0"/>
              <a:t>第二節</a:t>
            </a:r>
            <a:r>
              <a:rPr lang="zh-TW" altLang="zh-TW" sz="3200" dirty="0"/>
              <a:t> </a:t>
            </a:r>
            <a:r>
              <a:rPr lang="zh-TW" altLang="en-US" sz="3200" dirty="0"/>
              <a:t>不完全訊息靜態賽局實例分析</a:t>
            </a:r>
            <a:endParaRPr lang="en-US" altLang="zh-TW" sz="3200" dirty="0"/>
          </a:p>
          <a:p>
            <a:pPr lvl="0">
              <a:buNone/>
            </a:pPr>
            <a:endParaRPr lang="en-US" altLang="zh-TW" sz="3200" b="1" dirty="0"/>
          </a:p>
          <a:p>
            <a:pPr lvl="0" algn="ctr">
              <a:buNone/>
            </a:pPr>
            <a:r>
              <a:rPr lang="zh-TW" altLang="en-US" sz="2800" b="1" dirty="0">
                <a:latin typeface="+mj-ea"/>
                <a:ea typeface="+mj-ea"/>
              </a:rPr>
              <a:t>例</a:t>
            </a:r>
            <a:r>
              <a:rPr lang="en-US" altLang="zh-TW" sz="2800" b="1" dirty="0">
                <a:latin typeface="+mj-ea"/>
                <a:ea typeface="+mj-ea"/>
              </a:rPr>
              <a:t>1 </a:t>
            </a:r>
            <a:r>
              <a:rPr lang="zh-TW" altLang="en-US" sz="2800" b="1" dirty="0"/>
              <a:t> </a:t>
            </a:r>
            <a:r>
              <a:rPr lang="zh-TW" altLang="zh-TW" sz="2800" b="1" dirty="0"/>
              <a:t>生產手機廠商競爭</a:t>
            </a:r>
            <a:endParaRPr lang="zh-TW" altLang="zh-TW" sz="2800" dirty="0"/>
          </a:p>
          <a:p>
            <a:pPr lvl="0">
              <a:buNone/>
            </a:pPr>
            <a:endParaRPr lang="en-US" altLang="zh-TW" sz="2800" dirty="0"/>
          </a:p>
          <a:p>
            <a:pPr lvl="0">
              <a:buNone/>
            </a:pPr>
            <a:r>
              <a:rPr lang="en-US" altLang="zh-TW" sz="2800" dirty="0">
                <a:latin typeface="+mj-ea"/>
                <a:ea typeface="+mj-ea"/>
              </a:rPr>
              <a:t>1.</a:t>
            </a:r>
            <a:r>
              <a:rPr lang="zh-TW" altLang="zh-TW" sz="2800" dirty="0">
                <a:latin typeface="+mj-ea"/>
                <a:ea typeface="+mj-ea"/>
              </a:rPr>
              <a:t>甲知道景氣好或不好，他可選擇擴廠或不擴</a:t>
            </a:r>
            <a:endParaRPr lang="en-US" altLang="zh-TW" sz="2800" dirty="0">
              <a:latin typeface="+mj-ea"/>
              <a:ea typeface="+mj-ea"/>
            </a:endParaRPr>
          </a:p>
          <a:p>
            <a:pPr lvl="0">
              <a:buNone/>
            </a:pPr>
            <a:r>
              <a:rPr lang="en-US" altLang="zh-TW" sz="2800" dirty="0">
                <a:latin typeface="+mj-ea"/>
                <a:ea typeface="+mj-ea"/>
              </a:rPr>
              <a:t>  </a:t>
            </a:r>
            <a:r>
              <a:rPr lang="zh-TW" altLang="zh-TW" sz="2800" dirty="0">
                <a:latin typeface="+mj-ea"/>
                <a:ea typeface="+mj-ea"/>
              </a:rPr>
              <a:t>廠；</a:t>
            </a:r>
          </a:p>
          <a:p>
            <a:pPr lvl="0">
              <a:buNone/>
            </a:pPr>
            <a:r>
              <a:rPr lang="en-US" altLang="zh-TW" sz="2800" dirty="0">
                <a:latin typeface="+mj-ea"/>
                <a:ea typeface="+mj-ea"/>
              </a:rPr>
              <a:t>2.</a:t>
            </a:r>
            <a:r>
              <a:rPr lang="zh-TW" altLang="zh-TW" sz="2800" dirty="0">
                <a:latin typeface="+mj-ea"/>
                <a:ea typeface="+mj-ea"/>
              </a:rPr>
              <a:t>乙不確定知道景氣好或不好，但</a:t>
            </a:r>
            <a:r>
              <a:rPr lang="zh-TW" altLang="en-US" sz="2800" dirty="0">
                <a:latin typeface="+mj-ea"/>
                <a:ea typeface="+mj-ea"/>
              </a:rPr>
              <a:t>乙</a:t>
            </a:r>
            <a:r>
              <a:rPr lang="zh-TW" altLang="zh-TW" sz="2800" dirty="0">
                <a:latin typeface="+mj-ea"/>
                <a:ea typeface="+mj-ea"/>
              </a:rPr>
              <a:t>必須與</a:t>
            </a:r>
            <a:endParaRPr lang="en-US" altLang="zh-TW" sz="2800" dirty="0">
              <a:latin typeface="+mj-ea"/>
              <a:ea typeface="+mj-ea"/>
            </a:endParaRPr>
          </a:p>
          <a:p>
            <a:pPr lvl="0">
              <a:buNone/>
            </a:pPr>
            <a:r>
              <a:rPr lang="en-US" altLang="zh-TW" sz="2800" dirty="0">
                <a:latin typeface="+mj-ea"/>
                <a:ea typeface="+mj-ea"/>
              </a:rPr>
              <a:t>  </a:t>
            </a:r>
            <a:r>
              <a:rPr lang="zh-TW" altLang="zh-TW" sz="2800" dirty="0">
                <a:latin typeface="+mj-ea"/>
                <a:ea typeface="+mj-ea"/>
              </a:rPr>
              <a:t>甲同步進行策略</a:t>
            </a:r>
            <a:r>
              <a:rPr lang="zh-TW" altLang="en-US" sz="2800" dirty="0">
                <a:latin typeface="+mj-ea"/>
                <a:ea typeface="+mj-ea"/>
              </a:rPr>
              <a:t>選擇</a:t>
            </a:r>
            <a:r>
              <a:rPr lang="zh-TW" altLang="zh-TW" sz="2800" dirty="0">
                <a:latin typeface="+mj-ea"/>
                <a:ea typeface="+mj-ea"/>
              </a:rPr>
              <a:t>，選擇進入或不進入</a:t>
            </a:r>
            <a:r>
              <a:rPr lang="en-US" altLang="zh-TW" sz="2800" dirty="0">
                <a:latin typeface="+mj-ea"/>
                <a:ea typeface="+mj-ea"/>
              </a:rPr>
              <a:t>; </a:t>
            </a:r>
            <a:endParaRPr lang="zh-TW" altLang="zh-TW" sz="2800" dirty="0">
              <a:latin typeface="+mj-ea"/>
              <a:ea typeface="+mj-ea"/>
            </a:endParaRPr>
          </a:p>
          <a:p>
            <a:pPr lvl="0">
              <a:buNone/>
            </a:pPr>
            <a:r>
              <a:rPr lang="en-US" altLang="zh-TW" sz="2800" dirty="0">
                <a:latin typeface="+mj-ea"/>
                <a:ea typeface="+mj-ea"/>
              </a:rPr>
              <a:t>3.</a:t>
            </a:r>
            <a:r>
              <a:rPr lang="zh-TW" altLang="en-US" sz="2800" dirty="0">
                <a:latin typeface="+mj-ea"/>
                <a:ea typeface="+mj-ea"/>
              </a:rPr>
              <a:t>假設</a:t>
            </a:r>
            <a:r>
              <a:rPr lang="zh-TW" altLang="zh-TW" sz="2800" dirty="0">
                <a:latin typeface="+mj-ea"/>
                <a:ea typeface="+mj-ea"/>
              </a:rPr>
              <a:t>甲和乙在同步做策略選擇時，</a:t>
            </a:r>
            <a:r>
              <a:rPr lang="zh-TW" altLang="en-US" sz="2800" dirty="0">
                <a:latin typeface="+mj-ea"/>
                <a:ea typeface="+mj-ea"/>
              </a:rPr>
              <a:t>乙</a:t>
            </a:r>
            <a:r>
              <a:rPr lang="zh-TW" altLang="zh-TW" sz="2800" dirty="0">
                <a:latin typeface="+mj-ea"/>
                <a:ea typeface="+mj-ea"/>
              </a:rPr>
              <a:t>是猜測</a:t>
            </a:r>
            <a:r>
              <a:rPr lang="en-US" altLang="zh-TW" sz="2800" dirty="0">
                <a:latin typeface="+mj-ea"/>
                <a:ea typeface="+mj-ea"/>
              </a:rPr>
              <a:t>  </a:t>
            </a:r>
          </a:p>
          <a:p>
            <a:pPr lvl="0">
              <a:buNone/>
            </a:pPr>
            <a:r>
              <a:rPr lang="en-US" altLang="zh-TW" sz="2800" dirty="0">
                <a:latin typeface="+mj-ea"/>
                <a:ea typeface="+mj-ea"/>
              </a:rPr>
              <a:t>  </a:t>
            </a:r>
            <a:r>
              <a:rPr lang="zh-TW" altLang="zh-TW" sz="2800" dirty="0">
                <a:latin typeface="+mj-ea"/>
                <a:ea typeface="+mj-ea"/>
              </a:rPr>
              <a:t>景氣好的主觀機率為</a:t>
            </a:r>
            <a:r>
              <a:rPr lang="en-US" altLang="zh-TW" sz="2800" dirty="0">
                <a:latin typeface="+mj-ea"/>
                <a:ea typeface="+mj-ea"/>
              </a:rPr>
              <a:t>2/3; </a:t>
            </a:r>
            <a:r>
              <a:rPr lang="zh-TW" altLang="zh-TW" sz="2800" dirty="0">
                <a:latin typeface="+mj-ea"/>
                <a:ea typeface="+mj-ea"/>
              </a:rPr>
              <a:t>景氣不好的主觀</a:t>
            </a:r>
            <a:endParaRPr lang="en-US" altLang="zh-TW" sz="2800" dirty="0">
              <a:latin typeface="+mj-ea"/>
              <a:ea typeface="+mj-ea"/>
            </a:endParaRPr>
          </a:p>
          <a:p>
            <a:pPr lvl="0">
              <a:buNone/>
            </a:pPr>
            <a:r>
              <a:rPr lang="en-US" altLang="zh-TW" sz="2800" dirty="0">
                <a:latin typeface="+mj-ea"/>
                <a:ea typeface="+mj-ea"/>
              </a:rPr>
              <a:t>  </a:t>
            </a:r>
            <a:r>
              <a:rPr lang="zh-TW" altLang="zh-TW" sz="2800" dirty="0">
                <a:latin typeface="+mj-ea"/>
                <a:ea typeface="+mj-ea"/>
              </a:rPr>
              <a:t>機率為</a:t>
            </a:r>
            <a:r>
              <a:rPr lang="en-US" altLang="zh-TW" sz="2800" dirty="0">
                <a:latin typeface="+mj-ea"/>
                <a:ea typeface="+mj-ea"/>
              </a:rPr>
              <a:t>1/3</a:t>
            </a:r>
            <a:r>
              <a:rPr lang="zh-TW" altLang="zh-TW" sz="2800" dirty="0">
                <a:latin typeface="+mj-ea"/>
                <a:ea typeface="+mj-ea"/>
              </a:rPr>
              <a:t>。</a:t>
            </a:r>
          </a:p>
          <a:p>
            <a:pPr algn="ctr">
              <a:buNone/>
            </a:pPr>
            <a:endParaRPr lang="zh-TW" alt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1966158" y="6308209"/>
            <a:ext cx="5211683"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TW" sz="28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圖</a:t>
            </a:r>
            <a:r>
              <a:rPr kumimoji="1" lang="en-US" altLang="zh-TW" sz="28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6-2-1 </a:t>
            </a:r>
            <a:r>
              <a:rPr kumimoji="1" lang="zh-TW" altLang="en-US" sz="28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甲、乙廠商的策略賽局</a:t>
            </a:r>
            <a:endParaRPr kumimoji="1" lang="zh-TW" altLang="en-US" sz="2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pic>
        <p:nvPicPr>
          <p:cNvPr id="1026" name="Picture 2"/>
          <p:cNvPicPr>
            <a:picLocks noChangeAspect="1" noChangeArrowheads="1"/>
          </p:cNvPicPr>
          <p:nvPr/>
        </p:nvPicPr>
        <p:blipFill>
          <a:blip r:embed="rId2" cstate="print"/>
          <a:srcRect/>
          <a:stretch>
            <a:fillRect/>
          </a:stretch>
        </p:blipFill>
        <p:spPr bwMode="auto">
          <a:xfrm>
            <a:off x="1187624" y="179388"/>
            <a:ext cx="7056784" cy="6503987"/>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cstate="print"/>
          <a:srcRect/>
          <a:stretch>
            <a:fillRect/>
          </a:stretch>
        </p:blipFill>
        <p:spPr>
          <a:xfrm>
            <a:off x="130425" y="794321"/>
            <a:ext cx="8807896" cy="5370983"/>
          </a:xfrm>
          <a:prstGeom prst="rect">
            <a:avLst/>
          </a:prstGeom>
          <a:noFill/>
        </p:spPr>
      </p:pic>
      <p:sp>
        <p:nvSpPr>
          <p:cNvPr id="23553" name="Rectangle 1"/>
          <p:cNvSpPr>
            <a:spLocks noChangeArrowheads="1"/>
          </p:cNvSpPr>
          <p:nvPr/>
        </p:nvSpPr>
        <p:spPr bwMode="auto">
          <a:xfrm>
            <a:off x="2726348" y="332656"/>
            <a:ext cx="3570208"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表</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6-2-1 </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甲乙標準式賽局</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4" name="矩形 3"/>
          <p:cNvSpPr/>
          <p:nvPr/>
        </p:nvSpPr>
        <p:spPr>
          <a:xfrm>
            <a:off x="107504" y="6165304"/>
            <a:ext cx="9144000" cy="523220"/>
          </a:xfrm>
          <a:prstGeom prst="rect">
            <a:avLst/>
          </a:prstGeom>
        </p:spPr>
        <p:txBody>
          <a:bodyPr wrap="square">
            <a:spAutoFit/>
          </a:bodyPr>
          <a:lstStyle/>
          <a:p>
            <a:pPr>
              <a:defRPr/>
            </a:pPr>
            <a:r>
              <a:rPr lang="zh-TW" altLang="zh-TW" sz="2800" dirty="0">
                <a:latin typeface="+mn-ea"/>
              </a:rPr>
              <a:t>貝氏</a:t>
            </a:r>
            <a:r>
              <a:rPr lang="en-US" altLang="zh-TW" sz="2800" dirty="0">
                <a:latin typeface="+mn-ea"/>
              </a:rPr>
              <a:t>Nash</a:t>
            </a:r>
            <a:r>
              <a:rPr lang="zh-TW" altLang="zh-TW" sz="2800" dirty="0">
                <a:latin typeface="+mn-ea"/>
              </a:rPr>
              <a:t>均衡</a:t>
            </a:r>
            <a:r>
              <a:rPr lang="en-US" altLang="zh-TW" sz="2800" dirty="0">
                <a:latin typeface="+mn-ea"/>
              </a:rPr>
              <a:t>:</a:t>
            </a:r>
            <a:r>
              <a:rPr lang="zh-TW" altLang="zh-TW" sz="2800" dirty="0">
                <a:latin typeface="+mn-ea"/>
              </a:rPr>
              <a:t>不管景氣如何，甲採不擴廠，乙採進入</a:t>
            </a:r>
            <a:endParaRPr lang="zh-TW" altLang="zh-TW" sz="2800" dirty="0">
              <a:ea typeface="新細明體" pitchFamily="18" charset="-12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76940" y="26594"/>
            <a:ext cx="5662127" cy="523220"/>
          </a:xfrm>
          <a:prstGeom prst="rect">
            <a:avLst/>
          </a:prstGeom>
        </p:spPr>
        <p:txBody>
          <a:bodyPr wrap="none">
            <a:spAutoFit/>
          </a:bodyPr>
          <a:lstStyle/>
          <a:p>
            <a:r>
              <a:rPr lang="zh-TW" altLang="zh-TW" sz="2800" dirty="0">
                <a:cs typeface="Arial Unicode MS"/>
              </a:rPr>
              <a:t>對甲而言</a:t>
            </a:r>
            <a:r>
              <a:rPr lang="en-US" altLang="zh-TW" sz="2800" dirty="0">
                <a:cs typeface="Arial Unicode MS"/>
              </a:rPr>
              <a:t>,</a:t>
            </a:r>
            <a:r>
              <a:rPr lang="zh-TW" altLang="zh-TW" sz="2800" dirty="0">
                <a:cs typeface="Times New Roman" panose="02020603050405020304" pitchFamily="18" charset="0"/>
              </a:rPr>
              <a:t>此局將成為兩個同步賽局</a:t>
            </a:r>
            <a:endParaRPr lang="zh-TW" altLang="en-US" sz="2800" dirty="0"/>
          </a:p>
        </p:txBody>
      </p:sp>
      <p:pic>
        <p:nvPicPr>
          <p:cNvPr id="4" name="圖片 3"/>
          <p:cNvPicPr>
            <a:picLocks noChangeAspect="1"/>
          </p:cNvPicPr>
          <p:nvPr/>
        </p:nvPicPr>
        <p:blipFill>
          <a:blip r:embed="rId2"/>
          <a:stretch>
            <a:fillRect/>
          </a:stretch>
        </p:blipFill>
        <p:spPr>
          <a:xfrm>
            <a:off x="179511" y="404664"/>
            <a:ext cx="8856984" cy="6453336"/>
          </a:xfrm>
          <a:prstGeom prst="rect">
            <a:avLst/>
          </a:prstGeom>
        </p:spPr>
      </p:pic>
    </p:spTree>
    <p:extLst>
      <p:ext uri="{BB962C8B-B14F-4D97-AF65-F5344CB8AC3E}">
        <p14:creationId xmlns:p14="http://schemas.microsoft.com/office/powerpoint/2010/main" val="760328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99792" y="188640"/>
            <a:ext cx="4278735" cy="584775"/>
          </a:xfrm>
          <a:prstGeom prst="rect">
            <a:avLst/>
          </a:prstGeom>
        </p:spPr>
        <p:txBody>
          <a:bodyPr wrap="none">
            <a:spAutoFit/>
          </a:bodyPr>
          <a:lstStyle/>
          <a:p>
            <a:r>
              <a:rPr lang="zh-TW" altLang="en-US" sz="3200" b="1" dirty="0"/>
              <a:t>例</a:t>
            </a:r>
            <a:r>
              <a:rPr lang="en-US" altLang="zh-TW" sz="3200" b="1" dirty="0">
                <a:latin typeface="+mj-ea"/>
                <a:ea typeface="+mj-ea"/>
              </a:rPr>
              <a:t>2</a:t>
            </a:r>
            <a:r>
              <a:rPr lang="zh-TW" altLang="en-US" sz="3200" b="1" dirty="0"/>
              <a:t>  </a:t>
            </a:r>
            <a:r>
              <a:rPr lang="zh-TW" altLang="zh-TW" sz="3200" b="1" dirty="0"/>
              <a:t>警察追通緝犯賽局</a:t>
            </a:r>
            <a:endParaRPr lang="zh-TW" altLang="en-US" sz="3200" dirty="0"/>
          </a:p>
        </p:txBody>
      </p:sp>
      <p:pic>
        <p:nvPicPr>
          <p:cNvPr id="24578" name="Picture 2"/>
          <p:cNvPicPr>
            <a:picLocks noGrp="1" noChangeAspect="1" noChangeArrowheads="1"/>
          </p:cNvPicPr>
          <p:nvPr>
            <p:ph sz="quarter" idx="13"/>
          </p:nvPr>
        </p:nvPicPr>
        <p:blipFill>
          <a:blip r:embed="rId2" cstate="print"/>
          <a:srcRect/>
          <a:stretch>
            <a:fillRect/>
          </a:stretch>
        </p:blipFill>
        <p:spPr bwMode="auto">
          <a:xfrm>
            <a:off x="251520" y="620688"/>
            <a:ext cx="8568952" cy="5544616"/>
          </a:xfrm>
          <a:prstGeom prst="rect">
            <a:avLst/>
          </a:prstGeom>
          <a:noFill/>
          <a:ln w="9525">
            <a:noFill/>
            <a:miter lim="800000"/>
            <a:headEnd/>
            <a:tailEnd/>
          </a:ln>
          <a:effectLst/>
        </p:spPr>
      </p:pic>
      <p:sp>
        <p:nvSpPr>
          <p:cNvPr id="24579" name="Rectangle 3"/>
          <p:cNvSpPr>
            <a:spLocks noChangeArrowheads="1"/>
          </p:cNvSpPr>
          <p:nvPr/>
        </p:nvSpPr>
        <p:spPr bwMode="auto">
          <a:xfrm>
            <a:off x="2123728" y="6165304"/>
            <a:ext cx="4673074"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TW" sz="28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圖</a:t>
            </a:r>
            <a:r>
              <a:rPr kumimoji="1" lang="en-US" altLang="zh-TW" sz="28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6-2-2	</a:t>
            </a:r>
            <a:r>
              <a:rPr kumimoji="1" lang="zh-TW" altLang="en-US" sz="28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警察與通緝犯的賽局</a:t>
            </a:r>
            <a:endParaRPr kumimoji="1" lang="zh-TW" altLang="en-US" sz="2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3" name="文字方塊 2">
            <a:extLst>
              <a:ext uri="{FF2B5EF4-FFF2-40B4-BE49-F238E27FC236}">
                <a16:creationId xmlns:a16="http://schemas.microsoft.com/office/drawing/2014/main" id="{8FC8FEC2-B667-C9C5-53CB-A467B7E23F82}"/>
              </a:ext>
            </a:extLst>
          </p:cNvPr>
          <p:cNvSpPr txBox="1"/>
          <p:nvPr/>
        </p:nvSpPr>
        <p:spPr>
          <a:xfrm>
            <a:off x="5724128" y="1412776"/>
            <a:ext cx="3419872" cy="2601931"/>
          </a:xfrm>
          <a:prstGeom prst="rect">
            <a:avLst/>
          </a:prstGeom>
          <a:noFill/>
        </p:spPr>
        <p:txBody>
          <a:bodyPr wrap="square">
            <a:spAutoFit/>
          </a:bodyPr>
          <a:lstStyle/>
          <a:p>
            <a:pPr>
              <a:lnSpc>
                <a:spcPct val="150000"/>
              </a:lnSpc>
            </a:pPr>
            <a:r>
              <a:rPr lang="zh-TW" altLang="zh-TW" sz="2800" dirty="0">
                <a:solidFill>
                  <a:srgbClr val="FF0000"/>
                </a:solidFill>
                <a:effectLst/>
                <a:latin typeface="+mn-ea"/>
                <a:cs typeface="Arial Unicode MS"/>
              </a:rPr>
              <a:t>此賽局是一種同時結合完全訊息靜態賽局和不完全訊息動態賽局的混合體。</a:t>
            </a:r>
            <a:endParaRPr lang="zh-TW" altLang="en-US" sz="2800" dirty="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Grp="1" noChangeAspect="1" noChangeArrowheads="1"/>
          </p:cNvPicPr>
          <p:nvPr>
            <p:ph sz="quarter" idx="13"/>
          </p:nvPr>
        </p:nvPicPr>
        <p:blipFill>
          <a:blip r:embed="rId2"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表格 18"/>
          <p:cNvGraphicFramePr>
            <a:graphicFrameLocks noGrp="1"/>
          </p:cNvGraphicFramePr>
          <p:nvPr/>
        </p:nvGraphicFramePr>
        <p:xfrm>
          <a:off x="1115618" y="1700809"/>
          <a:ext cx="7344815" cy="4320480"/>
        </p:xfrm>
        <a:graphic>
          <a:graphicData uri="http://schemas.openxmlformats.org/drawingml/2006/table">
            <a:tbl>
              <a:tblPr/>
              <a:tblGrid>
                <a:gridCol w="664225">
                  <a:extLst>
                    <a:ext uri="{9D8B030D-6E8A-4147-A177-3AD203B41FA5}">
                      <a16:colId xmlns:a16="http://schemas.microsoft.com/office/drawing/2014/main" val="20000"/>
                    </a:ext>
                  </a:extLst>
                </a:gridCol>
                <a:gridCol w="991957">
                  <a:extLst>
                    <a:ext uri="{9D8B030D-6E8A-4147-A177-3AD203B41FA5}">
                      <a16:colId xmlns:a16="http://schemas.microsoft.com/office/drawing/2014/main" val="20001"/>
                    </a:ext>
                  </a:extLst>
                </a:gridCol>
                <a:gridCol w="1440160">
                  <a:extLst>
                    <a:ext uri="{9D8B030D-6E8A-4147-A177-3AD203B41FA5}">
                      <a16:colId xmlns:a16="http://schemas.microsoft.com/office/drawing/2014/main" val="20002"/>
                    </a:ext>
                  </a:extLst>
                </a:gridCol>
                <a:gridCol w="1576237">
                  <a:extLst>
                    <a:ext uri="{9D8B030D-6E8A-4147-A177-3AD203B41FA5}">
                      <a16:colId xmlns:a16="http://schemas.microsoft.com/office/drawing/2014/main" val="20003"/>
                    </a:ext>
                  </a:extLst>
                </a:gridCol>
                <a:gridCol w="1160067">
                  <a:extLst>
                    <a:ext uri="{9D8B030D-6E8A-4147-A177-3AD203B41FA5}">
                      <a16:colId xmlns:a16="http://schemas.microsoft.com/office/drawing/2014/main" val="20004"/>
                    </a:ext>
                  </a:extLst>
                </a:gridCol>
                <a:gridCol w="1512169">
                  <a:extLst>
                    <a:ext uri="{9D8B030D-6E8A-4147-A177-3AD203B41FA5}">
                      <a16:colId xmlns:a16="http://schemas.microsoft.com/office/drawing/2014/main" val="20005"/>
                    </a:ext>
                  </a:extLst>
                </a:gridCol>
              </a:tblGrid>
              <a:tr h="864096">
                <a:tc gridSpan="6">
                  <a:txBody>
                    <a:bodyPr/>
                    <a:lstStyle/>
                    <a:p>
                      <a:pPr algn="ctr">
                        <a:lnSpc>
                          <a:spcPct val="150000"/>
                        </a:lnSpc>
                        <a:spcAft>
                          <a:spcPts val="0"/>
                        </a:spcAft>
                      </a:pPr>
                      <a:r>
                        <a:rPr lang="zh-TW" sz="2400" kern="100" dirty="0">
                          <a:latin typeface="Calibri"/>
                          <a:ea typeface="標楷體"/>
                          <a:cs typeface="Arial Unicode MS"/>
                        </a:rPr>
                        <a:t>通緝犯乙</a:t>
                      </a:r>
                      <a:endParaRPr lang="zh-TW" sz="2400" kern="100" dirty="0">
                        <a:latin typeface="Calibri"/>
                        <a:ea typeface="新細明體"/>
                        <a:cs typeface="Times New Roman"/>
                      </a:endParaRPr>
                    </a:p>
                  </a:txBody>
                  <a:tcPr marL="68580" marR="68580" marT="0" marB="0" anchor="ctr">
                    <a:lnL>
                      <a:noFill/>
                    </a:lnL>
                    <a:lnR>
                      <a:noFill/>
                    </a:lnR>
                    <a:lnT>
                      <a:noFill/>
                    </a:lnT>
                    <a:lnB>
                      <a:noFill/>
                    </a:lnB>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864096">
                <a:tc rowSpan="3">
                  <a:txBody>
                    <a:bodyPr/>
                    <a:lstStyle/>
                    <a:p>
                      <a:pPr algn="ctr">
                        <a:lnSpc>
                          <a:spcPct val="150000"/>
                        </a:lnSpc>
                        <a:spcAft>
                          <a:spcPts val="0"/>
                        </a:spcAft>
                      </a:pPr>
                      <a:endParaRPr lang="en-US" sz="2400" kern="100">
                        <a:latin typeface="標楷體"/>
                        <a:ea typeface="新細明體"/>
                        <a:cs typeface="Arial Unicode MS"/>
                      </a:endParaRPr>
                    </a:p>
                    <a:p>
                      <a:pPr algn="ctr">
                        <a:lnSpc>
                          <a:spcPct val="150000"/>
                        </a:lnSpc>
                        <a:spcAft>
                          <a:spcPts val="0"/>
                        </a:spcAft>
                      </a:pPr>
                      <a:r>
                        <a:rPr lang="zh-TW" sz="2400" kern="100">
                          <a:latin typeface="Calibri"/>
                          <a:ea typeface="標楷體"/>
                          <a:cs typeface="Times New Roman"/>
                        </a:rPr>
                        <a:t>警察</a:t>
                      </a:r>
                      <a:r>
                        <a:rPr lang="zh-TW" sz="2400" kern="100">
                          <a:latin typeface="Calibri"/>
                          <a:ea typeface="標楷體"/>
                          <a:cs typeface="Arial Unicode MS"/>
                        </a:rPr>
                        <a:t>甲</a:t>
                      </a:r>
                      <a:endParaRPr lang="zh-TW" sz="2400" kern="100">
                        <a:latin typeface="Calibri"/>
                        <a:ea typeface="新細明體"/>
                        <a:cs typeface="Times New Roman"/>
                      </a:endParaRPr>
                    </a:p>
                  </a:txBody>
                  <a:tcPr marL="68580" marR="68580" marT="0" marB="0" anchor="ctr">
                    <a:lnL>
                      <a:noFill/>
                    </a:lnL>
                    <a:lnR>
                      <a:noFill/>
                    </a:lnR>
                    <a:lnT>
                      <a:noFill/>
                    </a:lnT>
                    <a:lnB>
                      <a:noFill/>
                    </a:lnB>
                  </a:tcPr>
                </a:tc>
                <a:tc>
                  <a:txBody>
                    <a:bodyPr/>
                    <a:lstStyle/>
                    <a:p>
                      <a:pPr algn="ctr">
                        <a:lnSpc>
                          <a:spcPct val="150000"/>
                        </a:lnSpc>
                        <a:spcAft>
                          <a:spcPts val="0"/>
                        </a:spcAft>
                      </a:pPr>
                      <a:endParaRPr lang="en-US" sz="2400" kern="100">
                        <a:latin typeface="標楷體"/>
                        <a:ea typeface="新細明體"/>
                        <a:cs typeface="Arial Unicode MS"/>
                      </a:endParaRPr>
                    </a:p>
                  </a:txBody>
                  <a:tcPr marL="68580" marR="68580" marT="0" marB="0" anchor="ctr">
                    <a:lnL>
                      <a:noFill/>
                    </a:lnL>
                    <a:lnR>
                      <a:noFill/>
                    </a:lnR>
                    <a:lnT>
                      <a:noFill/>
                    </a:lnT>
                    <a:lnB>
                      <a:noFill/>
                    </a:lnB>
                  </a:tcPr>
                </a:tc>
                <a:tc>
                  <a:txBody>
                    <a:bodyPr/>
                    <a:lstStyle/>
                    <a:p>
                      <a:pPr algn="ctr">
                        <a:lnSpc>
                          <a:spcPct val="150000"/>
                        </a:lnSpc>
                        <a:spcAft>
                          <a:spcPts val="0"/>
                        </a:spcAft>
                      </a:pPr>
                      <a:r>
                        <a:rPr lang="zh-TW" sz="2400" kern="100">
                          <a:latin typeface="Calibri"/>
                          <a:ea typeface="標楷體"/>
                          <a:cs typeface="Arial Unicode MS"/>
                        </a:rPr>
                        <a:t>南自首</a:t>
                      </a:r>
                      <a:endParaRPr lang="zh-TW" sz="2400" kern="100">
                        <a:latin typeface="Calibri"/>
                        <a:ea typeface="新細明體"/>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sz="2400" kern="100">
                          <a:latin typeface="Calibri"/>
                          <a:ea typeface="標楷體"/>
                          <a:cs typeface="Arial Unicode MS"/>
                        </a:rPr>
                        <a:t>南不自首</a:t>
                      </a:r>
                      <a:endParaRPr lang="zh-TW" sz="2400" kern="100">
                        <a:latin typeface="Calibri"/>
                        <a:ea typeface="新細明體"/>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sz="2400" kern="100" dirty="0">
                          <a:latin typeface="Calibri"/>
                          <a:ea typeface="標楷體"/>
                          <a:cs typeface="Arial Unicode MS"/>
                        </a:rPr>
                        <a:t>北自首</a:t>
                      </a:r>
                      <a:endParaRPr lang="zh-TW" sz="2400" kern="100" dirty="0">
                        <a:latin typeface="Calibri"/>
                        <a:ea typeface="新細明體"/>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TW" sz="2400" kern="100" dirty="0">
                          <a:latin typeface="Calibri"/>
                          <a:ea typeface="標楷體"/>
                          <a:cs typeface="Arial Unicode MS"/>
                        </a:rPr>
                        <a:t>北不自首</a:t>
                      </a:r>
                      <a:endParaRPr lang="zh-TW" sz="2400" kern="100" dirty="0">
                        <a:latin typeface="Calibri"/>
                        <a:ea typeface="新細明體"/>
                        <a:cs typeface="Times New Roman"/>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48172">
                <a:tc vMerge="1">
                  <a:txBody>
                    <a:bodyPr/>
                    <a:lstStyle/>
                    <a:p>
                      <a:endParaRPr lang="zh-TW" altLang="en-US"/>
                    </a:p>
                  </a:txBody>
                  <a:tcPr/>
                </a:tc>
                <a:tc>
                  <a:txBody>
                    <a:bodyPr/>
                    <a:lstStyle/>
                    <a:p>
                      <a:pPr algn="ctr">
                        <a:lnSpc>
                          <a:spcPct val="150000"/>
                        </a:lnSpc>
                        <a:spcAft>
                          <a:spcPts val="0"/>
                        </a:spcAft>
                      </a:pPr>
                      <a:r>
                        <a:rPr lang="zh-TW" sz="2400" kern="100">
                          <a:latin typeface="Calibri"/>
                          <a:ea typeface="標楷體"/>
                          <a:cs typeface="Arial Unicode MS"/>
                        </a:rPr>
                        <a:t>北</a:t>
                      </a:r>
                      <a:endParaRPr lang="zh-TW" sz="2400" kern="100">
                        <a:latin typeface="Calibri"/>
                        <a:ea typeface="新細明體"/>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50000"/>
                        </a:lnSpc>
                        <a:spcAft>
                          <a:spcPts val="0"/>
                        </a:spcAft>
                      </a:pPr>
                      <a:r>
                        <a:rPr lang="en-US" sz="2400" kern="100">
                          <a:latin typeface="標楷體"/>
                          <a:ea typeface="新細明體"/>
                          <a:cs typeface="Arial Unicode MS"/>
                        </a:rPr>
                        <a:t>0,4</a:t>
                      </a:r>
                      <a:endParaRPr lang="zh-TW" sz="2400" kern="10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kern="100" dirty="0">
                          <a:latin typeface="標楷體"/>
                          <a:ea typeface="新細明體"/>
                          <a:cs typeface="Arial Unicode MS"/>
                        </a:rPr>
                        <a:t>0,4</a:t>
                      </a:r>
                      <a:endParaRPr lang="zh-TW" sz="2400" kern="100" dirty="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kern="100" dirty="0">
                          <a:latin typeface="標楷體"/>
                          <a:ea typeface="新細明體"/>
                          <a:cs typeface="Arial Unicode MS"/>
                        </a:rPr>
                        <a:t>4,0</a:t>
                      </a:r>
                      <a:endParaRPr lang="zh-TW" sz="2400" kern="100" dirty="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kern="100" dirty="0">
                          <a:latin typeface="標楷體"/>
                          <a:ea typeface="新細明體"/>
                          <a:cs typeface="Arial Unicode MS"/>
                        </a:rPr>
                        <a:t>4,0</a:t>
                      </a:r>
                      <a:endParaRPr lang="zh-TW" sz="2400" kern="100" dirty="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44116">
                <a:tc vMerge="1">
                  <a:txBody>
                    <a:bodyPr/>
                    <a:lstStyle/>
                    <a:p>
                      <a:endParaRPr lang="zh-TW" altLang="en-US"/>
                    </a:p>
                  </a:txBody>
                  <a:tcPr/>
                </a:tc>
                <a:tc>
                  <a:txBody>
                    <a:bodyPr/>
                    <a:lstStyle/>
                    <a:p>
                      <a:pPr algn="ctr">
                        <a:lnSpc>
                          <a:spcPct val="150000"/>
                        </a:lnSpc>
                        <a:spcAft>
                          <a:spcPts val="0"/>
                        </a:spcAft>
                      </a:pPr>
                      <a:r>
                        <a:rPr lang="zh-TW" sz="2400" kern="100">
                          <a:latin typeface="Calibri"/>
                          <a:ea typeface="標楷體"/>
                          <a:cs typeface="Arial Unicode MS"/>
                        </a:rPr>
                        <a:t>南</a:t>
                      </a:r>
                      <a:endParaRPr lang="zh-TW" sz="2400" kern="100">
                        <a:latin typeface="Calibri"/>
                        <a:ea typeface="新細明體"/>
                        <a:cs typeface="Times New Roman"/>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lnSpc>
                          <a:spcPct val="150000"/>
                        </a:lnSpc>
                        <a:spcAft>
                          <a:spcPts val="0"/>
                        </a:spcAft>
                      </a:pPr>
                      <a:r>
                        <a:rPr lang="en-US" sz="2400" kern="100">
                          <a:latin typeface="標楷體"/>
                          <a:ea typeface="新細明體"/>
                          <a:cs typeface="Arial Unicode MS"/>
                        </a:rPr>
                        <a:t>3,1</a:t>
                      </a:r>
                      <a:endParaRPr lang="zh-TW" sz="2400" kern="10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kern="100" dirty="0">
                          <a:latin typeface="標楷體"/>
                          <a:ea typeface="新細明體"/>
                          <a:cs typeface="Arial Unicode MS"/>
                        </a:rPr>
                        <a:t>2,0</a:t>
                      </a:r>
                      <a:endParaRPr lang="zh-TW" sz="2400" kern="100" dirty="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kern="100" dirty="0">
                          <a:latin typeface="標楷體"/>
                          <a:ea typeface="新細明體"/>
                          <a:cs typeface="Arial Unicode MS"/>
                        </a:rPr>
                        <a:t>1,3</a:t>
                      </a:r>
                      <a:endParaRPr lang="zh-TW" sz="2400" kern="100" dirty="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kern="100" dirty="0">
                          <a:latin typeface="標楷體"/>
                          <a:ea typeface="新細明體"/>
                          <a:cs typeface="Arial Unicode MS"/>
                        </a:rPr>
                        <a:t>0,2</a:t>
                      </a:r>
                      <a:endParaRPr lang="zh-TW" sz="2400" kern="100" dirty="0">
                        <a:latin typeface="Calibri"/>
                        <a:ea typeface="新細明體"/>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618" name="Rectangle 18"/>
          <p:cNvSpPr>
            <a:spLocks noChangeArrowheads="1"/>
          </p:cNvSpPr>
          <p:nvPr/>
        </p:nvSpPr>
        <p:spPr bwMode="auto">
          <a:xfrm>
            <a:off x="1907704" y="908720"/>
            <a:ext cx="6263253"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1219200" algn="ctr" defTabSz="914400" rtl="0" eaLnBrk="1" fontAlgn="base" latinLnBrk="0" hangingPunct="1">
              <a:lnSpc>
                <a:spcPct val="100000"/>
              </a:lnSpc>
              <a:spcBef>
                <a:spcPct val="0"/>
              </a:spcBef>
              <a:spcAft>
                <a:spcPct val="0"/>
              </a:spcAft>
              <a:buClrTx/>
              <a:buSzTx/>
              <a:buFontTx/>
              <a:buNone/>
              <a:tabLst/>
            </a:pPr>
            <a:r>
              <a:rPr kumimoji="1" lang="zh-TW"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表</a:t>
            </a:r>
            <a:r>
              <a:rPr kumimoji="1" lang="en-US" altLang="zh-TW"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6-2-2  </a:t>
            </a:r>
            <a:r>
              <a:rPr kumimoji="1" lang="zh-TW" altLang="en-US"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甲乙貝式標準式賽局</a:t>
            </a:r>
            <a:endParaRPr kumimoji="1" lang="zh-TW" altLang="en-US" sz="2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cstate="print"/>
          <a:srcRect/>
          <a:stretch>
            <a:fillRect/>
          </a:stretch>
        </p:blipFill>
        <p:spPr bwMode="auto">
          <a:xfrm>
            <a:off x="1290288" y="1340768"/>
            <a:ext cx="7098136" cy="4114597"/>
          </a:xfrm>
          <a:prstGeom prst="rect">
            <a:avLst/>
          </a:prstGeom>
          <a:noFill/>
          <a:ln w="9525">
            <a:noFill/>
            <a:miter lim="800000"/>
            <a:headEnd/>
            <a:tailEnd/>
          </a:ln>
          <a:effectLst/>
        </p:spPr>
      </p:pic>
      <p:sp>
        <p:nvSpPr>
          <p:cNvPr id="27651" name="Rectangle 3"/>
          <p:cNvSpPr>
            <a:spLocks noChangeArrowheads="1"/>
          </p:cNvSpPr>
          <p:nvPr/>
        </p:nvSpPr>
        <p:spPr bwMode="auto">
          <a:xfrm>
            <a:off x="1290289" y="247216"/>
            <a:ext cx="6827510"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TW" altLang="en-US"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圖</a:t>
            </a:r>
            <a:r>
              <a:rPr kumimoji="1" lang="en-US" altLang="zh-TW"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6-2-3 </a:t>
            </a:r>
            <a:r>
              <a:rPr kumimoji="1" lang="zh-TW" altLang="en-US"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甲乙貝式標準式縮減賽局 </a:t>
            </a:r>
            <a:r>
              <a:rPr kumimoji="1" lang="en-US" altLang="zh-TW" sz="2800" b="0" i="0" u="none" strike="noStrike" cap="none" normalizeH="0" baseline="0" dirty="0">
                <a:ln>
                  <a:noFill/>
                </a:ln>
                <a:solidFill>
                  <a:schemeClr val="tx1"/>
                </a:solidFill>
                <a:effectLst/>
                <a:latin typeface="標楷體" pitchFamily="65" charset="-120"/>
                <a:ea typeface="標楷體" pitchFamily="65" charset="-120"/>
                <a:cs typeface="Arial Unicode MS" pitchFamily="34" charset="-120"/>
              </a:rPr>
              <a:t>by WDS</a:t>
            </a:r>
            <a:endParaRPr kumimoji="1" lang="zh-TW" altLang="en-US" sz="28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2765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TW" altLang="en-US"/>
          </a:p>
        </p:txBody>
      </p:sp>
      <p:pic>
        <p:nvPicPr>
          <p:cNvPr id="27652"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148064" y="5445224"/>
            <a:ext cx="1944216" cy="648072"/>
          </a:xfrm>
          <a:prstGeom prst="rect">
            <a:avLst/>
          </a:prstGeom>
          <a:noFill/>
        </p:spPr>
      </p:pic>
      <p:sp>
        <p:nvSpPr>
          <p:cNvPr id="6" name="矩形 5"/>
          <p:cNvSpPr/>
          <p:nvPr/>
        </p:nvSpPr>
        <p:spPr>
          <a:xfrm>
            <a:off x="2195736" y="5566816"/>
            <a:ext cx="2706575" cy="461665"/>
          </a:xfrm>
          <a:prstGeom prst="rect">
            <a:avLst/>
          </a:prstGeom>
        </p:spPr>
        <p:txBody>
          <a:bodyPr wrap="none">
            <a:spAutoFit/>
          </a:bodyPr>
          <a:lstStyle/>
          <a:p>
            <a:r>
              <a:rPr lang="zh-TW" altLang="zh-TW" sz="2400" dirty="0"/>
              <a:t>貝氏混合</a:t>
            </a:r>
            <a:r>
              <a:rPr lang="en-US" altLang="zh-TW" sz="2400" dirty="0"/>
              <a:t>Nash</a:t>
            </a:r>
            <a:r>
              <a:rPr lang="zh-TW" altLang="zh-TW" sz="2400" dirty="0"/>
              <a:t>均衡</a:t>
            </a:r>
            <a:endParaRPr lang="zh-TW" alt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043608" y="188640"/>
            <a:ext cx="7317432" cy="1617360"/>
          </a:xfrm>
        </p:spPr>
        <p:txBody>
          <a:bodyPr>
            <a:normAutofit/>
          </a:bodyPr>
          <a:lstStyle/>
          <a:p>
            <a:endParaRPr lang="zh-TW" altLang="zh-TW" dirty="0"/>
          </a:p>
          <a:p>
            <a:endParaRPr lang="zh-TW" altLang="zh-TW" dirty="0"/>
          </a:p>
          <a:p>
            <a:pPr algn="ctr">
              <a:buNone/>
            </a:pPr>
            <a:r>
              <a:rPr lang="zh-TW" altLang="zh-TW" sz="3600" b="1" dirty="0"/>
              <a:t>第三節</a:t>
            </a:r>
            <a:r>
              <a:rPr lang="en-US" altLang="zh-TW" sz="3600" b="1" dirty="0"/>
              <a:t>	</a:t>
            </a:r>
            <a:r>
              <a:rPr lang="zh-TW" altLang="zh-TW" sz="3600" b="1" dirty="0"/>
              <a:t>不完全訊息動態賽局</a:t>
            </a:r>
            <a:endParaRPr lang="zh-TW" altLang="en-US" sz="3600" dirty="0"/>
          </a:p>
        </p:txBody>
      </p:sp>
      <p:sp>
        <p:nvSpPr>
          <p:cNvPr id="4" name="矩形 3"/>
          <p:cNvSpPr/>
          <p:nvPr/>
        </p:nvSpPr>
        <p:spPr>
          <a:xfrm>
            <a:off x="899592" y="2204864"/>
            <a:ext cx="8244408" cy="2608919"/>
          </a:xfrm>
          <a:prstGeom prst="rect">
            <a:avLst/>
          </a:prstGeom>
        </p:spPr>
        <p:txBody>
          <a:bodyPr wrap="square">
            <a:spAutoFit/>
          </a:bodyPr>
          <a:lstStyle/>
          <a:p>
            <a:pPr algn="ctr">
              <a:lnSpc>
                <a:spcPct val="150000"/>
              </a:lnSpc>
            </a:pPr>
            <a:r>
              <a:rPr lang="zh-TW" altLang="en-US" sz="2800" dirty="0"/>
              <a:t>一、產業案例</a:t>
            </a:r>
            <a:endParaRPr lang="en-US" altLang="zh-TW" sz="2800" dirty="0"/>
          </a:p>
          <a:p>
            <a:pPr>
              <a:lnSpc>
                <a:spcPct val="150000"/>
              </a:lnSpc>
            </a:pPr>
            <a:r>
              <a:rPr lang="zh-TW" altLang="en-US" sz="2800" dirty="0"/>
              <a:t>故事</a:t>
            </a:r>
            <a:r>
              <a:rPr lang="en-US" altLang="zh-TW" sz="2800" dirty="0">
                <a:latin typeface="+mj-ea"/>
                <a:ea typeface="+mj-ea"/>
              </a:rPr>
              <a:t>1</a:t>
            </a:r>
            <a:r>
              <a:rPr lang="zh-TW" altLang="en-US" sz="2800" dirty="0">
                <a:latin typeface="+mj-ea"/>
                <a:ea typeface="+mj-ea"/>
              </a:rPr>
              <a:t>：</a:t>
            </a:r>
            <a:r>
              <a:rPr lang="en-US" altLang="zh-TW" sz="2800" dirty="0">
                <a:latin typeface="+mj-ea"/>
                <a:ea typeface="+mj-ea"/>
              </a:rPr>
              <a:t>Samsung</a:t>
            </a:r>
            <a:r>
              <a:rPr lang="zh-TW" altLang="en-US" sz="2800" dirty="0">
                <a:latin typeface="+mj-ea"/>
                <a:ea typeface="+mj-ea"/>
              </a:rPr>
              <a:t> 邀 </a:t>
            </a:r>
            <a:r>
              <a:rPr lang="en-US" altLang="zh-TW" sz="2800" dirty="0">
                <a:latin typeface="+mj-ea"/>
                <a:ea typeface="+mj-ea"/>
              </a:rPr>
              <a:t>Sony</a:t>
            </a:r>
            <a:r>
              <a:rPr lang="zh-TW" altLang="en-US" sz="2800" dirty="0">
                <a:latin typeface="+mj-ea"/>
                <a:ea typeface="+mj-ea"/>
              </a:rPr>
              <a:t>合作一起建第 </a:t>
            </a:r>
            <a:r>
              <a:rPr lang="en-US" altLang="zh-TW" sz="2800" dirty="0">
                <a:latin typeface="+mj-ea"/>
                <a:ea typeface="+mj-ea"/>
              </a:rPr>
              <a:t>7 </a:t>
            </a:r>
            <a:r>
              <a:rPr lang="zh-TW" altLang="en-US" sz="2800" dirty="0">
                <a:latin typeface="+mj-ea"/>
                <a:ea typeface="+mj-ea"/>
              </a:rPr>
              <a:t>代面板廠</a:t>
            </a:r>
            <a:endParaRPr lang="en-US" altLang="zh-TW" sz="2800" dirty="0">
              <a:latin typeface="+mj-ea"/>
              <a:ea typeface="+mj-ea"/>
            </a:endParaRPr>
          </a:p>
          <a:p>
            <a:pPr>
              <a:lnSpc>
                <a:spcPct val="150000"/>
              </a:lnSpc>
            </a:pPr>
            <a:endParaRPr lang="en-US" altLang="zh-TW" sz="2800" dirty="0">
              <a:latin typeface="+mj-ea"/>
              <a:ea typeface="+mj-ea"/>
            </a:endParaRPr>
          </a:p>
          <a:p>
            <a:pPr>
              <a:lnSpc>
                <a:spcPct val="150000"/>
              </a:lnSpc>
            </a:pPr>
            <a:r>
              <a:rPr lang="zh-TW" altLang="en-US" sz="2800" dirty="0">
                <a:latin typeface="+mj-ea"/>
                <a:ea typeface="+mj-ea"/>
              </a:rPr>
              <a:t>故事</a:t>
            </a:r>
            <a:r>
              <a:rPr lang="en-US" altLang="zh-TW" sz="2800" dirty="0">
                <a:latin typeface="+mj-ea"/>
                <a:ea typeface="+mj-ea"/>
              </a:rPr>
              <a:t>2</a:t>
            </a:r>
            <a:r>
              <a:rPr lang="zh-TW" altLang="en-US" sz="2800" dirty="0"/>
              <a:t>：聯發科與高通在</a:t>
            </a:r>
            <a:r>
              <a:rPr lang="en-US" altLang="zh-TW" sz="2800" dirty="0">
                <a:latin typeface="+mj-ea"/>
                <a:ea typeface="+mj-ea"/>
              </a:rPr>
              <a:t>3G</a:t>
            </a:r>
            <a:r>
              <a:rPr lang="zh-TW" altLang="en-US" sz="2800" dirty="0">
                <a:latin typeface="+mj-ea"/>
                <a:ea typeface="+mj-ea"/>
              </a:rPr>
              <a:t> </a:t>
            </a:r>
            <a:r>
              <a:rPr lang="zh-TW" altLang="en-US" sz="2800" dirty="0"/>
              <a:t>通訊專利技術交叉授權</a:t>
            </a:r>
            <a:endParaRPr lang="zh-TW" altLang="zh-TW"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143000" y="731520"/>
            <a:ext cx="7173416" cy="5145752"/>
          </a:xfrm>
        </p:spPr>
        <p:txBody>
          <a:bodyPr>
            <a:normAutofit/>
          </a:bodyPr>
          <a:lstStyle/>
          <a:p>
            <a:pPr algn="ctr">
              <a:buNone/>
            </a:pPr>
            <a:r>
              <a:rPr lang="zh-TW" altLang="en-US" sz="3200" b="1" dirty="0"/>
              <a:t>序列理性</a:t>
            </a:r>
            <a:endParaRPr lang="en-US" altLang="zh-TW" sz="3200" b="1" dirty="0"/>
          </a:p>
          <a:p>
            <a:pPr algn="ctr">
              <a:buNone/>
            </a:pPr>
            <a:endParaRPr lang="zh-TW" altLang="zh-TW" dirty="0"/>
          </a:p>
          <a:p>
            <a:pPr>
              <a:lnSpc>
                <a:spcPct val="150000"/>
              </a:lnSpc>
              <a:buNone/>
            </a:pPr>
            <a:r>
              <a:rPr lang="en-US" altLang="zh-TW" sz="3200" dirty="0"/>
              <a:t>   </a:t>
            </a:r>
            <a:r>
              <a:rPr lang="zh-TW" altLang="en-US" sz="3200" dirty="0"/>
              <a:t>所謂序列理性是代表賽局所有的參與者，在一個策略選擇有先後順序的過程中，他們都會保持理性的原則，讓他們在每個子賽局中的收益達到最大。</a:t>
            </a:r>
            <a:endParaRPr lang="zh-TW" altLang="zh-TW" sz="3200" dirty="0"/>
          </a:p>
          <a:p>
            <a:endParaRPr lang="zh-TW"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143000" y="731520"/>
            <a:ext cx="7389440" cy="5649808"/>
          </a:xfrm>
        </p:spPr>
        <p:txBody>
          <a:bodyPr>
            <a:normAutofit fontScale="62500" lnSpcReduction="20000"/>
          </a:bodyPr>
          <a:lstStyle/>
          <a:p>
            <a:pPr algn="ctr">
              <a:lnSpc>
                <a:spcPct val="150000"/>
              </a:lnSpc>
              <a:buNone/>
            </a:pPr>
            <a:r>
              <a:rPr lang="zh-TW" altLang="en-US" sz="5100" b="1" dirty="0">
                <a:latin typeface="標楷體" pitchFamily="65" charset="-120"/>
                <a:ea typeface="標楷體" pitchFamily="65" charset="-120"/>
              </a:rPr>
              <a:t>主觀認知</a:t>
            </a:r>
            <a:r>
              <a:rPr lang="en-US" altLang="zh-TW" sz="5100" b="1" dirty="0">
                <a:latin typeface="標楷體" pitchFamily="65" charset="-120"/>
                <a:ea typeface="標楷體" pitchFamily="65" charset="-120"/>
              </a:rPr>
              <a:t>(beliefs)</a:t>
            </a:r>
            <a:endParaRPr lang="en-US" altLang="zh-TW" sz="5100" b="1" dirty="0"/>
          </a:p>
          <a:p>
            <a:pPr>
              <a:lnSpc>
                <a:spcPct val="150000"/>
              </a:lnSpc>
              <a:buNone/>
            </a:pPr>
            <a:r>
              <a:rPr lang="zh-TW" altLang="en-US" sz="3800" dirty="0"/>
              <a:t>   在不完全訊息動態賽局策略選擇過程中，參與者因不完全了解對手的策略，就會有一個原始的主觀認知</a:t>
            </a:r>
            <a:r>
              <a:rPr lang="en-US" altLang="zh-TW" sz="3800" dirty="0"/>
              <a:t>(initial belief)</a:t>
            </a:r>
            <a:r>
              <a:rPr lang="zh-TW" altLang="en-US" sz="3800" dirty="0"/>
              <a:t>，如</a:t>
            </a:r>
            <a:r>
              <a:rPr lang="en-US" altLang="zh-TW" sz="3800" dirty="0"/>
              <a:t>SONY</a:t>
            </a:r>
            <a:r>
              <a:rPr lang="zh-TW" altLang="en-US" sz="3800" dirty="0"/>
              <a:t>猜測</a:t>
            </a:r>
            <a:r>
              <a:rPr lang="en-US" altLang="zh-TW" sz="3800" dirty="0"/>
              <a:t>Samsung</a:t>
            </a:r>
            <a:r>
              <a:rPr lang="zh-TW" altLang="en-US" sz="3800" dirty="0"/>
              <a:t>是善意的機率為</a:t>
            </a:r>
            <a:r>
              <a:rPr lang="en-US" altLang="zh-TW" sz="3800" dirty="0"/>
              <a:t>P</a:t>
            </a:r>
            <a:r>
              <a:rPr lang="zh-TW" altLang="en-US" sz="3800" dirty="0"/>
              <a:t>；是惡意的機率為</a:t>
            </a:r>
            <a:r>
              <a:rPr lang="en-US" altLang="zh-TW" sz="3800" dirty="0"/>
              <a:t>1-P</a:t>
            </a:r>
            <a:r>
              <a:rPr lang="zh-TW" altLang="en-US" sz="3800" dirty="0"/>
              <a:t>。</a:t>
            </a:r>
            <a:endParaRPr lang="en-US" altLang="zh-TW" sz="3800" dirty="0"/>
          </a:p>
          <a:p>
            <a:pPr>
              <a:lnSpc>
                <a:spcPct val="150000"/>
              </a:lnSpc>
              <a:buNone/>
            </a:pPr>
            <a:r>
              <a:rPr lang="zh-TW" altLang="en-US" sz="3800" dirty="0"/>
              <a:t>   但</a:t>
            </a:r>
            <a:r>
              <a:rPr lang="en-US" altLang="zh-TW" sz="3800" dirty="0"/>
              <a:t>SONY</a:t>
            </a:r>
            <a:r>
              <a:rPr lang="zh-TW" altLang="en-US" sz="3800" dirty="0"/>
              <a:t>會廣為蒐集資訊，然後在進行策略選擇時，修正其對</a:t>
            </a:r>
            <a:r>
              <a:rPr lang="en-US" altLang="zh-TW" sz="3800" dirty="0"/>
              <a:t>Samsung</a:t>
            </a:r>
            <a:r>
              <a:rPr lang="zh-TW" altLang="en-US" sz="3800" dirty="0"/>
              <a:t>發出邀請是否具善意的主觀認知。</a:t>
            </a:r>
            <a:endParaRPr lang="zh-TW" altLang="zh-TW" sz="3800" dirty="0"/>
          </a:p>
          <a:p>
            <a:pPr>
              <a:lnSpc>
                <a:spcPct val="150000"/>
              </a:lnSpc>
              <a:buNone/>
            </a:pPr>
            <a:r>
              <a:rPr lang="en-US" altLang="zh-TW" sz="3800" dirty="0"/>
              <a:t>	</a:t>
            </a:r>
            <a:r>
              <a:rPr lang="zh-TW" altLang="en-US" sz="3800" dirty="0"/>
              <a:t>假設此修正後認定</a:t>
            </a:r>
            <a:r>
              <a:rPr lang="en-US" altLang="zh-TW" sz="3800" dirty="0"/>
              <a:t>Samsung</a:t>
            </a:r>
            <a:r>
              <a:rPr lang="zh-TW" altLang="en-US" sz="3800" dirty="0"/>
              <a:t>是善意的機率為</a:t>
            </a:r>
            <a:r>
              <a:rPr lang="en-US" altLang="zh-TW" sz="3800" dirty="0"/>
              <a:t>q</a:t>
            </a:r>
            <a:r>
              <a:rPr lang="zh-TW" altLang="en-US" sz="3800" dirty="0"/>
              <a:t>；惡意的機率為</a:t>
            </a:r>
            <a:r>
              <a:rPr lang="en-US" altLang="zh-TW" sz="3800" dirty="0"/>
              <a:t>1-q</a:t>
            </a:r>
            <a:r>
              <a:rPr lang="zh-TW" altLang="en-US" sz="3800" dirty="0"/>
              <a:t>。</a:t>
            </a:r>
            <a:r>
              <a:rPr lang="en-US" altLang="zh-TW" sz="3800" dirty="0"/>
              <a:t>P</a:t>
            </a:r>
            <a:r>
              <a:rPr lang="zh-TW" altLang="en-US" sz="3800" dirty="0"/>
              <a:t>與</a:t>
            </a:r>
            <a:r>
              <a:rPr lang="en-US" altLang="zh-TW" sz="3800" dirty="0"/>
              <a:t>q</a:t>
            </a:r>
            <a:r>
              <a:rPr lang="zh-TW" altLang="en-US" sz="3800" dirty="0"/>
              <a:t>不一定相等</a:t>
            </a:r>
          </a:p>
          <a:p>
            <a:endParaRPr lang="zh-TW" altLang="en-US" sz="3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1763688" y="6309320"/>
            <a:ext cx="603242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圖</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6-3-1	Samsung</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和</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Sony</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合建面板賽局</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pic>
        <p:nvPicPr>
          <p:cNvPr id="48" name="圖片 47"/>
          <p:cNvPicPr>
            <a:picLocks noChangeAspect="1"/>
          </p:cNvPicPr>
          <p:nvPr/>
        </p:nvPicPr>
        <p:blipFill>
          <a:blip r:embed="rId2" cstate="print"/>
          <a:stretch>
            <a:fillRect/>
          </a:stretch>
        </p:blipFill>
        <p:spPr>
          <a:xfrm>
            <a:off x="683568" y="116632"/>
            <a:ext cx="8208911" cy="583264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467544" y="731520"/>
            <a:ext cx="8424936" cy="5721816"/>
          </a:xfrm>
        </p:spPr>
        <p:txBody>
          <a:bodyPr>
            <a:normAutofit/>
          </a:bodyPr>
          <a:lstStyle/>
          <a:p>
            <a:pPr marL="560070" indent="-514350">
              <a:buClrTx/>
              <a:buAutoNum type="arabicPeriod"/>
            </a:pPr>
            <a:r>
              <a:rPr lang="en-US" altLang="zh-TW" sz="2800" dirty="0">
                <a:latin typeface="+mj-ea"/>
                <a:ea typeface="+mj-ea"/>
              </a:rPr>
              <a:t>SONY</a:t>
            </a:r>
            <a:r>
              <a:rPr lang="zh-TW" altLang="zh-TW" sz="2800" dirty="0">
                <a:latin typeface="+mj-ea"/>
                <a:ea typeface="+mj-ea"/>
              </a:rPr>
              <a:t>因不完全了解</a:t>
            </a:r>
            <a:r>
              <a:rPr lang="en-US" altLang="zh-TW" sz="2800" dirty="0">
                <a:latin typeface="+mj-ea"/>
                <a:ea typeface="+mj-ea"/>
              </a:rPr>
              <a:t>Samsung</a:t>
            </a:r>
            <a:r>
              <a:rPr lang="zh-TW" altLang="zh-TW" sz="2800" dirty="0">
                <a:latin typeface="+mj-ea"/>
                <a:ea typeface="+mj-ea"/>
              </a:rPr>
              <a:t>的邀請是否善意或惡</a:t>
            </a:r>
            <a:r>
              <a:rPr lang="en-US" altLang="zh-TW" sz="2800" dirty="0">
                <a:latin typeface="+mj-ea"/>
                <a:ea typeface="+mj-ea"/>
              </a:rPr>
              <a:t> </a:t>
            </a:r>
          </a:p>
          <a:p>
            <a:pPr marL="45720" indent="0">
              <a:buNone/>
            </a:pPr>
            <a:r>
              <a:rPr lang="en-US" altLang="zh-TW" sz="2800" dirty="0">
                <a:latin typeface="+mj-ea"/>
                <a:ea typeface="+mj-ea"/>
              </a:rPr>
              <a:t>     </a:t>
            </a:r>
            <a:r>
              <a:rPr lang="zh-TW" altLang="zh-TW" sz="2800" dirty="0">
                <a:latin typeface="+mj-ea"/>
                <a:ea typeface="+mj-ea"/>
              </a:rPr>
              <a:t>意時，就會有一個原始的主觀認知。</a:t>
            </a:r>
            <a:endParaRPr lang="en-US" altLang="zh-TW" sz="2800" dirty="0">
              <a:latin typeface="+mj-ea"/>
              <a:ea typeface="+mj-ea"/>
            </a:endParaRPr>
          </a:p>
          <a:p>
            <a:pPr marL="45720" indent="0">
              <a:buNone/>
            </a:pPr>
            <a:r>
              <a:rPr lang="zh-TW" altLang="en-US" sz="2800" dirty="0">
                <a:latin typeface="+mj-ea"/>
                <a:ea typeface="+mj-ea"/>
              </a:rPr>
              <a:t>      假設 </a:t>
            </a:r>
            <a:r>
              <a:rPr lang="en-US" altLang="zh-TW" sz="2800" dirty="0">
                <a:latin typeface="+mj-ea"/>
                <a:ea typeface="+mj-ea"/>
              </a:rPr>
              <a:t>SONY</a:t>
            </a:r>
            <a:r>
              <a:rPr lang="zh-TW" altLang="zh-TW" sz="2800" dirty="0">
                <a:latin typeface="+mj-ea"/>
                <a:ea typeface="+mj-ea"/>
              </a:rPr>
              <a:t>猜測</a:t>
            </a:r>
            <a:r>
              <a:rPr lang="en-US" altLang="zh-TW" sz="2800" dirty="0">
                <a:latin typeface="+mj-ea"/>
                <a:ea typeface="+mj-ea"/>
              </a:rPr>
              <a:t>Samsung</a:t>
            </a:r>
            <a:r>
              <a:rPr lang="zh-TW" altLang="zh-TW" sz="2800" dirty="0">
                <a:latin typeface="+mj-ea"/>
                <a:ea typeface="+mj-ea"/>
              </a:rPr>
              <a:t>是善意的機率為</a:t>
            </a:r>
            <a:r>
              <a:rPr lang="en-US" altLang="zh-TW" sz="2800" dirty="0">
                <a:latin typeface="+mj-ea"/>
                <a:ea typeface="+mj-ea"/>
              </a:rPr>
              <a:t>P</a:t>
            </a:r>
            <a:r>
              <a:rPr lang="zh-TW" altLang="zh-TW" sz="2800" dirty="0">
                <a:latin typeface="+mj-ea"/>
                <a:ea typeface="+mj-ea"/>
              </a:rPr>
              <a:t>；</a:t>
            </a:r>
            <a:r>
              <a:rPr lang="zh-TW" altLang="en-US" sz="2800" dirty="0">
                <a:latin typeface="+mj-ea"/>
                <a:ea typeface="+mj-ea"/>
              </a:rPr>
              <a:t> </a:t>
            </a:r>
            <a:endParaRPr lang="en-US" altLang="zh-TW" sz="2800" dirty="0">
              <a:latin typeface="+mj-ea"/>
              <a:ea typeface="+mj-ea"/>
            </a:endParaRPr>
          </a:p>
          <a:p>
            <a:pPr marL="45720" indent="0">
              <a:buNone/>
            </a:pPr>
            <a:r>
              <a:rPr lang="zh-TW" altLang="en-US" sz="2800" dirty="0">
                <a:latin typeface="+mj-ea"/>
                <a:ea typeface="+mj-ea"/>
              </a:rPr>
              <a:t>      </a:t>
            </a:r>
            <a:r>
              <a:rPr lang="zh-TW" altLang="zh-TW" sz="2800" dirty="0">
                <a:latin typeface="+mj-ea"/>
                <a:ea typeface="+mj-ea"/>
              </a:rPr>
              <a:t>是惡意的機率為</a:t>
            </a:r>
            <a:r>
              <a:rPr lang="en-US" altLang="zh-TW" sz="2800" dirty="0">
                <a:latin typeface="+mj-ea"/>
                <a:ea typeface="+mj-ea"/>
              </a:rPr>
              <a:t>1-P</a:t>
            </a:r>
            <a:r>
              <a:rPr lang="zh-TW" altLang="zh-TW" sz="2800" dirty="0">
                <a:latin typeface="+mj-ea"/>
                <a:ea typeface="+mj-ea"/>
              </a:rPr>
              <a:t>。</a:t>
            </a:r>
            <a:endParaRPr lang="en-US" altLang="zh-TW" sz="2800" dirty="0">
              <a:latin typeface="+mj-ea"/>
              <a:ea typeface="+mj-ea"/>
            </a:endParaRPr>
          </a:p>
          <a:p>
            <a:pPr marL="45720" indent="0">
              <a:buNone/>
            </a:pPr>
            <a:r>
              <a:rPr lang="en-US" altLang="zh-TW" sz="2800" dirty="0">
                <a:latin typeface="+mj-ea"/>
                <a:ea typeface="+mj-ea"/>
              </a:rPr>
              <a:t>2.</a:t>
            </a:r>
            <a:r>
              <a:rPr lang="zh-TW" altLang="zh-TW" sz="2800" dirty="0">
                <a:latin typeface="+mj-ea"/>
                <a:ea typeface="+mj-ea"/>
              </a:rPr>
              <a:t>但</a:t>
            </a:r>
            <a:r>
              <a:rPr lang="en-US" altLang="zh-TW" sz="2800" dirty="0">
                <a:latin typeface="+mj-ea"/>
                <a:ea typeface="+mj-ea"/>
              </a:rPr>
              <a:t>SONY</a:t>
            </a:r>
            <a:r>
              <a:rPr lang="zh-TW" altLang="zh-TW" sz="2800" dirty="0">
                <a:latin typeface="+mj-ea"/>
                <a:ea typeface="+mj-ea"/>
              </a:rPr>
              <a:t>也會修正其對</a:t>
            </a:r>
            <a:r>
              <a:rPr lang="en-US" altLang="zh-TW" sz="2800" dirty="0">
                <a:latin typeface="+mj-ea"/>
                <a:ea typeface="+mj-ea"/>
              </a:rPr>
              <a:t>Samsung</a:t>
            </a:r>
            <a:r>
              <a:rPr lang="zh-TW" altLang="zh-TW" sz="2800" dirty="0">
                <a:latin typeface="+mj-ea"/>
                <a:ea typeface="+mj-ea"/>
              </a:rPr>
              <a:t>發出邀請是</a:t>
            </a:r>
            <a:r>
              <a:rPr lang="zh-TW" altLang="en-US" sz="2800" dirty="0">
                <a:latin typeface="+mj-ea"/>
                <a:ea typeface="+mj-ea"/>
              </a:rPr>
              <a:t> </a:t>
            </a:r>
            <a:endParaRPr lang="en-US" altLang="zh-TW" sz="2800" dirty="0">
              <a:latin typeface="+mj-ea"/>
              <a:ea typeface="+mj-ea"/>
            </a:endParaRPr>
          </a:p>
          <a:p>
            <a:pPr marL="45720" indent="0">
              <a:buNone/>
            </a:pPr>
            <a:r>
              <a:rPr lang="zh-TW" altLang="en-US" sz="2800" dirty="0">
                <a:latin typeface="+mj-ea"/>
                <a:ea typeface="+mj-ea"/>
              </a:rPr>
              <a:t>  </a:t>
            </a:r>
            <a:r>
              <a:rPr lang="zh-TW" altLang="zh-TW" sz="2800" dirty="0">
                <a:latin typeface="+mj-ea"/>
                <a:ea typeface="+mj-ea"/>
              </a:rPr>
              <a:t>否具善意的主觀認知。</a:t>
            </a:r>
            <a:endParaRPr lang="en-US" altLang="zh-TW" sz="2800" dirty="0">
              <a:latin typeface="+mj-ea"/>
              <a:ea typeface="+mj-ea"/>
            </a:endParaRPr>
          </a:p>
          <a:p>
            <a:pPr marL="45720" indent="0">
              <a:buNone/>
            </a:pPr>
            <a:r>
              <a:rPr lang="zh-TW" altLang="en-US" sz="2800" dirty="0">
                <a:latin typeface="+mj-ea"/>
                <a:ea typeface="+mj-ea"/>
              </a:rPr>
              <a:t>  </a:t>
            </a:r>
            <a:r>
              <a:rPr lang="zh-TW" altLang="zh-TW" sz="2800" dirty="0">
                <a:latin typeface="+mj-ea"/>
                <a:ea typeface="+mj-ea"/>
              </a:rPr>
              <a:t>假設此修正後認定</a:t>
            </a:r>
            <a:r>
              <a:rPr lang="en-US" altLang="zh-TW" sz="2800" dirty="0">
                <a:latin typeface="+mj-ea"/>
                <a:ea typeface="+mj-ea"/>
              </a:rPr>
              <a:t>Samsung</a:t>
            </a:r>
            <a:r>
              <a:rPr lang="zh-TW" altLang="zh-TW" sz="2800" dirty="0">
                <a:latin typeface="+mj-ea"/>
                <a:ea typeface="+mj-ea"/>
              </a:rPr>
              <a:t>是善意的機率為</a:t>
            </a:r>
            <a:r>
              <a:rPr lang="en-US" altLang="zh-TW" sz="2800" dirty="0">
                <a:latin typeface="+mj-ea"/>
                <a:ea typeface="+mj-ea"/>
              </a:rPr>
              <a:t>q</a:t>
            </a:r>
            <a:r>
              <a:rPr lang="zh-TW" altLang="zh-TW" sz="2800" dirty="0">
                <a:latin typeface="+mj-ea"/>
                <a:ea typeface="+mj-ea"/>
              </a:rPr>
              <a:t>；</a:t>
            </a:r>
            <a:endParaRPr lang="en-US" altLang="zh-TW" sz="2800" dirty="0">
              <a:latin typeface="+mj-ea"/>
              <a:ea typeface="+mj-ea"/>
            </a:endParaRPr>
          </a:p>
          <a:p>
            <a:pPr marL="45720" indent="0">
              <a:buNone/>
            </a:pPr>
            <a:r>
              <a:rPr lang="zh-TW" altLang="en-US" sz="2800" dirty="0">
                <a:latin typeface="+mj-ea"/>
                <a:ea typeface="+mj-ea"/>
              </a:rPr>
              <a:t>  </a:t>
            </a:r>
            <a:r>
              <a:rPr lang="zh-TW" altLang="zh-TW" sz="2800" dirty="0">
                <a:latin typeface="+mj-ea"/>
                <a:ea typeface="+mj-ea"/>
              </a:rPr>
              <a:t>惡意的機率為</a:t>
            </a:r>
            <a:r>
              <a:rPr lang="en-US" altLang="zh-TW" sz="2800" dirty="0">
                <a:latin typeface="+mj-ea"/>
                <a:ea typeface="+mj-ea"/>
              </a:rPr>
              <a:t>1-q</a:t>
            </a:r>
            <a:r>
              <a:rPr lang="zh-TW" altLang="zh-TW" sz="2800" dirty="0">
                <a:latin typeface="+mj-ea"/>
                <a:ea typeface="+mj-ea"/>
              </a:rPr>
              <a:t>。</a:t>
            </a:r>
            <a:endParaRPr lang="en-US" altLang="zh-TW" sz="2800" dirty="0">
              <a:latin typeface="+mj-ea"/>
              <a:ea typeface="+mj-ea"/>
            </a:endParaRPr>
          </a:p>
          <a:p>
            <a:endParaRPr lang="zh-TW" altLang="en-US" sz="2800" dirty="0"/>
          </a:p>
        </p:txBody>
      </p:sp>
    </p:spTree>
    <p:extLst>
      <p:ext uri="{BB962C8B-B14F-4D97-AF65-F5344CB8AC3E}">
        <p14:creationId xmlns:p14="http://schemas.microsoft.com/office/powerpoint/2010/main" val="2768543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 name="矩形 21"/>
              <p:cNvSpPr/>
              <p:nvPr/>
            </p:nvSpPr>
            <p:spPr>
              <a:xfrm>
                <a:off x="323528" y="476672"/>
                <a:ext cx="8568952" cy="5809283"/>
              </a:xfrm>
              <a:prstGeom prst="rect">
                <a:avLst/>
              </a:prstGeom>
            </p:spPr>
            <p:txBody>
              <a:bodyPr wrap="square">
                <a:spAutoFit/>
              </a:bodyPr>
              <a:lstStyle/>
              <a:p>
                <a:pPr algn="just">
                  <a:lnSpc>
                    <a:spcPct val="150000"/>
                  </a:lnSpc>
                  <a:spcAft>
                    <a:spcPts val="0"/>
                  </a:spcAft>
                </a:pPr>
                <a:r>
                  <a:rPr lang="en-US" altLang="zh-TW" sz="2400" kern="100" dirty="0">
                    <a:latin typeface="+mj-ea"/>
                    <a:ea typeface="+mj-ea"/>
                    <a:cs typeface="Times New Roman" panose="02020603050405020304" pitchFamily="18" charset="0"/>
                  </a:rPr>
                  <a:t>3</a:t>
                </a:r>
                <a:r>
                  <a:rPr lang="en-US" altLang="zh-TW" kern="100" dirty="0">
                    <a:latin typeface="+mj-ea"/>
                    <a:ea typeface="+mj-ea"/>
                    <a:cs typeface="Times New Roman" panose="02020603050405020304" pitchFamily="18" charset="0"/>
                  </a:rPr>
                  <a:t>. </a:t>
                </a:r>
                <a:r>
                  <a:rPr lang="zh-TW" altLang="zh-TW" sz="2400" kern="100" dirty="0">
                    <a:latin typeface="+mj-ea"/>
                    <a:ea typeface="+mj-ea"/>
                    <a:cs typeface="Times New Roman" panose="02020603050405020304" pitchFamily="18" charset="0"/>
                  </a:rPr>
                  <a:t>依照序列理性的條件，對</a:t>
                </a:r>
                <a:r>
                  <a:rPr lang="en-US" altLang="zh-TW" sz="2400" kern="100" dirty="0">
                    <a:latin typeface="+mj-ea"/>
                    <a:ea typeface="+mj-ea"/>
                    <a:cs typeface="Times New Roman" panose="02020603050405020304" pitchFamily="18" charset="0"/>
                  </a:rPr>
                  <a:t>SONY</a:t>
                </a:r>
                <a:r>
                  <a:rPr lang="zh-TW" altLang="zh-TW" sz="2400" kern="100" dirty="0">
                    <a:latin typeface="+mj-ea"/>
                    <a:ea typeface="+mj-ea"/>
                    <a:cs typeface="Times New Roman" panose="02020603050405020304" pitchFamily="18" charset="0"/>
                  </a:rPr>
                  <a:t>而言，他對於</a:t>
                </a:r>
                <a:r>
                  <a:rPr lang="en-US" altLang="zh-TW" sz="2400" kern="100" dirty="0">
                    <a:latin typeface="+mj-ea"/>
                    <a:ea typeface="+mj-ea"/>
                    <a:cs typeface="Times New Roman" panose="02020603050405020304" pitchFamily="18" charset="0"/>
                  </a:rPr>
                  <a:t>Samsung</a:t>
                </a:r>
                <a:r>
                  <a:rPr lang="zh-TW" altLang="zh-TW" sz="2400" kern="100" dirty="0">
                    <a:latin typeface="+mj-ea"/>
                    <a:ea typeface="+mj-ea"/>
                    <a:cs typeface="Times New Roman" panose="02020603050405020304" pitchFamily="18" charset="0"/>
                  </a:rPr>
                  <a:t>的合作</a:t>
                </a:r>
                <a:endParaRPr lang="en-US" altLang="zh-TW" sz="2400" kern="100" dirty="0">
                  <a:latin typeface="+mj-ea"/>
                  <a:ea typeface="+mj-ea"/>
                  <a:cs typeface="Times New Roman" panose="02020603050405020304" pitchFamily="18" charset="0"/>
                </a:endParaRPr>
              </a:p>
              <a:p>
                <a:pPr algn="just">
                  <a:lnSpc>
                    <a:spcPct val="150000"/>
                  </a:lnSpc>
                  <a:spcAft>
                    <a:spcPts val="0"/>
                  </a:spcAft>
                </a:pPr>
                <a:r>
                  <a:rPr lang="en-US" altLang="zh-TW" sz="2400" kern="100" dirty="0">
                    <a:latin typeface="+mj-ea"/>
                    <a:ea typeface="+mj-ea"/>
                    <a:cs typeface="Times New Roman" panose="02020603050405020304" pitchFamily="18" charset="0"/>
                  </a:rPr>
                  <a:t>    </a:t>
                </a:r>
                <a:r>
                  <a:rPr lang="zh-TW" altLang="zh-TW" sz="2400" kern="100" dirty="0">
                    <a:latin typeface="+mj-ea"/>
                    <a:ea typeface="+mj-ea"/>
                    <a:cs typeface="Times New Roman" panose="02020603050405020304" pitchFamily="18" charset="0"/>
                  </a:rPr>
                  <a:t>邀請，若</a:t>
                </a:r>
                <a:r>
                  <a:rPr lang="en-US" altLang="zh-TW" sz="2400" kern="100" dirty="0">
                    <a:latin typeface="+mj-ea"/>
                    <a:ea typeface="+mj-ea"/>
                    <a:cs typeface="Times New Roman" panose="02020603050405020304" pitchFamily="18" charset="0"/>
                  </a:rPr>
                  <a:t>Samsung </a:t>
                </a:r>
                <a:r>
                  <a:rPr lang="zh-TW" altLang="zh-TW" sz="2400" kern="100" dirty="0">
                    <a:latin typeface="+mj-ea"/>
                    <a:ea typeface="+mj-ea"/>
                    <a:cs typeface="Times New Roman" panose="02020603050405020304" pitchFamily="18" charset="0"/>
                  </a:rPr>
                  <a:t>是善意，而他接受的收益為</a:t>
                </a:r>
                <a:r>
                  <a:rPr lang="en-US" altLang="zh-TW" sz="2400" kern="100" dirty="0">
                    <a:latin typeface="+mj-ea"/>
                    <a:ea typeface="+mj-ea"/>
                    <a:cs typeface="Times New Roman" panose="02020603050405020304" pitchFamily="18" charset="0"/>
                  </a:rPr>
                  <a:t>1x q</a:t>
                </a:r>
                <a:r>
                  <a:rPr lang="zh-TW" altLang="zh-TW" sz="2400" kern="100" dirty="0">
                    <a:latin typeface="+mj-ea"/>
                    <a:ea typeface="+mj-ea"/>
                    <a:cs typeface="Times New Roman" panose="02020603050405020304" pitchFamily="18" charset="0"/>
                  </a:rPr>
                  <a:t>；若</a:t>
                </a:r>
                <a:endParaRPr lang="en-US" altLang="zh-TW" sz="2400" kern="100" dirty="0">
                  <a:latin typeface="+mj-ea"/>
                  <a:ea typeface="+mj-ea"/>
                  <a:cs typeface="Times New Roman" panose="02020603050405020304" pitchFamily="18" charset="0"/>
                </a:endParaRPr>
              </a:p>
              <a:p>
                <a:pPr algn="just">
                  <a:lnSpc>
                    <a:spcPct val="150000"/>
                  </a:lnSpc>
                  <a:spcAft>
                    <a:spcPts val="0"/>
                  </a:spcAft>
                </a:pPr>
                <a:r>
                  <a:rPr lang="en-US" altLang="zh-TW" sz="2400" kern="100" dirty="0">
                    <a:latin typeface="+mj-ea"/>
                    <a:ea typeface="+mj-ea"/>
                    <a:cs typeface="Times New Roman" panose="02020603050405020304" pitchFamily="18" charset="0"/>
                  </a:rPr>
                  <a:t>    Samsung</a:t>
                </a:r>
                <a:r>
                  <a:rPr lang="zh-TW" altLang="zh-TW" sz="2400" kern="100" dirty="0">
                    <a:latin typeface="+mj-ea"/>
                    <a:ea typeface="+mj-ea"/>
                    <a:cs typeface="Times New Roman" panose="02020603050405020304" pitchFamily="18" charset="0"/>
                  </a:rPr>
                  <a:t>是惡意，而他也接受的收益是</a:t>
                </a:r>
                <a:r>
                  <a:rPr lang="en-US" altLang="zh-TW" sz="2400" kern="100" dirty="0">
                    <a:latin typeface="+mj-ea"/>
                    <a:ea typeface="+mj-ea"/>
                    <a:cs typeface="Times New Roman" panose="02020603050405020304" pitchFamily="18" charset="0"/>
                  </a:rPr>
                  <a:t>-1x(1-q)</a:t>
                </a:r>
                <a:r>
                  <a:rPr lang="zh-TW" altLang="zh-TW" sz="2400" kern="100" dirty="0">
                    <a:latin typeface="+mj-ea"/>
                    <a:ea typeface="+mj-ea"/>
                    <a:cs typeface="Times New Roman" panose="02020603050405020304" pitchFamily="18" charset="0"/>
                  </a:rPr>
                  <a:t>，故</a:t>
                </a:r>
                <a:r>
                  <a:rPr lang="en-US" altLang="zh-TW" sz="2400" kern="100" dirty="0">
                    <a:latin typeface="+mj-ea"/>
                    <a:ea typeface="+mj-ea"/>
                    <a:cs typeface="Times New Roman" panose="02020603050405020304" pitchFamily="18" charset="0"/>
                  </a:rPr>
                  <a:t>SONY</a:t>
                </a:r>
                <a:r>
                  <a:rPr lang="zh-TW" altLang="zh-TW" sz="2400" kern="100" dirty="0">
                    <a:latin typeface="+mj-ea"/>
                    <a:ea typeface="+mj-ea"/>
                    <a:cs typeface="Times New Roman" panose="02020603050405020304" pitchFamily="18" charset="0"/>
                  </a:rPr>
                  <a:t>採</a:t>
                </a:r>
                <a:endParaRPr lang="en-US" altLang="zh-TW" sz="2400" kern="100" dirty="0">
                  <a:latin typeface="+mj-ea"/>
                  <a:ea typeface="+mj-ea"/>
                  <a:cs typeface="Times New Roman" panose="02020603050405020304" pitchFamily="18" charset="0"/>
                </a:endParaRPr>
              </a:p>
              <a:p>
                <a:pPr algn="just">
                  <a:lnSpc>
                    <a:spcPct val="150000"/>
                  </a:lnSpc>
                  <a:spcAft>
                    <a:spcPts val="0"/>
                  </a:spcAft>
                </a:pPr>
                <a:r>
                  <a:rPr lang="zh-TW" altLang="en-US" sz="2400" kern="100" dirty="0">
                    <a:latin typeface="+mj-ea"/>
                    <a:ea typeface="+mj-ea"/>
                    <a:cs typeface="Times New Roman" panose="02020603050405020304" pitchFamily="18" charset="0"/>
                  </a:rPr>
                  <a:t>    </a:t>
                </a:r>
                <a:r>
                  <a:rPr lang="zh-TW" altLang="zh-TW" sz="2400" kern="100" dirty="0">
                    <a:latin typeface="+mj-ea"/>
                    <a:ea typeface="+mj-ea"/>
                    <a:cs typeface="Times New Roman" panose="02020603050405020304" pitchFamily="18" charset="0"/>
                  </a:rPr>
                  <a:t>接受的收益為</a:t>
                </a:r>
                <a:r>
                  <a:rPr lang="en-US" altLang="zh-TW" sz="2400" kern="100" dirty="0">
                    <a:latin typeface="+mj-ea"/>
                    <a:ea typeface="+mj-ea"/>
                    <a:cs typeface="Times New Roman" panose="02020603050405020304" pitchFamily="18" charset="0"/>
                  </a:rPr>
                  <a:t>q+(-1)x(1-q)=2q-1</a:t>
                </a:r>
                <a:r>
                  <a:rPr lang="zh-TW" altLang="zh-TW" sz="2400" kern="100" dirty="0">
                    <a:latin typeface="+mj-ea"/>
                    <a:ea typeface="+mj-ea"/>
                    <a:cs typeface="Times New Roman" panose="02020603050405020304" pitchFamily="18" charset="0"/>
                  </a:rPr>
                  <a:t>。</a:t>
                </a:r>
                <a:endParaRPr lang="en-US" altLang="zh-TW" sz="2400" kern="100" dirty="0">
                  <a:latin typeface="+mj-ea"/>
                  <a:ea typeface="+mj-ea"/>
                  <a:cs typeface="Times New Roman" panose="02020603050405020304" pitchFamily="18" charset="0"/>
                </a:endParaRPr>
              </a:p>
              <a:p>
                <a:pPr algn="just">
                  <a:lnSpc>
                    <a:spcPct val="150000"/>
                  </a:lnSpc>
                  <a:spcAft>
                    <a:spcPts val="0"/>
                  </a:spcAft>
                </a:pPr>
                <a:r>
                  <a:rPr lang="en-US" altLang="zh-TW" sz="2400" kern="100" dirty="0">
                    <a:latin typeface="+mj-ea"/>
                    <a:ea typeface="+mj-ea"/>
                    <a:cs typeface="Times New Roman" panose="02020603050405020304" pitchFamily="18" charset="0"/>
                  </a:rPr>
                  <a:t>4. </a:t>
                </a:r>
                <a:r>
                  <a:rPr lang="zh-TW" altLang="zh-TW" sz="2400" dirty="0">
                    <a:latin typeface="+mj-ea"/>
                    <a:ea typeface="+mj-ea"/>
                    <a:cs typeface="Times New Roman" panose="02020603050405020304" pitchFamily="18" charset="0"/>
                  </a:rPr>
                  <a:t>因此，只要</a:t>
                </a:r>
                <a:r>
                  <a:rPr lang="en-US" altLang="zh-TW" sz="2400" dirty="0">
                    <a:latin typeface="+mj-ea"/>
                    <a:ea typeface="+mj-ea"/>
                    <a:cs typeface="Times New Roman" panose="02020603050405020304" pitchFamily="18" charset="0"/>
                  </a:rPr>
                  <a:t>SONY</a:t>
                </a:r>
                <a:r>
                  <a:rPr lang="zh-TW" altLang="zh-TW" sz="2400" dirty="0">
                    <a:latin typeface="+mj-ea"/>
                    <a:ea typeface="+mj-ea"/>
                    <a:cs typeface="Times New Roman" panose="02020603050405020304" pitchFamily="18" charset="0"/>
                  </a:rPr>
                  <a:t>接受的收益大過不接受的收益，即</a:t>
                </a:r>
                <a:r>
                  <a:rPr lang="en-US" altLang="zh-TW" sz="2400" dirty="0">
                    <a:latin typeface="+mj-ea"/>
                    <a:ea typeface="+mj-ea"/>
                    <a:cs typeface="Times New Roman" panose="02020603050405020304" pitchFamily="18" charset="0"/>
                  </a:rPr>
                  <a:t>2q-1 &gt; 0</a:t>
                </a:r>
                <a:r>
                  <a:rPr lang="zh-TW" altLang="zh-TW" sz="2400" dirty="0">
                    <a:latin typeface="+mj-ea"/>
                    <a:ea typeface="+mj-ea"/>
                    <a:cs typeface="Times New Roman" panose="02020603050405020304" pitchFamily="18" charset="0"/>
                  </a:rPr>
                  <a:t>，</a:t>
                </a:r>
                <a:endParaRPr lang="en-US" altLang="zh-TW" sz="2400" dirty="0">
                  <a:latin typeface="+mj-ea"/>
                  <a:ea typeface="+mj-ea"/>
                  <a:cs typeface="Times New Roman" panose="02020603050405020304" pitchFamily="18" charset="0"/>
                </a:endParaRPr>
              </a:p>
              <a:p>
                <a:pPr algn="just">
                  <a:lnSpc>
                    <a:spcPct val="150000"/>
                  </a:lnSpc>
                  <a:spcAft>
                    <a:spcPts val="0"/>
                  </a:spcAft>
                </a:pPr>
                <a:r>
                  <a:rPr lang="en-US" altLang="zh-TW" sz="2400" dirty="0">
                    <a:latin typeface="+mj-ea"/>
                    <a:ea typeface="+mj-ea"/>
                    <a:cs typeface="Times New Roman" panose="02020603050405020304" pitchFamily="18" charset="0"/>
                  </a:rPr>
                  <a:t>    q &gt; </a:t>
                </a:r>
                <a14:m>
                  <m:oMath xmlns:m="http://schemas.openxmlformats.org/officeDocument/2006/math">
                    <m:f>
                      <m:fPr>
                        <m:ctrlPr>
                          <a:rPr lang="zh-TW" altLang="zh-TW" sz="2400" i="1">
                            <a:effectLst/>
                            <a:latin typeface="Cambria Math" panose="02040503050406030204" pitchFamily="18" charset="0"/>
                            <a:ea typeface="+mj-ea"/>
                          </a:rPr>
                        </m:ctrlPr>
                      </m:fPr>
                      <m:num>
                        <m:r>
                          <a:rPr lang="en-US" altLang="zh-TW" sz="2400">
                            <a:latin typeface="Cambria Math" panose="02040503050406030204" pitchFamily="18" charset="0"/>
                            <a:ea typeface="+mj-ea"/>
                            <a:cs typeface="Times New Roman" panose="02020603050405020304" pitchFamily="18" charset="0"/>
                          </a:rPr>
                          <m:t>1</m:t>
                        </m:r>
                      </m:num>
                      <m:den>
                        <m:r>
                          <a:rPr lang="en-US" altLang="zh-TW" sz="2400">
                            <a:latin typeface="Cambria Math" panose="02040503050406030204" pitchFamily="18" charset="0"/>
                            <a:ea typeface="+mj-ea"/>
                            <a:cs typeface="Times New Roman" panose="02020603050405020304" pitchFamily="18" charset="0"/>
                          </a:rPr>
                          <m:t>2</m:t>
                        </m:r>
                      </m:den>
                    </m:f>
                  </m:oMath>
                </a14:m>
                <a:r>
                  <a:rPr lang="en-US" altLang="zh-TW" sz="2400" dirty="0">
                    <a:effectLst/>
                    <a:latin typeface="+mj-ea"/>
                    <a:ea typeface="+mj-ea"/>
                    <a:cs typeface="Times New Roman" panose="02020603050405020304" pitchFamily="18" charset="0"/>
                  </a:rPr>
                  <a:t> </a:t>
                </a:r>
                <a:r>
                  <a:rPr lang="zh-TW" altLang="zh-TW" sz="2400" dirty="0">
                    <a:latin typeface="+mj-ea"/>
                    <a:ea typeface="+mj-ea"/>
                    <a:cs typeface="Times New Roman" panose="02020603050405020304" pitchFamily="18" charset="0"/>
                  </a:rPr>
                  <a:t>，</a:t>
                </a:r>
                <a:r>
                  <a:rPr lang="en-US" altLang="zh-TW" sz="2400" dirty="0">
                    <a:latin typeface="+mj-ea"/>
                    <a:ea typeface="+mj-ea"/>
                    <a:cs typeface="Times New Roman" panose="02020603050405020304" pitchFamily="18" charset="0"/>
                  </a:rPr>
                  <a:t>SONY</a:t>
                </a:r>
                <a:r>
                  <a:rPr lang="zh-TW" altLang="zh-TW" sz="2400" dirty="0">
                    <a:latin typeface="+mj-ea"/>
                    <a:ea typeface="+mj-ea"/>
                    <a:cs typeface="Times New Roman" panose="02020603050405020304" pitchFamily="18" charset="0"/>
                  </a:rPr>
                  <a:t>會選擇與</a:t>
                </a:r>
                <a:r>
                  <a:rPr lang="en-US" altLang="zh-TW" sz="2400" dirty="0">
                    <a:latin typeface="+mj-ea"/>
                    <a:ea typeface="+mj-ea"/>
                    <a:cs typeface="Times New Roman" panose="02020603050405020304" pitchFamily="18" charset="0"/>
                  </a:rPr>
                  <a:t>Samsung</a:t>
                </a:r>
                <a:r>
                  <a:rPr lang="zh-TW" altLang="zh-TW" sz="2400" dirty="0">
                    <a:latin typeface="+mj-ea"/>
                    <a:ea typeface="+mj-ea"/>
                    <a:cs typeface="Times New Roman" panose="02020603050405020304" pitchFamily="18" charset="0"/>
                  </a:rPr>
                  <a:t>合作。</a:t>
                </a:r>
                <a:endParaRPr lang="en-US" altLang="zh-TW" sz="2400" dirty="0">
                  <a:latin typeface="+mj-ea"/>
                  <a:ea typeface="+mj-ea"/>
                  <a:cs typeface="Times New Roman" panose="02020603050405020304" pitchFamily="18" charset="0"/>
                </a:endParaRPr>
              </a:p>
              <a:p>
                <a:pPr algn="just">
                  <a:lnSpc>
                    <a:spcPct val="150000"/>
                  </a:lnSpc>
                  <a:spcAft>
                    <a:spcPts val="0"/>
                  </a:spcAft>
                </a:pPr>
                <a:r>
                  <a:rPr lang="en-US" altLang="zh-TW" sz="2400" dirty="0">
                    <a:latin typeface="+mj-ea"/>
                    <a:ea typeface="+mj-ea"/>
                    <a:cs typeface="Times New Roman" panose="02020603050405020304" pitchFamily="18" charset="0"/>
                  </a:rPr>
                  <a:t>    </a:t>
                </a:r>
                <a:r>
                  <a:rPr lang="zh-TW" altLang="zh-TW" sz="2400" dirty="0">
                    <a:latin typeface="+mj-ea"/>
                    <a:ea typeface="+mj-ea"/>
                    <a:cs typeface="Times New Roman" panose="02020603050405020304" pitchFamily="18" charset="0"/>
                  </a:rPr>
                  <a:t>換言之，只要</a:t>
                </a:r>
                <a:r>
                  <a:rPr lang="en-US" altLang="zh-TW" sz="2400" dirty="0">
                    <a:latin typeface="+mj-ea"/>
                    <a:ea typeface="+mj-ea"/>
                    <a:cs typeface="Times New Roman" panose="02020603050405020304" pitchFamily="18" charset="0"/>
                  </a:rPr>
                  <a:t>SONY </a:t>
                </a:r>
                <a:r>
                  <a:rPr lang="zh-TW" altLang="zh-TW" sz="2400" dirty="0">
                    <a:latin typeface="+mj-ea"/>
                    <a:ea typeface="+mj-ea"/>
                    <a:cs typeface="Times New Roman" panose="02020603050405020304" pitchFamily="18" charset="0"/>
                  </a:rPr>
                  <a:t>對</a:t>
                </a:r>
                <a:r>
                  <a:rPr lang="en-US" altLang="zh-TW" sz="2400" dirty="0">
                    <a:latin typeface="+mj-ea"/>
                    <a:ea typeface="+mj-ea"/>
                    <a:cs typeface="Times New Roman" panose="02020603050405020304" pitchFamily="18" charset="0"/>
                  </a:rPr>
                  <a:t>Samsung</a:t>
                </a:r>
                <a:r>
                  <a:rPr lang="zh-TW" altLang="zh-TW" sz="2400" dirty="0">
                    <a:latin typeface="+mj-ea"/>
                    <a:ea typeface="+mj-ea"/>
                    <a:cs typeface="Times New Roman" panose="02020603050405020304" pitchFamily="18" charset="0"/>
                  </a:rPr>
                  <a:t>邀約合作是善意的修正認知</a:t>
                </a:r>
                <a:endParaRPr lang="en-US" altLang="zh-TW" sz="2400" dirty="0">
                  <a:latin typeface="+mj-ea"/>
                  <a:ea typeface="+mj-ea"/>
                  <a:cs typeface="Times New Roman" panose="02020603050405020304" pitchFamily="18" charset="0"/>
                </a:endParaRPr>
              </a:p>
              <a:p>
                <a:pPr algn="just">
                  <a:lnSpc>
                    <a:spcPct val="150000"/>
                  </a:lnSpc>
                  <a:spcAft>
                    <a:spcPts val="0"/>
                  </a:spcAft>
                </a:pPr>
                <a:r>
                  <a:rPr lang="en-US" altLang="zh-TW" sz="2400" dirty="0">
                    <a:latin typeface="+mj-ea"/>
                    <a:ea typeface="+mj-ea"/>
                    <a:cs typeface="Times New Roman" panose="02020603050405020304" pitchFamily="18" charset="0"/>
                  </a:rPr>
                  <a:t>    </a:t>
                </a:r>
                <a:r>
                  <a:rPr lang="zh-TW" altLang="zh-TW" sz="2400" dirty="0">
                    <a:latin typeface="+mj-ea"/>
                    <a:ea typeface="+mj-ea"/>
                    <a:cs typeface="Times New Roman" panose="02020603050405020304" pitchFamily="18" charset="0"/>
                  </a:rPr>
                  <a:t>機率</a:t>
                </a:r>
                <a:r>
                  <a:rPr lang="en-US" altLang="zh-TW" sz="2400" dirty="0">
                    <a:latin typeface="+mj-ea"/>
                    <a:ea typeface="+mj-ea"/>
                    <a:cs typeface="Times New Roman" panose="02020603050405020304" pitchFamily="18" charset="0"/>
                  </a:rPr>
                  <a:t>q &gt; </a:t>
                </a:r>
                <a14:m>
                  <m:oMath xmlns:m="http://schemas.openxmlformats.org/officeDocument/2006/math">
                    <m:f>
                      <m:fPr>
                        <m:ctrlPr>
                          <a:rPr lang="zh-TW" altLang="zh-TW" sz="2400" i="1">
                            <a:effectLst/>
                            <a:latin typeface="Cambria Math" panose="02040503050406030204" pitchFamily="18" charset="0"/>
                            <a:ea typeface="+mj-ea"/>
                          </a:rPr>
                        </m:ctrlPr>
                      </m:fPr>
                      <m:num>
                        <m:r>
                          <a:rPr lang="en-US" altLang="zh-TW" sz="2400">
                            <a:latin typeface="Cambria Math" panose="02040503050406030204" pitchFamily="18" charset="0"/>
                            <a:ea typeface="+mj-ea"/>
                            <a:cs typeface="Times New Roman" panose="02020603050405020304" pitchFamily="18" charset="0"/>
                          </a:rPr>
                          <m:t>1</m:t>
                        </m:r>
                      </m:num>
                      <m:den>
                        <m:r>
                          <a:rPr lang="en-US" altLang="zh-TW" sz="2400">
                            <a:latin typeface="Cambria Math" panose="02040503050406030204" pitchFamily="18" charset="0"/>
                            <a:ea typeface="+mj-ea"/>
                            <a:cs typeface="Times New Roman" panose="02020603050405020304" pitchFamily="18" charset="0"/>
                          </a:rPr>
                          <m:t>2</m:t>
                        </m:r>
                      </m:den>
                    </m:f>
                  </m:oMath>
                </a14:m>
                <a:r>
                  <a:rPr lang="en-US" altLang="zh-TW" sz="2400" dirty="0">
                    <a:effectLst/>
                    <a:latin typeface="+mj-ea"/>
                    <a:ea typeface="+mj-ea"/>
                    <a:cs typeface="Times New Roman" panose="02020603050405020304" pitchFamily="18" charset="0"/>
                  </a:rPr>
                  <a:t> </a:t>
                </a:r>
                <a:r>
                  <a:rPr lang="zh-TW" altLang="zh-TW" sz="2400" dirty="0">
                    <a:latin typeface="+mj-ea"/>
                    <a:ea typeface="+mj-ea"/>
                    <a:cs typeface="Times New Roman" panose="02020603050405020304" pitchFamily="18" charset="0"/>
                  </a:rPr>
                  <a:t>，</a:t>
                </a:r>
                <a:r>
                  <a:rPr lang="en-US" altLang="zh-TW" sz="2400" dirty="0">
                    <a:latin typeface="+mj-ea"/>
                    <a:ea typeface="+mj-ea"/>
                    <a:cs typeface="Times New Roman" panose="02020603050405020304" pitchFamily="18" charset="0"/>
                  </a:rPr>
                  <a:t>SONY</a:t>
                </a:r>
                <a:r>
                  <a:rPr lang="zh-TW" altLang="zh-TW" sz="2400" dirty="0">
                    <a:latin typeface="+mj-ea"/>
                    <a:ea typeface="+mj-ea"/>
                    <a:cs typeface="Times New Roman" panose="02020603050405020304" pitchFamily="18" charset="0"/>
                  </a:rPr>
                  <a:t>就會與</a:t>
                </a:r>
                <a:r>
                  <a:rPr lang="en-US" altLang="zh-TW" sz="2400" dirty="0">
                    <a:latin typeface="+mj-ea"/>
                    <a:ea typeface="+mj-ea"/>
                    <a:cs typeface="Times New Roman" panose="02020603050405020304" pitchFamily="18" charset="0"/>
                  </a:rPr>
                  <a:t>Samsung</a:t>
                </a:r>
                <a:r>
                  <a:rPr lang="zh-TW" altLang="zh-TW" sz="2400" dirty="0">
                    <a:latin typeface="+mj-ea"/>
                    <a:ea typeface="+mj-ea"/>
                    <a:cs typeface="Times New Roman" panose="02020603050405020304" pitchFamily="18" charset="0"/>
                  </a:rPr>
                  <a:t>合作。</a:t>
                </a:r>
                <a:endParaRPr lang="en-US" altLang="zh-TW" sz="2400" dirty="0">
                  <a:latin typeface="+mj-ea"/>
                  <a:ea typeface="+mj-ea"/>
                  <a:cs typeface="Times New Roman" panose="02020603050405020304" pitchFamily="18" charset="0"/>
                </a:endParaRPr>
              </a:p>
              <a:p>
                <a:pPr algn="just">
                  <a:lnSpc>
                    <a:spcPct val="150000"/>
                  </a:lnSpc>
                  <a:spcAft>
                    <a:spcPts val="0"/>
                  </a:spcAft>
                </a:pPr>
                <a:r>
                  <a:rPr lang="en-US" altLang="zh-TW" sz="2400" dirty="0">
                    <a:latin typeface="+mj-ea"/>
                    <a:ea typeface="+mj-ea"/>
                    <a:cs typeface="Times New Roman" panose="02020603050405020304" pitchFamily="18" charset="0"/>
                  </a:rPr>
                  <a:t>    </a:t>
                </a:r>
                <a:r>
                  <a:rPr lang="zh-TW" altLang="zh-TW" sz="2400" dirty="0">
                    <a:latin typeface="+mj-ea"/>
                    <a:ea typeface="+mj-ea"/>
                    <a:cs typeface="Times New Roman" panose="02020603050405020304" pitchFamily="18" charset="0"/>
                  </a:rPr>
                  <a:t>反之，若</a:t>
                </a:r>
                <a:r>
                  <a:rPr lang="en-US" altLang="zh-TW" sz="2400" dirty="0">
                    <a:latin typeface="+mj-ea"/>
                    <a:ea typeface="+mj-ea"/>
                    <a:cs typeface="Times New Roman" panose="02020603050405020304" pitchFamily="18" charset="0"/>
                  </a:rPr>
                  <a:t>q &lt; </a:t>
                </a:r>
                <a14:m>
                  <m:oMath xmlns:m="http://schemas.openxmlformats.org/officeDocument/2006/math">
                    <m:f>
                      <m:fPr>
                        <m:ctrlPr>
                          <a:rPr lang="zh-TW" altLang="zh-TW" sz="2400" i="1">
                            <a:effectLst/>
                            <a:latin typeface="Cambria Math" panose="02040503050406030204" pitchFamily="18" charset="0"/>
                            <a:ea typeface="+mj-ea"/>
                          </a:rPr>
                        </m:ctrlPr>
                      </m:fPr>
                      <m:num>
                        <m:r>
                          <a:rPr lang="en-US" altLang="zh-TW" sz="2400">
                            <a:latin typeface="Cambria Math" panose="02040503050406030204" pitchFamily="18" charset="0"/>
                            <a:ea typeface="+mj-ea"/>
                            <a:cs typeface="Times New Roman" panose="02020603050405020304" pitchFamily="18" charset="0"/>
                          </a:rPr>
                          <m:t>1</m:t>
                        </m:r>
                      </m:num>
                      <m:den>
                        <m:r>
                          <a:rPr lang="en-US" altLang="zh-TW" sz="2400">
                            <a:latin typeface="Cambria Math" panose="02040503050406030204" pitchFamily="18" charset="0"/>
                            <a:ea typeface="+mj-ea"/>
                            <a:cs typeface="Times New Roman" panose="02020603050405020304" pitchFamily="18" charset="0"/>
                          </a:rPr>
                          <m:t>2</m:t>
                        </m:r>
                      </m:den>
                    </m:f>
                  </m:oMath>
                </a14:m>
                <a:r>
                  <a:rPr lang="en-US" altLang="zh-TW" sz="2400" dirty="0">
                    <a:latin typeface="+mj-ea"/>
                    <a:ea typeface="+mj-ea"/>
                    <a:cs typeface="Times New Roman" panose="02020603050405020304" pitchFamily="18" charset="0"/>
                  </a:rPr>
                  <a:t> </a:t>
                </a:r>
                <a:r>
                  <a:rPr lang="zh-TW" altLang="zh-TW" sz="2400" dirty="0">
                    <a:latin typeface="+mj-ea"/>
                    <a:ea typeface="+mj-ea"/>
                    <a:cs typeface="Times New Roman" panose="02020603050405020304" pitchFamily="18" charset="0"/>
                  </a:rPr>
                  <a:t>，</a:t>
                </a:r>
                <a:r>
                  <a:rPr lang="en-US" altLang="zh-TW" sz="2400" dirty="0">
                    <a:latin typeface="+mj-ea"/>
                    <a:ea typeface="+mj-ea"/>
                    <a:cs typeface="Times New Roman" panose="02020603050405020304" pitchFamily="18" charset="0"/>
                  </a:rPr>
                  <a:t>SONY</a:t>
                </a:r>
                <a:r>
                  <a:rPr lang="zh-TW" altLang="zh-TW" sz="2400" dirty="0">
                    <a:latin typeface="+mj-ea"/>
                    <a:ea typeface="+mj-ea"/>
                    <a:cs typeface="Times New Roman" panose="02020603050405020304" pitchFamily="18" charset="0"/>
                  </a:rPr>
                  <a:t>會拒絕</a:t>
                </a:r>
                <a:r>
                  <a:rPr lang="en-US" altLang="zh-TW" sz="2400" dirty="0">
                    <a:latin typeface="+mj-ea"/>
                    <a:ea typeface="+mj-ea"/>
                    <a:cs typeface="Times New Roman" panose="02020603050405020304" pitchFamily="18" charset="0"/>
                  </a:rPr>
                  <a:t>Samsung</a:t>
                </a:r>
                <a:r>
                  <a:rPr lang="zh-TW" altLang="zh-TW" sz="2400" dirty="0">
                    <a:latin typeface="+mj-ea"/>
                    <a:ea typeface="+mj-ea"/>
                    <a:cs typeface="Times New Roman" panose="02020603050405020304" pitchFamily="18" charset="0"/>
                  </a:rPr>
                  <a:t>的邀約。</a:t>
                </a:r>
                <a:endParaRPr lang="zh-TW" altLang="en-US" sz="2400" dirty="0">
                  <a:latin typeface="+mj-ea"/>
                  <a:ea typeface="+mj-ea"/>
                </a:endParaRPr>
              </a:p>
            </p:txBody>
          </p:sp>
        </mc:Choice>
        <mc:Fallback xmlns="">
          <p:sp>
            <p:nvSpPr>
              <p:cNvPr id="22" name="矩形 21"/>
              <p:cNvSpPr>
                <a:spLocks noRot="1" noChangeAspect="1" noMove="1" noResize="1" noEditPoints="1" noAdjustHandles="1" noChangeArrowheads="1" noChangeShapeType="1" noTextEdit="1"/>
              </p:cNvSpPr>
              <p:nvPr/>
            </p:nvSpPr>
            <p:spPr>
              <a:xfrm>
                <a:off x="323528" y="476672"/>
                <a:ext cx="8568952" cy="5809283"/>
              </a:xfrm>
              <a:prstGeom prst="rect">
                <a:avLst/>
              </a:prstGeom>
              <a:blipFill>
                <a:blip r:embed="rId2" cstate="print"/>
                <a:stretch>
                  <a:fillRect l="-1067" r="-469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717833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143000" y="731520"/>
            <a:ext cx="7677472" cy="5505792"/>
          </a:xfrm>
        </p:spPr>
        <p:txBody>
          <a:bodyPr>
            <a:normAutofit/>
          </a:bodyPr>
          <a:lstStyle/>
          <a:p>
            <a:pPr marL="45720" indent="0" algn="ctr">
              <a:buNone/>
            </a:pPr>
            <a:r>
              <a:rPr lang="zh-TW" altLang="en-US" sz="3200" b="1" dirty="0">
                <a:latin typeface="+mn-ea"/>
              </a:rPr>
              <a:t>三、</a:t>
            </a:r>
            <a:r>
              <a:rPr lang="zh-TW" altLang="zh-TW" sz="3200" b="1" dirty="0">
                <a:latin typeface="+mn-ea"/>
              </a:rPr>
              <a:t>主觀認知與客觀事實的一致性</a:t>
            </a:r>
            <a:endParaRPr lang="en-US" altLang="zh-TW" sz="3200" b="1" dirty="0">
              <a:latin typeface="+mn-ea"/>
            </a:endParaRPr>
          </a:p>
          <a:p>
            <a:pPr marL="45720" indent="0">
              <a:buNone/>
            </a:pPr>
            <a:endParaRPr lang="en-US" altLang="zh-TW" sz="2400" dirty="0">
              <a:latin typeface="+mn-ea"/>
            </a:endParaRPr>
          </a:p>
          <a:p>
            <a:pPr>
              <a:lnSpc>
                <a:spcPct val="170000"/>
              </a:lnSpc>
            </a:pPr>
            <a:r>
              <a:rPr lang="zh-TW" altLang="en-US" sz="2800" dirty="0"/>
              <a:t>完美貝氏</a:t>
            </a:r>
            <a:r>
              <a:rPr lang="en-US" altLang="zh-TW" sz="2800" dirty="0"/>
              <a:t>Nash</a:t>
            </a:r>
            <a:r>
              <a:rPr lang="zh-TW" altLang="en-US" sz="2800" dirty="0"/>
              <a:t>均衡</a:t>
            </a:r>
            <a:r>
              <a:rPr lang="en-US" altLang="zh-TW" sz="2800" dirty="0"/>
              <a:t>(SPNE)</a:t>
            </a:r>
            <a:r>
              <a:rPr lang="zh-TW" altLang="en-US" sz="2800" dirty="0"/>
              <a:t>存在，必須所有參與者對自然</a:t>
            </a:r>
            <a:r>
              <a:rPr lang="en-US" altLang="zh-TW" sz="2800" dirty="0"/>
              <a:t>(N)</a:t>
            </a:r>
            <a:r>
              <a:rPr lang="zh-TW" altLang="en-US" sz="2800" dirty="0"/>
              <a:t>的策略最終的主觀認知要與自然所呈現的客觀機率分配一致才可能達成。</a:t>
            </a:r>
            <a:endParaRPr lang="en-US" altLang="zh-TW" sz="2800" dirty="0"/>
          </a:p>
          <a:p>
            <a:pPr>
              <a:lnSpc>
                <a:spcPct val="170000"/>
              </a:lnSpc>
            </a:pPr>
            <a:r>
              <a:rPr lang="zh-TW" altLang="en-US" sz="2800" dirty="0"/>
              <a:t> 據此，前述的</a:t>
            </a:r>
            <a:r>
              <a:rPr lang="en-US" altLang="zh-TW" sz="2800" dirty="0"/>
              <a:t>SONY</a:t>
            </a:r>
            <a:r>
              <a:rPr lang="zh-TW" altLang="en-US" sz="2800" dirty="0"/>
              <a:t>最終主觀認知</a:t>
            </a:r>
            <a:r>
              <a:rPr lang="en-US" altLang="zh-TW" sz="2800" dirty="0"/>
              <a:t>Samsung</a:t>
            </a:r>
            <a:r>
              <a:rPr lang="zh-TW" altLang="en-US" sz="2800" dirty="0"/>
              <a:t>是善意的機率</a:t>
            </a:r>
            <a:r>
              <a:rPr lang="en-US" altLang="zh-TW" sz="2800" dirty="0"/>
              <a:t>q</a:t>
            </a:r>
            <a:r>
              <a:rPr lang="zh-TW" altLang="en-US" sz="2800" dirty="0"/>
              <a:t>，是一種屬於貝氏條件機率。</a:t>
            </a:r>
          </a:p>
          <a:p>
            <a:pPr marL="45720" indent="0">
              <a:buNone/>
            </a:pPr>
            <a:endParaRPr lang="zh-TW" altLang="en-US" dirty="0"/>
          </a:p>
        </p:txBody>
      </p:sp>
    </p:spTree>
    <p:extLst>
      <p:ext uri="{BB962C8B-B14F-4D97-AF65-F5344CB8AC3E}">
        <p14:creationId xmlns:p14="http://schemas.microsoft.com/office/powerpoint/2010/main" val="5986379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143000" y="731520"/>
            <a:ext cx="6400800" cy="753264"/>
          </a:xfrm>
        </p:spPr>
        <p:txBody>
          <a:bodyPr/>
          <a:lstStyle/>
          <a:p>
            <a:pPr marL="45720" indent="0" algn="ctr">
              <a:buNone/>
            </a:pPr>
            <a:r>
              <a:rPr lang="zh-TW" altLang="en-US" sz="3200" b="1" dirty="0"/>
              <a:t>貝氏條件機率</a:t>
            </a:r>
            <a:endParaRPr lang="en-US" altLang="zh-TW" sz="3200" b="1" dirty="0"/>
          </a:p>
          <a:p>
            <a:pPr marL="45720" indent="0">
              <a:buNone/>
            </a:pPr>
            <a:endParaRPr lang="en-US" altLang="zh-TW" dirty="0"/>
          </a:p>
          <a:p>
            <a:pPr marL="45720" indent="0">
              <a:buNone/>
            </a:pPr>
            <a:endParaRPr lang="en-US" altLang="zh-TW" dirty="0"/>
          </a:p>
          <a:p>
            <a:pPr marL="45720" indent="0">
              <a:buNone/>
            </a:pPr>
            <a:endParaRPr lang="zh-TW" altLang="en-US" dirty="0"/>
          </a:p>
        </p:txBody>
      </p:sp>
      <p:pic>
        <p:nvPicPr>
          <p:cNvPr id="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600200"/>
            <a:ext cx="8229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50092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609600"/>
            <a:ext cx="8534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 y="4114800"/>
            <a:ext cx="8763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4479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187624" y="248166"/>
            <a:ext cx="7848872" cy="1236618"/>
          </a:xfrm>
        </p:spPr>
        <p:txBody>
          <a:bodyPr>
            <a:noAutofit/>
          </a:bodyPr>
          <a:lstStyle/>
          <a:p>
            <a:pPr marL="45720" indent="0" algn="ctr">
              <a:buNone/>
            </a:pPr>
            <a:r>
              <a:rPr lang="en-US" altLang="zh-TW" sz="2800" dirty="0">
                <a:latin typeface="+mn-ea"/>
              </a:rPr>
              <a:t>        </a:t>
            </a:r>
            <a:r>
              <a:rPr lang="zh-TW" altLang="zh-TW" sz="2800" b="1" dirty="0">
                <a:latin typeface="+mj-ea"/>
                <a:ea typeface="+mj-ea"/>
              </a:rPr>
              <a:t>例</a:t>
            </a:r>
            <a:r>
              <a:rPr lang="en-US" altLang="zh-TW" sz="2800" b="1" dirty="0">
                <a:latin typeface="+mj-ea"/>
                <a:ea typeface="+mj-ea"/>
              </a:rPr>
              <a:t>1 </a:t>
            </a:r>
            <a:r>
              <a:rPr lang="zh-TW" altLang="zh-TW" sz="2800" b="1" dirty="0">
                <a:latin typeface="+mj-ea"/>
                <a:ea typeface="+mj-ea"/>
              </a:rPr>
              <a:t>為何人常是「窮算命</a:t>
            </a:r>
            <a:r>
              <a:rPr lang="en-US" altLang="zh-TW" sz="2800" b="1" dirty="0">
                <a:latin typeface="+mj-ea"/>
                <a:ea typeface="+mj-ea"/>
              </a:rPr>
              <a:t>; </a:t>
            </a:r>
            <a:r>
              <a:rPr lang="zh-TW" altLang="zh-TW" sz="2800" b="1" dirty="0">
                <a:latin typeface="+mj-ea"/>
                <a:ea typeface="+mj-ea"/>
              </a:rPr>
              <a:t>富拜神」</a:t>
            </a:r>
            <a:r>
              <a:rPr lang="en-US" altLang="zh-TW" sz="2800" b="1" dirty="0">
                <a:latin typeface="+mj-ea"/>
                <a:ea typeface="+mj-ea"/>
              </a:rPr>
              <a:t>?</a:t>
            </a:r>
          </a:p>
          <a:p>
            <a:pPr marL="45720" indent="0">
              <a:buNone/>
            </a:pPr>
            <a:r>
              <a:rPr lang="en-US" altLang="zh-TW" sz="2800" b="1" dirty="0">
                <a:latin typeface="+mj-ea"/>
                <a:ea typeface="+mj-ea"/>
              </a:rPr>
              <a:t>         </a:t>
            </a:r>
            <a:r>
              <a:rPr lang="zh-TW" altLang="en-US" sz="2800" b="1" dirty="0">
                <a:latin typeface="+mj-ea"/>
                <a:ea typeface="+mj-ea"/>
              </a:rPr>
              <a:t>例</a:t>
            </a:r>
            <a:r>
              <a:rPr lang="en-US" altLang="zh-TW" sz="2800" b="1" dirty="0">
                <a:latin typeface="+mj-ea"/>
                <a:ea typeface="+mj-ea"/>
              </a:rPr>
              <a:t>2</a:t>
            </a:r>
            <a:r>
              <a:rPr lang="zh-TW" altLang="en-US" sz="2800" b="1" dirty="0">
                <a:latin typeface="+mj-ea"/>
                <a:ea typeface="+mj-ea"/>
              </a:rPr>
              <a:t> </a:t>
            </a:r>
            <a:r>
              <a:rPr lang="zh-TW" altLang="zh-TW" sz="2800" b="1" dirty="0">
                <a:latin typeface="+mj-ea"/>
                <a:ea typeface="+mj-ea"/>
              </a:rPr>
              <a:t>中油探勘石油</a:t>
            </a:r>
            <a:endParaRPr lang="zh-TW" altLang="en-US" sz="2800" b="1" dirty="0">
              <a:latin typeface="+mj-ea"/>
              <a:ea typeface="+mj-ea"/>
            </a:endParaRPr>
          </a:p>
        </p:txBody>
      </p:sp>
      <p:pic>
        <p:nvPicPr>
          <p:cNvPr id="2" name="圖片 1"/>
          <p:cNvPicPr>
            <a:picLocks noChangeAspect="1"/>
          </p:cNvPicPr>
          <p:nvPr/>
        </p:nvPicPr>
        <p:blipFill>
          <a:blip r:embed="rId2" cstate="print"/>
          <a:stretch>
            <a:fillRect/>
          </a:stretch>
        </p:blipFill>
        <p:spPr>
          <a:xfrm>
            <a:off x="467544" y="1268760"/>
            <a:ext cx="8136903" cy="5688632"/>
          </a:xfrm>
          <a:prstGeom prst="rect">
            <a:avLst/>
          </a:prstGeom>
        </p:spPr>
      </p:pic>
    </p:spTree>
    <p:extLst>
      <p:ext uri="{BB962C8B-B14F-4D97-AF65-F5344CB8AC3E}">
        <p14:creationId xmlns:p14="http://schemas.microsoft.com/office/powerpoint/2010/main" val="13882323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611560" y="620688"/>
            <a:ext cx="7632848" cy="4114800"/>
          </a:xfrm>
          <a:prstGeom prst="rect">
            <a:avLst/>
          </a:prstGeom>
          <a:noFill/>
        </p:spPr>
      </p:pic>
      <p:pic>
        <p:nvPicPr>
          <p:cNvPr id="3"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1840" y="4581128"/>
            <a:ext cx="5472608"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7725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323528" y="260648"/>
            <a:ext cx="8568952" cy="6408712"/>
          </a:xfrm>
        </p:spPr>
        <p:txBody>
          <a:bodyPr/>
          <a:lstStyle/>
          <a:p>
            <a:pPr marL="45720" indent="0" algn="ctr">
              <a:buNone/>
            </a:pPr>
            <a:r>
              <a:rPr lang="zh-TW" altLang="en-US" sz="3600" b="1" dirty="0">
                <a:latin typeface="標楷體" panose="03000509000000000000" pitchFamily="65" charset="-120"/>
              </a:rPr>
              <a:t>四、完全貝氏</a:t>
            </a:r>
            <a:r>
              <a:rPr lang="en-US" altLang="zh-TW" sz="3600" b="1" dirty="0">
                <a:latin typeface="標楷體" panose="03000509000000000000" pitchFamily="65" charset="-120"/>
              </a:rPr>
              <a:t>Nash</a:t>
            </a:r>
            <a:r>
              <a:rPr lang="zh-TW" altLang="en-US" sz="3600" b="1" dirty="0">
                <a:latin typeface="標楷體" panose="03000509000000000000" pitchFamily="65" charset="-120"/>
              </a:rPr>
              <a:t>均衡</a:t>
            </a:r>
            <a:br>
              <a:rPr lang="zh-TW" altLang="zh-TW" b="1" dirty="0"/>
            </a:br>
            <a:endParaRPr lang="zh-TW" altLang="en-US" b="1" dirty="0"/>
          </a:p>
        </p:txBody>
      </p:sp>
      <p:sp>
        <p:nvSpPr>
          <p:cNvPr id="4" name="矩形 3"/>
          <p:cNvSpPr/>
          <p:nvPr/>
        </p:nvSpPr>
        <p:spPr>
          <a:xfrm>
            <a:off x="80323" y="1340768"/>
            <a:ext cx="9036496" cy="4401205"/>
          </a:xfrm>
          <a:prstGeom prst="rect">
            <a:avLst/>
          </a:prstGeom>
        </p:spPr>
        <p:txBody>
          <a:bodyPr wrap="square">
            <a:spAutoFit/>
          </a:bodyPr>
          <a:lstStyle/>
          <a:p>
            <a:pPr marL="514350" indent="-514350">
              <a:buFont typeface="Wingdings" panose="05000000000000000000" pitchFamily="2" charset="2"/>
              <a:buAutoNum type="arabicPeriod"/>
            </a:pPr>
            <a:r>
              <a:rPr lang="zh-TW" altLang="en-US" sz="2800" dirty="0"/>
              <a:t>分離均衡</a:t>
            </a:r>
            <a:r>
              <a:rPr lang="en-US" altLang="zh-TW" sz="2800" dirty="0"/>
              <a:t>(separating NE)</a:t>
            </a:r>
          </a:p>
          <a:p>
            <a:pPr marL="514350" indent="-514350"/>
            <a:r>
              <a:rPr lang="zh-TW" altLang="en-US" sz="2800" dirty="0"/>
              <a:t>     參與者的策略型態</a:t>
            </a:r>
            <a:r>
              <a:rPr lang="en-US" altLang="zh-TW" sz="2800" dirty="0"/>
              <a:t>(</a:t>
            </a:r>
            <a:r>
              <a:rPr lang="zh-TW" altLang="en-US" sz="2800" dirty="0"/>
              <a:t>如</a:t>
            </a:r>
            <a:r>
              <a:rPr lang="en-US" altLang="zh-TW" sz="2800" dirty="0"/>
              <a:t>Samsung</a:t>
            </a:r>
            <a:r>
              <a:rPr lang="zh-TW" altLang="en-US" sz="2800" dirty="0"/>
              <a:t>的邀約合作；</a:t>
            </a:r>
            <a:r>
              <a:rPr lang="en-US" altLang="zh-TW" sz="2800" dirty="0"/>
              <a:t>SONY</a:t>
            </a:r>
            <a:r>
              <a:rPr lang="zh-TW" altLang="en-US" sz="2800" dirty="0"/>
              <a:t>的合作或不合作</a:t>
            </a:r>
            <a:r>
              <a:rPr lang="en-US" altLang="zh-TW" sz="2800" dirty="0"/>
              <a:t>)</a:t>
            </a:r>
            <a:r>
              <a:rPr lang="zh-TW" altLang="en-US" sz="2800" dirty="0"/>
              <a:t>會形成參與者會針對對手不同的策略型態，而採取不同的應對策略</a:t>
            </a:r>
            <a:endParaRPr lang="en-US" altLang="zh-TW" sz="2800" dirty="0"/>
          </a:p>
          <a:p>
            <a:pPr marL="514350" indent="-514350"/>
            <a:r>
              <a:rPr lang="zh-TW" altLang="en-US" sz="2800" dirty="0"/>
              <a:t>       </a:t>
            </a:r>
            <a:r>
              <a:rPr lang="en-US" altLang="zh-TW" sz="2800" dirty="0"/>
              <a:t>e.g., ”</a:t>
            </a:r>
            <a:r>
              <a:rPr lang="zh-TW" altLang="en-US" sz="2800" dirty="0"/>
              <a:t>遇強則強</a:t>
            </a:r>
            <a:r>
              <a:rPr lang="en-US" altLang="zh-TW" sz="2800" dirty="0"/>
              <a:t>”</a:t>
            </a:r>
            <a:r>
              <a:rPr lang="zh-TW" altLang="en-US" sz="2800" dirty="0"/>
              <a:t>；遇弱則弱</a:t>
            </a:r>
            <a:r>
              <a:rPr lang="en-US" altLang="zh-TW" sz="2800" dirty="0"/>
              <a:t>”</a:t>
            </a:r>
            <a:r>
              <a:rPr lang="zh-TW" altLang="en-US" sz="2800" dirty="0"/>
              <a:t>， 或是</a:t>
            </a:r>
            <a:r>
              <a:rPr lang="en-US" altLang="zh-TW" sz="2800" dirty="0"/>
              <a:t>”</a:t>
            </a:r>
            <a:r>
              <a:rPr lang="zh-TW" altLang="en-US" sz="2800" dirty="0"/>
              <a:t>兵來將擋；水來土淹</a:t>
            </a:r>
            <a:r>
              <a:rPr lang="en-US" altLang="zh-TW" sz="2800" dirty="0"/>
              <a:t>”</a:t>
            </a:r>
          </a:p>
          <a:p>
            <a:pPr marL="514350" indent="-514350"/>
            <a:endParaRPr lang="en-US" altLang="zh-TW" sz="2800" dirty="0"/>
          </a:p>
          <a:p>
            <a:pPr marL="514350" indent="-514350"/>
            <a:r>
              <a:rPr lang="en-US" altLang="zh-TW" sz="2800" dirty="0"/>
              <a:t>2.</a:t>
            </a:r>
            <a:r>
              <a:rPr lang="zh-TW" altLang="en-US" sz="2800" dirty="0"/>
              <a:t> 混合均衡</a:t>
            </a:r>
            <a:r>
              <a:rPr lang="en-US" altLang="zh-TW" sz="2800" dirty="0"/>
              <a:t>(pooling NE)</a:t>
            </a:r>
          </a:p>
          <a:p>
            <a:pPr marL="514350" indent="-514350"/>
            <a:r>
              <a:rPr lang="zh-TW" altLang="en-US" sz="2800" dirty="0"/>
              <a:t>    參與者不論面對對手何種型態的的策略，其策略是以不變應萬變。</a:t>
            </a:r>
          </a:p>
        </p:txBody>
      </p:sp>
    </p:spTree>
    <p:extLst>
      <p:ext uri="{BB962C8B-B14F-4D97-AF65-F5344CB8AC3E}">
        <p14:creationId xmlns:p14="http://schemas.microsoft.com/office/powerpoint/2010/main" val="25119795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63688" y="188640"/>
            <a:ext cx="6624736" cy="461665"/>
          </a:xfrm>
          <a:prstGeom prst="rect">
            <a:avLst/>
          </a:prstGeom>
        </p:spPr>
        <p:txBody>
          <a:bodyPr wrap="square">
            <a:spAutoFit/>
          </a:bodyPr>
          <a:lstStyle/>
          <a:p>
            <a:r>
              <a:rPr lang="zh-TW" altLang="zh-TW" sz="2400" dirty="0">
                <a:latin typeface="+mn-ea"/>
                <a:cs typeface="Times New Roman" panose="02020603050405020304" pitchFamily="18" charset="0"/>
              </a:rPr>
              <a:t>表</a:t>
            </a:r>
            <a:r>
              <a:rPr lang="en-US" altLang="zh-TW" sz="2400" dirty="0">
                <a:latin typeface="+mn-ea"/>
                <a:cs typeface="Times New Roman" panose="02020603050405020304" pitchFamily="18" charset="0"/>
              </a:rPr>
              <a:t>6-3-1 SONY</a:t>
            </a:r>
            <a:r>
              <a:rPr lang="zh-TW" altLang="zh-TW" sz="2400" dirty="0">
                <a:latin typeface="+mn-ea"/>
                <a:cs typeface="Times New Roman" panose="02020603050405020304" pitchFamily="18" charset="0"/>
              </a:rPr>
              <a:t>與</a:t>
            </a:r>
            <a:r>
              <a:rPr lang="en-US" altLang="zh-TW" sz="2400" dirty="0">
                <a:latin typeface="+mn-ea"/>
                <a:cs typeface="Times New Roman" panose="02020603050405020304" pitchFamily="18" charset="0"/>
              </a:rPr>
              <a:t>Samsung</a:t>
            </a:r>
            <a:r>
              <a:rPr lang="zh-TW" altLang="zh-TW" sz="2400" dirty="0">
                <a:latin typeface="+mn-ea"/>
                <a:cs typeface="Times New Roman" panose="02020603050405020304" pitchFamily="18" charset="0"/>
              </a:rPr>
              <a:t>分離均衡與混同均衡</a:t>
            </a:r>
            <a:endParaRPr lang="zh-TW" altLang="en-US" sz="2400" dirty="0">
              <a:latin typeface="+mn-ea"/>
            </a:endParaRPr>
          </a:p>
        </p:txBody>
      </p:sp>
      <p:graphicFrame>
        <p:nvGraphicFramePr>
          <p:cNvPr id="2" name="表格 1">
            <a:extLst>
              <a:ext uri="{FF2B5EF4-FFF2-40B4-BE49-F238E27FC236}">
                <a16:creationId xmlns:a16="http://schemas.microsoft.com/office/drawing/2014/main" id="{2F8DC43E-F80E-F1D9-931E-02F3C47F49E6}"/>
              </a:ext>
            </a:extLst>
          </p:cNvPr>
          <p:cNvGraphicFramePr>
            <a:graphicFrameLocks noGrp="1"/>
          </p:cNvGraphicFramePr>
          <p:nvPr>
            <p:extLst>
              <p:ext uri="{D42A27DB-BD31-4B8C-83A1-F6EECF244321}">
                <p14:modId xmlns:p14="http://schemas.microsoft.com/office/powerpoint/2010/main" val="4233441733"/>
              </p:ext>
            </p:extLst>
          </p:nvPr>
        </p:nvGraphicFramePr>
        <p:xfrm>
          <a:off x="0" y="980728"/>
          <a:ext cx="9036496" cy="5877272"/>
        </p:xfrm>
        <a:graphic>
          <a:graphicData uri="http://schemas.openxmlformats.org/drawingml/2006/table">
            <a:tbl>
              <a:tblPr firstRow="1" firstCol="1" bandRow="1">
                <a:tableStyleId>{5C22544A-7EE6-4342-B048-85BDC9FD1C3A}</a:tableStyleId>
              </a:tblPr>
              <a:tblGrid>
                <a:gridCol w="2119458">
                  <a:extLst>
                    <a:ext uri="{9D8B030D-6E8A-4147-A177-3AD203B41FA5}">
                      <a16:colId xmlns:a16="http://schemas.microsoft.com/office/drawing/2014/main" val="547830976"/>
                    </a:ext>
                  </a:extLst>
                </a:gridCol>
                <a:gridCol w="2119458">
                  <a:extLst>
                    <a:ext uri="{9D8B030D-6E8A-4147-A177-3AD203B41FA5}">
                      <a16:colId xmlns:a16="http://schemas.microsoft.com/office/drawing/2014/main" val="3169738232"/>
                    </a:ext>
                  </a:extLst>
                </a:gridCol>
                <a:gridCol w="2398790">
                  <a:extLst>
                    <a:ext uri="{9D8B030D-6E8A-4147-A177-3AD203B41FA5}">
                      <a16:colId xmlns:a16="http://schemas.microsoft.com/office/drawing/2014/main" val="3342482739"/>
                    </a:ext>
                  </a:extLst>
                </a:gridCol>
                <a:gridCol w="2398790">
                  <a:extLst>
                    <a:ext uri="{9D8B030D-6E8A-4147-A177-3AD203B41FA5}">
                      <a16:colId xmlns:a16="http://schemas.microsoft.com/office/drawing/2014/main" val="2971204392"/>
                    </a:ext>
                  </a:extLst>
                </a:gridCol>
              </a:tblGrid>
              <a:tr h="496394">
                <a:tc>
                  <a:txBody>
                    <a:bodyPr/>
                    <a:lstStyle/>
                    <a:p>
                      <a:r>
                        <a:rPr lang="zh-TW" sz="2400" kern="100">
                          <a:effectLst/>
                        </a:rPr>
                        <a:t>均衡方式</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en-US" sz="2400" kern="100">
                          <a:effectLst/>
                        </a:rPr>
                        <a:t>Samsung</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en-US" sz="2400" kern="100">
                          <a:effectLst/>
                        </a:rPr>
                        <a:t>SONY</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結果</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701483919"/>
                  </a:ext>
                </a:extLst>
              </a:tr>
              <a:tr h="496394">
                <a:tc rowSpan="4">
                  <a:txBody>
                    <a:bodyPr/>
                    <a:lstStyle/>
                    <a:p>
                      <a:r>
                        <a:rPr lang="en-US" sz="2400" kern="100">
                          <a:effectLst/>
                        </a:rPr>
                        <a:t> </a:t>
                      </a:r>
                      <a:endParaRPr lang="zh-TW" sz="2400" kern="100">
                        <a:effectLst/>
                      </a:endParaRPr>
                    </a:p>
                    <a:p>
                      <a:r>
                        <a:rPr lang="zh-TW" sz="2400" kern="100">
                          <a:effectLst/>
                        </a:rPr>
                        <a:t>分離均衡</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zh-TW" sz="2400" kern="100">
                          <a:effectLst/>
                        </a:rPr>
                        <a:t>善意</a:t>
                      </a:r>
                      <a:r>
                        <a:rPr lang="en-US" sz="2400" kern="100">
                          <a:effectLst/>
                        </a:rPr>
                        <a:t>    </a:t>
                      </a:r>
                      <a:r>
                        <a:rPr lang="zh-TW" sz="2400" kern="100">
                          <a:effectLst/>
                        </a:rPr>
                        <a:t>不邀約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en-US" sz="2400" kern="100">
                          <a:effectLst/>
                        </a:rPr>
                        <a:t>X</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rowSpan="2">
                  <a:txBody>
                    <a:bodyPr/>
                    <a:lstStyle/>
                    <a:p>
                      <a:r>
                        <a:rPr lang="zh-TW" sz="2400" kern="100">
                          <a:effectLst/>
                        </a:rPr>
                        <a:t>不存在分離均衡</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375325405"/>
                  </a:ext>
                </a:extLst>
              </a:tr>
              <a:tr h="496394">
                <a:tc vMerge="1">
                  <a:txBody>
                    <a:bodyPr/>
                    <a:lstStyle/>
                    <a:p>
                      <a:endParaRPr lang="zh-TW" altLang="en-US"/>
                    </a:p>
                  </a:txBody>
                  <a:tcPr/>
                </a:tc>
                <a:tc>
                  <a:txBody>
                    <a:bodyPr/>
                    <a:lstStyle/>
                    <a:p>
                      <a:r>
                        <a:rPr lang="zh-TW" sz="2400" kern="100">
                          <a:effectLst/>
                        </a:rPr>
                        <a:t>惡意</a:t>
                      </a:r>
                      <a:r>
                        <a:rPr lang="en-US" sz="2400" kern="100">
                          <a:effectLst/>
                        </a:rPr>
                        <a:t>    </a:t>
                      </a:r>
                      <a:r>
                        <a:rPr lang="zh-TW" sz="2400" kern="100">
                          <a:effectLst/>
                        </a:rPr>
                        <a:t>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拒絕</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1051758456"/>
                  </a:ext>
                </a:extLst>
              </a:tr>
              <a:tr h="496394">
                <a:tc vMerge="1">
                  <a:txBody>
                    <a:bodyPr/>
                    <a:lstStyle/>
                    <a:p>
                      <a:endParaRPr lang="zh-TW" altLang="en-US"/>
                    </a:p>
                  </a:txBody>
                  <a:tcPr/>
                </a:tc>
                <a:tc>
                  <a:txBody>
                    <a:bodyPr/>
                    <a:lstStyle/>
                    <a:p>
                      <a:r>
                        <a:rPr lang="zh-TW" sz="2400" kern="100">
                          <a:effectLst/>
                        </a:rPr>
                        <a:t>善意</a:t>
                      </a:r>
                      <a:r>
                        <a:rPr lang="en-US" sz="2400" kern="100">
                          <a:effectLst/>
                        </a:rPr>
                        <a:t>    </a:t>
                      </a:r>
                      <a:r>
                        <a:rPr lang="zh-TW" sz="2400" kern="100">
                          <a:effectLst/>
                        </a:rPr>
                        <a:t>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接受</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rowSpan="2">
                  <a:txBody>
                    <a:bodyPr/>
                    <a:lstStyle/>
                    <a:p>
                      <a:r>
                        <a:rPr lang="zh-TW" sz="2400" kern="100">
                          <a:effectLst/>
                        </a:rPr>
                        <a:t>不存在分離均衡</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743976925"/>
                  </a:ext>
                </a:extLst>
              </a:tr>
              <a:tr h="496394">
                <a:tc vMerge="1">
                  <a:txBody>
                    <a:bodyPr/>
                    <a:lstStyle/>
                    <a:p>
                      <a:endParaRPr lang="zh-TW" altLang="en-US"/>
                    </a:p>
                  </a:txBody>
                  <a:tcPr/>
                </a:tc>
                <a:tc>
                  <a:txBody>
                    <a:bodyPr/>
                    <a:lstStyle/>
                    <a:p>
                      <a:r>
                        <a:rPr lang="zh-TW" sz="2400" kern="100">
                          <a:effectLst/>
                        </a:rPr>
                        <a:t>惡意</a:t>
                      </a:r>
                      <a:r>
                        <a:rPr lang="en-US" sz="2400" kern="100">
                          <a:effectLst/>
                        </a:rPr>
                        <a:t>    </a:t>
                      </a:r>
                      <a:r>
                        <a:rPr lang="zh-TW" sz="2400" kern="100">
                          <a:effectLst/>
                        </a:rPr>
                        <a:t>不邀約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en-US" sz="2400" kern="100">
                          <a:effectLst/>
                        </a:rPr>
                        <a:t>X</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1425088357"/>
                  </a:ext>
                </a:extLst>
              </a:tr>
              <a:tr h="496394">
                <a:tc rowSpan="6">
                  <a:txBody>
                    <a:bodyPr/>
                    <a:lstStyle/>
                    <a:p>
                      <a:r>
                        <a:rPr lang="en-US" sz="2400" kern="100">
                          <a:effectLst/>
                        </a:rPr>
                        <a:t> </a:t>
                      </a:r>
                      <a:endParaRPr lang="zh-TW" sz="2400" kern="100">
                        <a:effectLst/>
                      </a:endParaRPr>
                    </a:p>
                    <a:p>
                      <a:r>
                        <a:rPr lang="en-US" sz="2400" kern="100">
                          <a:effectLst/>
                        </a:rPr>
                        <a:t> </a:t>
                      </a:r>
                      <a:endParaRPr lang="zh-TW" sz="2400" kern="100">
                        <a:effectLst/>
                      </a:endParaRPr>
                    </a:p>
                    <a:p>
                      <a:r>
                        <a:rPr lang="en-US" sz="2400" kern="100">
                          <a:effectLst/>
                        </a:rPr>
                        <a:t> </a:t>
                      </a:r>
                      <a:endParaRPr lang="zh-TW" sz="2400" kern="100">
                        <a:effectLst/>
                      </a:endParaRPr>
                    </a:p>
                    <a:p>
                      <a:r>
                        <a:rPr lang="zh-TW" sz="2400" kern="100">
                          <a:effectLst/>
                        </a:rPr>
                        <a:t>混同均衡</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r>
                        <a:rPr lang="zh-TW" sz="2400" kern="100">
                          <a:effectLst/>
                        </a:rPr>
                        <a:t>善意</a:t>
                      </a:r>
                      <a:r>
                        <a:rPr lang="en-US" sz="2400" kern="100">
                          <a:effectLst/>
                        </a:rPr>
                        <a:t>      </a:t>
                      </a:r>
                      <a:r>
                        <a:rPr lang="zh-TW" sz="2400" kern="100">
                          <a:effectLst/>
                        </a:rPr>
                        <a:t>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接受</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rowSpan="2">
                  <a:txBody>
                    <a:bodyPr/>
                    <a:lstStyle/>
                    <a:p>
                      <a:pPr indent="-30480" algn="just" hangingPunct="0">
                        <a:lnSpc>
                          <a:spcPct val="150000"/>
                        </a:lnSpc>
                      </a:pPr>
                      <a:r>
                        <a:rPr lang="zh-TW" sz="2400" kern="100">
                          <a:effectLst/>
                        </a:rPr>
                        <a:t>存在混同均衡</a:t>
                      </a:r>
                      <a:r>
                        <a:rPr lang="en-US" sz="2400" kern="100">
                          <a:effectLst/>
                        </a:rPr>
                        <a:t>(q&gt;1/2) </a:t>
                      </a:r>
                      <a:endParaRPr lang="zh-TW" sz="2400" kern="10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2293386484"/>
                  </a:ext>
                </a:extLst>
              </a:tr>
              <a:tr h="913332">
                <a:tc vMerge="1">
                  <a:txBody>
                    <a:bodyPr/>
                    <a:lstStyle/>
                    <a:p>
                      <a:endParaRPr lang="zh-TW" altLang="en-US"/>
                    </a:p>
                  </a:txBody>
                  <a:tcPr/>
                </a:tc>
                <a:tc>
                  <a:txBody>
                    <a:bodyPr/>
                    <a:lstStyle/>
                    <a:p>
                      <a:r>
                        <a:rPr lang="zh-TW" sz="2400" kern="100">
                          <a:effectLst/>
                        </a:rPr>
                        <a:t>惡意</a:t>
                      </a:r>
                      <a:r>
                        <a:rPr lang="en-US" sz="2400" kern="100">
                          <a:effectLst/>
                        </a:rPr>
                        <a:t>      </a:t>
                      </a:r>
                      <a:r>
                        <a:rPr lang="zh-TW" sz="2400" kern="100">
                          <a:effectLst/>
                        </a:rPr>
                        <a:t>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接受</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4002518553"/>
                  </a:ext>
                </a:extLst>
              </a:tr>
              <a:tr h="496394">
                <a:tc vMerge="1">
                  <a:txBody>
                    <a:bodyPr/>
                    <a:lstStyle/>
                    <a:p>
                      <a:endParaRPr lang="zh-TW" altLang="en-US"/>
                    </a:p>
                  </a:txBody>
                  <a:tcPr/>
                </a:tc>
                <a:tc>
                  <a:txBody>
                    <a:bodyPr/>
                    <a:lstStyle/>
                    <a:p>
                      <a:r>
                        <a:rPr lang="zh-TW" sz="2400" kern="100">
                          <a:effectLst/>
                        </a:rPr>
                        <a:t>善意</a:t>
                      </a:r>
                      <a:r>
                        <a:rPr lang="en-US" sz="2400" kern="100">
                          <a:effectLst/>
                        </a:rPr>
                        <a:t>      </a:t>
                      </a:r>
                      <a:r>
                        <a:rPr lang="zh-TW" sz="2400" kern="100">
                          <a:effectLst/>
                        </a:rPr>
                        <a:t>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拒絕</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rowSpan="2">
                  <a:txBody>
                    <a:bodyPr/>
                    <a:lstStyle/>
                    <a:p>
                      <a:r>
                        <a:rPr lang="zh-TW" sz="2400" kern="100">
                          <a:effectLst/>
                        </a:rPr>
                        <a:t>均衡已沒意義</a:t>
                      </a:r>
                      <a:r>
                        <a:rPr lang="en-US" sz="2400" kern="100">
                          <a:effectLst/>
                        </a:rPr>
                        <a:t>(q&lt;1/2)</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741093165"/>
                  </a:ext>
                </a:extLst>
              </a:tr>
              <a:tr h="496394">
                <a:tc vMerge="1">
                  <a:txBody>
                    <a:bodyPr/>
                    <a:lstStyle/>
                    <a:p>
                      <a:endParaRPr lang="zh-TW" altLang="en-US"/>
                    </a:p>
                  </a:txBody>
                  <a:tcPr/>
                </a:tc>
                <a:tc>
                  <a:txBody>
                    <a:bodyPr/>
                    <a:lstStyle/>
                    <a:p>
                      <a:r>
                        <a:rPr lang="zh-TW" sz="2400" kern="100">
                          <a:effectLst/>
                        </a:rPr>
                        <a:t>惡意</a:t>
                      </a:r>
                      <a:r>
                        <a:rPr lang="en-US" sz="2400" kern="100">
                          <a:effectLst/>
                        </a:rPr>
                        <a:t>      </a:t>
                      </a:r>
                      <a:r>
                        <a:rPr lang="zh-TW" sz="2400" kern="100">
                          <a:effectLst/>
                        </a:rPr>
                        <a:t>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zh-TW" sz="2400" kern="100">
                          <a:effectLst/>
                        </a:rPr>
                        <a:t>拒絕</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791183555"/>
                  </a:ext>
                </a:extLst>
              </a:tr>
              <a:tr h="496394">
                <a:tc vMerge="1">
                  <a:txBody>
                    <a:bodyPr/>
                    <a:lstStyle/>
                    <a:p>
                      <a:endParaRPr lang="zh-TW" altLang="en-US"/>
                    </a:p>
                  </a:txBody>
                  <a:tcPr/>
                </a:tc>
                <a:tc>
                  <a:txBody>
                    <a:bodyPr/>
                    <a:lstStyle/>
                    <a:p>
                      <a:r>
                        <a:rPr lang="zh-TW" sz="2400" kern="100">
                          <a:effectLst/>
                        </a:rPr>
                        <a:t>善意</a:t>
                      </a:r>
                      <a:r>
                        <a:rPr lang="en-US" sz="2400" kern="100">
                          <a:effectLst/>
                        </a:rPr>
                        <a:t>    </a:t>
                      </a:r>
                      <a:r>
                        <a:rPr lang="zh-TW" sz="2400" kern="100">
                          <a:effectLst/>
                        </a:rPr>
                        <a:t>不邀約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en-US" sz="2400" kern="100">
                          <a:effectLst/>
                        </a:rPr>
                        <a:t>X</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rowSpan="2">
                  <a:txBody>
                    <a:bodyPr/>
                    <a:lstStyle/>
                    <a:p>
                      <a:r>
                        <a:rPr lang="zh-TW" sz="2400" kern="100" dirty="0">
                          <a:effectLst/>
                        </a:rPr>
                        <a:t>均衡已沒意義</a:t>
                      </a:r>
                      <a:r>
                        <a:rPr lang="en-US" sz="2400" kern="100" dirty="0">
                          <a:effectLst/>
                        </a:rPr>
                        <a:t>(q&lt;1/2)</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6332582"/>
                  </a:ext>
                </a:extLst>
              </a:tr>
              <a:tr h="496394">
                <a:tc vMerge="1">
                  <a:txBody>
                    <a:bodyPr/>
                    <a:lstStyle/>
                    <a:p>
                      <a:endParaRPr lang="zh-TW" altLang="en-US"/>
                    </a:p>
                  </a:txBody>
                  <a:tcPr/>
                </a:tc>
                <a:tc>
                  <a:txBody>
                    <a:bodyPr/>
                    <a:lstStyle/>
                    <a:p>
                      <a:r>
                        <a:rPr lang="zh-TW" sz="2400" kern="100">
                          <a:effectLst/>
                        </a:rPr>
                        <a:t>惡意</a:t>
                      </a:r>
                      <a:r>
                        <a:rPr lang="en-US" sz="2400" kern="100">
                          <a:effectLst/>
                        </a:rPr>
                        <a:t>    </a:t>
                      </a:r>
                      <a:r>
                        <a:rPr lang="zh-TW" sz="2400" kern="100">
                          <a:effectLst/>
                        </a:rPr>
                        <a:t>不邀約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r>
                        <a:rPr lang="en-US" sz="2400" kern="100" dirty="0">
                          <a:effectLst/>
                        </a:rPr>
                        <a:t>X</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3697121453"/>
                  </a:ext>
                </a:extLst>
              </a:tr>
            </a:tbl>
          </a:graphicData>
        </a:graphic>
      </p:graphicFrame>
    </p:spTree>
    <p:extLst>
      <p:ext uri="{BB962C8B-B14F-4D97-AF65-F5344CB8AC3E}">
        <p14:creationId xmlns:p14="http://schemas.microsoft.com/office/powerpoint/2010/main" val="483192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67744" y="188640"/>
            <a:ext cx="4698722" cy="584775"/>
          </a:xfrm>
          <a:prstGeom prst="rect">
            <a:avLst/>
          </a:prstGeom>
        </p:spPr>
        <p:txBody>
          <a:bodyPr wrap="none">
            <a:spAutoFit/>
          </a:bodyPr>
          <a:lstStyle/>
          <a:p>
            <a:pPr algn="ctr"/>
            <a:r>
              <a:rPr lang="zh-TW" altLang="zh-TW" sz="3200" b="1" dirty="0">
                <a:latin typeface="+mj-ea"/>
                <a:ea typeface="+mj-ea"/>
                <a:cs typeface="Times New Roman" panose="02020603050405020304" pitchFamily="18" charset="0"/>
              </a:rPr>
              <a:t>五、誠實是最好的策略？</a:t>
            </a:r>
            <a:endParaRPr lang="zh-TW" altLang="en-US" sz="3200" dirty="0">
              <a:latin typeface="+mj-ea"/>
              <a:ea typeface="+mj-ea"/>
            </a:endParaRPr>
          </a:p>
        </p:txBody>
      </p:sp>
      <p:pic>
        <p:nvPicPr>
          <p:cNvPr id="3" name="圖片 2"/>
          <p:cNvPicPr>
            <a:picLocks noChangeAspect="1"/>
          </p:cNvPicPr>
          <p:nvPr/>
        </p:nvPicPr>
        <p:blipFill>
          <a:blip r:embed="rId2" cstate="print"/>
          <a:stretch>
            <a:fillRect/>
          </a:stretch>
        </p:blipFill>
        <p:spPr>
          <a:xfrm>
            <a:off x="-108520" y="626835"/>
            <a:ext cx="9089924" cy="6072142"/>
          </a:xfrm>
          <a:prstGeom prst="rect">
            <a:avLst/>
          </a:prstGeom>
        </p:spPr>
      </p:pic>
      <p:sp>
        <p:nvSpPr>
          <p:cNvPr id="4" name="矩形 3"/>
          <p:cNvSpPr/>
          <p:nvPr/>
        </p:nvSpPr>
        <p:spPr>
          <a:xfrm>
            <a:off x="0" y="6242789"/>
            <a:ext cx="5262979" cy="461665"/>
          </a:xfrm>
          <a:prstGeom prst="rect">
            <a:avLst/>
          </a:prstGeom>
        </p:spPr>
        <p:txBody>
          <a:bodyPr wrap="none">
            <a:spAutoFit/>
          </a:bodyPr>
          <a:lstStyle/>
          <a:p>
            <a:r>
              <a:rPr lang="zh-TW" altLang="zh-TW" sz="2400" dirty="0">
                <a:latin typeface="+mj-ea"/>
                <a:ea typeface="+mj-ea"/>
                <a:cs typeface="Times New Roman" panose="02020603050405020304" pitchFamily="18" charset="0"/>
              </a:rPr>
              <a:t>圖</a:t>
            </a:r>
            <a:r>
              <a:rPr lang="en-US" altLang="zh-TW" sz="2400" dirty="0">
                <a:latin typeface="+mj-ea"/>
                <a:ea typeface="+mj-ea"/>
                <a:cs typeface="Times New Roman" panose="02020603050405020304" pitchFamily="18" charset="0"/>
              </a:rPr>
              <a:t>6-4-2</a:t>
            </a:r>
            <a:r>
              <a:rPr lang="zh-TW" altLang="zh-TW" sz="2400" dirty="0">
                <a:cs typeface="Times New Roman" panose="02020603050405020304" pitchFamily="18" charset="0"/>
              </a:rPr>
              <a:t>甲和乙的不完全訊息動態賽局</a:t>
            </a:r>
            <a:endParaRPr lang="zh-TW" altLang="en-US" sz="2400" dirty="0"/>
          </a:p>
        </p:txBody>
      </p:sp>
    </p:spTree>
    <p:extLst>
      <p:ext uri="{BB962C8B-B14F-4D97-AF65-F5344CB8AC3E}">
        <p14:creationId xmlns:p14="http://schemas.microsoft.com/office/powerpoint/2010/main" val="29616745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內容版面配置區 6"/>
          <p:cNvPicPr>
            <a:picLocks noGrp="1" noChangeAspect="1"/>
          </p:cNvPicPr>
          <p:nvPr>
            <p:ph sz="quarter" idx="13"/>
          </p:nvPr>
        </p:nvPicPr>
        <p:blipFill>
          <a:blip r:embed="rId2" cstate="print"/>
          <a:stretch>
            <a:fillRect/>
          </a:stretch>
        </p:blipFill>
        <p:spPr>
          <a:xfrm>
            <a:off x="35496" y="0"/>
            <a:ext cx="8856983" cy="6093296"/>
          </a:xfrm>
          <a:prstGeom prst="rect">
            <a:avLst/>
          </a:prstGeom>
        </p:spPr>
      </p:pic>
      <p:sp>
        <p:nvSpPr>
          <p:cNvPr id="8" name="矩形 7"/>
          <p:cNvSpPr/>
          <p:nvPr/>
        </p:nvSpPr>
        <p:spPr>
          <a:xfrm>
            <a:off x="683568" y="6093296"/>
            <a:ext cx="8352928" cy="830997"/>
          </a:xfrm>
          <a:prstGeom prst="rect">
            <a:avLst/>
          </a:prstGeom>
        </p:spPr>
        <p:txBody>
          <a:bodyPr wrap="square">
            <a:spAutoFit/>
          </a:bodyPr>
          <a:lstStyle/>
          <a:p>
            <a:pPr marL="306070" algn="ctr">
              <a:lnSpc>
                <a:spcPct val="150000"/>
              </a:lnSpc>
              <a:spcAft>
                <a:spcPts val="0"/>
              </a:spcAft>
            </a:pPr>
            <a:r>
              <a:rPr lang="zh-TW" altLang="zh-TW" sz="3200" kern="100" dirty="0">
                <a:latin typeface="Times New Roman" panose="02020603050405020304" pitchFamily="18" charset="0"/>
                <a:cs typeface="Times New Roman" panose="02020603050405020304" pitchFamily="18" charset="0"/>
              </a:rPr>
              <a:t>表</a:t>
            </a:r>
            <a:r>
              <a:rPr lang="en-US" altLang="zh-TW" sz="3200" kern="100" dirty="0">
                <a:latin typeface="Times New Roman" panose="02020603050405020304" pitchFamily="18" charset="0"/>
                <a:cs typeface="Times New Roman" panose="02020603050405020304" pitchFamily="18" charset="0"/>
              </a:rPr>
              <a:t>6-4-2</a:t>
            </a:r>
            <a:r>
              <a:rPr lang="zh-TW" altLang="zh-TW" sz="3200" kern="100" dirty="0">
                <a:latin typeface="Times New Roman" panose="02020603050405020304" pitchFamily="18" charset="0"/>
                <a:cs typeface="Times New Roman" panose="02020603050405020304" pitchFamily="18" charset="0"/>
              </a:rPr>
              <a:t>分離均衡與混合均衡的條件</a:t>
            </a:r>
            <a:endParaRPr lang="zh-TW" altLang="zh-TW" sz="3200" kern="100" dirty="0">
              <a:latin typeface="Calibri" panose="020F050202020403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086956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9552" y="188640"/>
            <a:ext cx="7776488" cy="584775"/>
          </a:xfrm>
          <a:prstGeom prst="rect">
            <a:avLst/>
          </a:prstGeom>
        </p:spPr>
        <p:txBody>
          <a:bodyPr wrap="none">
            <a:spAutoFit/>
          </a:bodyPr>
          <a:lstStyle/>
          <a:p>
            <a:r>
              <a:rPr lang="zh-TW" altLang="en-US" sz="3200" dirty="0">
                <a:latin typeface="標楷體" panose="03000509000000000000" pitchFamily="65" charset="-120"/>
              </a:rPr>
              <a:t>第五節</a:t>
            </a:r>
            <a:r>
              <a:rPr lang="zh-TW" altLang="zh-TW" sz="3200" dirty="0">
                <a:latin typeface="標楷體" panose="03000509000000000000" pitchFamily="65" charset="-120"/>
              </a:rPr>
              <a:t> </a:t>
            </a:r>
            <a:r>
              <a:rPr lang="zh-TW" altLang="en-US" sz="3200" dirty="0">
                <a:latin typeface="標楷體" panose="03000509000000000000" pitchFamily="65" charset="-120"/>
              </a:rPr>
              <a:t>薛爾頓顫抖手賽局</a:t>
            </a:r>
            <a:r>
              <a:rPr lang="en-US" altLang="zh-TW" sz="3200" dirty="0">
                <a:latin typeface="標楷體" panose="03000509000000000000" pitchFamily="65" charset="-120"/>
              </a:rPr>
              <a:t>(</a:t>
            </a:r>
            <a:r>
              <a:rPr lang="en-US" altLang="zh-TW" sz="3200" dirty="0" err="1">
                <a:latin typeface="標楷體" panose="03000509000000000000" pitchFamily="65" charset="-120"/>
              </a:rPr>
              <a:t>Selten</a:t>
            </a:r>
            <a:r>
              <a:rPr lang="en-US" altLang="zh-TW" sz="3200" dirty="0">
                <a:latin typeface="標楷體" panose="03000509000000000000" pitchFamily="65" charset="-120"/>
              </a:rPr>
              <a:t>, 1975)</a:t>
            </a:r>
            <a:endParaRPr lang="zh-TW" altLang="en-US" sz="3200" dirty="0"/>
          </a:p>
        </p:txBody>
      </p:sp>
      <p:sp>
        <p:nvSpPr>
          <p:cNvPr id="5" name="矩形 4"/>
          <p:cNvSpPr/>
          <p:nvPr/>
        </p:nvSpPr>
        <p:spPr>
          <a:xfrm>
            <a:off x="2627784" y="6373223"/>
            <a:ext cx="3724096" cy="461665"/>
          </a:xfrm>
          <a:prstGeom prst="rect">
            <a:avLst/>
          </a:prstGeom>
        </p:spPr>
        <p:txBody>
          <a:bodyPr wrap="none">
            <a:spAutoFit/>
          </a:bodyPr>
          <a:lstStyle/>
          <a:p>
            <a:pPr algn="ctr">
              <a:spcAft>
                <a:spcPts val="0"/>
              </a:spcAft>
            </a:pPr>
            <a:r>
              <a:rPr lang="zh-TW" altLang="zh-TW" sz="2400" kern="100" dirty="0">
                <a:latin typeface="+mj-ea"/>
                <a:ea typeface="+mj-ea"/>
                <a:cs typeface="Times New Roman" panose="02020603050405020304" pitchFamily="18" charset="0"/>
              </a:rPr>
              <a:t>圖 </a:t>
            </a:r>
            <a:r>
              <a:rPr lang="en-US" altLang="zh-TW" sz="2400" kern="100" dirty="0">
                <a:latin typeface="+mj-ea"/>
                <a:ea typeface="+mj-ea"/>
                <a:cs typeface="Times New Roman" panose="02020603050405020304" pitchFamily="18" charset="0"/>
              </a:rPr>
              <a:t>6-5-1 </a:t>
            </a:r>
            <a:r>
              <a:rPr lang="zh-TW" altLang="zh-TW" sz="2400" kern="100" dirty="0">
                <a:latin typeface="+mj-ea"/>
                <a:ea typeface="+mj-ea"/>
                <a:cs typeface="Times New Roman" panose="02020603050405020304" pitchFamily="18" charset="0"/>
              </a:rPr>
              <a:t>甲乙丙三人賽局</a:t>
            </a:r>
          </a:p>
        </p:txBody>
      </p:sp>
      <p:pic>
        <p:nvPicPr>
          <p:cNvPr id="3" name="圖片 2"/>
          <p:cNvPicPr>
            <a:picLocks noChangeAspect="1"/>
          </p:cNvPicPr>
          <p:nvPr/>
        </p:nvPicPr>
        <p:blipFill>
          <a:blip r:embed="rId2" cstate="print"/>
          <a:stretch>
            <a:fillRect/>
          </a:stretch>
        </p:blipFill>
        <p:spPr>
          <a:xfrm>
            <a:off x="251520" y="836711"/>
            <a:ext cx="8208911" cy="5536511"/>
          </a:xfrm>
          <a:prstGeom prst="rect">
            <a:avLst/>
          </a:prstGeom>
        </p:spPr>
      </p:pic>
    </p:spTree>
    <p:extLst>
      <p:ext uri="{BB962C8B-B14F-4D97-AF65-F5344CB8AC3E}">
        <p14:creationId xmlns:p14="http://schemas.microsoft.com/office/powerpoint/2010/main" val="2732964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0" y="332656"/>
            <a:ext cx="9036496" cy="6264696"/>
          </a:xfrm>
        </p:spPr>
        <p:txBody>
          <a:bodyPr>
            <a:normAutofit fontScale="55000" lnSpcReduction="20000"/>
          </a:bodyPr>
          <a:lstStyle/>
          <a:p>
            <a:pPr marL="45720" indent="0" algn="ctr">
              <a:buNone/>
            </a:pPr>
            <a:r>
              <a:rPr lang="zh-TW" altLang="en-US" sz="5100" dirty="0"/>
              <a:t>推論一</a:t>
            </a:r>
            <a:r>
              <a:rPr lang="en-US" altLang="zh-TW" sz="5100" dirty="0"/>
              <a:t>:</a:t>
            </a:r>
            <a:r>
              <a:rPr lang="zh-TW" altLang="en-US" sz="5100" dirty="0"/>
              <a:t>  </a:t>
            </a:r>
            <a:r>
              <a:rPr lang="en-US" altLang="zh-TW" sz="5100" dirty="0"/>
              <a:t>Nash</a:t>
            </a:r>
            <a:r>
              <a:rPr lang="zh-TW" altLang="en-US" sz="5100" dirty="0"/>
              <a:t>均衡</a:t>
            </a:r>
          </a:p>
          <a:p>
            <a:pPr marL="45720" indent="0">
              <a:lnSpc>
                <a:spcPct val="170000"/>
              </a:lnSpc>
              <a:buNone/>
            </a:pPr>
            <a:r>
              <a:rPr lang="en-US" altLang="zh-TW" sz="3600" dirty="0">
                <a:latin typeface="+mj-ea"/>
                <a:ea typeface="+mj-ea"/>
              </a:rPr>
              <a:t>1.   </a:t>
            </a:r>
            <a:r>
              <a:rPr lang="zh-TW" altLang="en-US" sz="3600" dirty="0">
                <a:latin typeface="+mj-ea"/>
                <a:ea typeface="+mj-ea"/>
              </a:rPr>
              <a:t>甲選</a:t>
            </a:r>
            <a:r>
              <a:rPr lang="en-US" altLang="zh-TW" sz="3600" dirty="0">
                <a:latin typeface="+mj-ea"/>
                <a:ea typeface="+mj-ea"/>
              </a:rPr>
              <a:t>L1</a:t>
            </a:r>
            <a:r>
              <a:rPr lang="zh-TW" altLang="en-US" sz="3600" dirty="0">
                <a:latin typeface="+mj-ea"/>
                <a:ea typeface="+mj-ea"/>
              </a:rPr>
              <a:t>，因他知道他若選</a:t>
            </a:r>
            <a:r>
              <a:rPr lang="en-US" altLang="zh-TW" sz="3600" dirty="0">
                <a:latin typeface="+mj-ea"/>
                <a:ea typeface="+mj-ea"/>
              </a:rPr>
              <a:t>L1</a:t>
            </a:r>
            <a:r>
              <a:rPr lang="zh-TW" altLang="en-US" sz="3600" dirty="0">
                <a:latin typeface="+mj-ea"/>
                <a:ea typeface="+mj-ea"/>
              </a:rPr>
              <a:t>，丙一定會選</a:t>
            </a:r>
            <a:r>
              <a:rPr lang="en-US" altLang="zh-TW" sz="3600" dirty="0">
                <a:latin typeface="+mj-ea"/>
                <a:ea typeface="+mj-ea"/>
              </a:rPr>
              <a:t>R3</a:t>
            </a:r>
            <a:r>
              <a:rPr lang="zh-TW" altLang="en-US" sz="3600" dirty="0">
                <a:latin typeface="+mj-ea"/>
                <a:ea typeface="+mj-ea"/>
              </a:rPr>
              <a:t>。但對乙而</a:t>
            </a:r>
            <a:endParaRPr lang="en-US" altLang="zh-TW" sz="3600" dirty="0">
              <a:latin typeface="+mj-ea"/>
              <a:ea typeface="+mj-ea"/>
            </a:endParaRPr>
          </a:p>
          <a:p>
            <a:pPr marL="45720" indent="0">
              <a:lnSpc>
                <a:spcPct val="170000"/>
              </a:lnSpc>
              <a:buNone/>
            </a:pPr>
            <a:r>
              <a:rPr lang="en-US" altLang="zh-TW" sz="3600" dirty="0">
                <a:latin typeface="+mj-ea"/>
                <a:ea typeface="+mj-ea"/>
              </a:rPr>
              <a:t>       </a:t>
            </a:r>
            <a:r>
              <a:rPr lang="zh-TW" altLang="en-US" sz="3600" dirty="0">
                <a:latin typeface="+mj-ea"/>
                <a:ea typeface="+mj-ea"/>
              </a:rPr>
              <a:t>言，若乙選 </a:t>
            </a:r>
            <a:r>
              <a:rPr lang="en-US" altLang="zh-TW" sz="3600" dirty="0">
                <a:latin typeface="+mj-ea"/>
                <a:ea typeface="+mj-ea"/>
              </a:rPr>
              <a:t>L_2 </a:t>
            </a:r>
            <a:r>
              <a:rPr lang="zh-TW" altLang="en-US" sz="3600" dirty="0">
                <a:latin typeface="+mj-ea"/>
                <a:ea typeface="+mj-ea"/>
              </a:rPr>
              <a:t>，丙應會選 </a:t>
            </a:r>
            <a:r>
              <a:rPr lang="en-US" altLang="zh-TW" sz="3600" dirty="0">
                <a:latin typeface="+mj-ea"/>
                <a:ea typeface="+mj-ea"/>
              </a:rPr>
              <a:t>L_3 </a:t>
            </a:r>
            <a:r>
              <a:rPr lang="zh-TW" altLang="en-US" sz="3600" dirty="0">
                <a:latin typeface="+mj-ea"/>
                <a:ea typeface="+mj-ea"/>
              </a:rPr>
              <a:t>而非</a:t>
            </a:r>
            <a:r>
              <a:rPr lang="en-US" altLang="zh-TW" sz="3600" dirty="0">
                <a:latin typeface="+mj-ea"/>
                <a:ea typeface="+mj-ea"/>
              </a:rPr>
              <a:t>R3 </a:t>
            </a:r>
            <a:r>
              <a:rPr lang="zh-TW" altLang="en-US" sz="3600" dirty="0">
                <a:latin typeface="+mj-ea"/>
                <a:ea typeface="+mj-ea"/>
              </a:rPr>
              <a:t>。</a:t>
            </a:r>
            <a:endParaRPr lang="en-US" altLang="zh-TW" sz="3600" dirty="0">
              <a:latin typeface="+mj-ea"/>
              <a:ea typeface="+mj-ea"/>
            </a:endParaRPr>
          </a:p>
          <a:p>
            <a:pPr marL="45720" indent="0">
              <a:lnSpc>
                <a:spcPct val="170000"/>
              </a:lnSpc>
              <a:buNone/>
            </a:pPr>
            <a:r>
              <a:rPr lang="en-US" altLang="zh-TW" sz="3600" dirty="0">
                <a:latin typeface="+mj-ea"/>
                <a:ea typeface="+mj-ea"/>
              </a:rPr>
              <a:t>       </a:t>
            </a:r>
            <a:r>
              <a:rPr lang="zh-TW" altLang="en-US" sz="3600" dirty="0">
                <a:latin typeface="+mj-ea"/>
                <a:ea typeface="+mj-ea"/>
              </a:rPr>
              <a:t>因此，</a:t>
            </a:r>
            <a:r>
              <a:rPr lang="en-US" altLang="zh-TW" sz="3600" dirty="0">
                <a:latin typeface="+mj-ea"/>
                <a:ea typeface="+mj-ea"/>
              </a:rPr>
              <a:t>(L1, R2, R3)</a:t>
            </a:r>
            <a:r>
              <a:rPr lang="zh-TW" altLang="en-US" sz="3600" dirty="0">
                <a:latin typeface="+mj-ea"/>
                <a:ea typeface="+mj-ea"/>
              </a:rPr>
              <a:t>為</a:t>
            </a:r>
            <a:r>
              <a:rPr lang="en-US" altLang="zh-TW" sz="3600" dirty="0">
                <a:latin typeface="+mj-ea"/>
                <a:ea typeface="+mj-ea"/>
              </a:rPr>
              <a:t>Nash</a:t>
            </a:r>
            <a:r>
              <a:rPr lang="zh-TW" altLang="en-US" sz="3600" dirty="0">
                <a:latin typeface="+mj-ea"/>
                <a:ea typeface="+mj-ea"/>
              </a:rPr>
              <a:t>均衡。</a:t>
            </a:r>
            <a:endParaRPr lang="en-US" altLang="zh-TW" sz="3600" dirty="0">
              <a:latin typeface="+mj-ea"/>
              <a:ea typeface="+mj-ea"/>
            </a:endParaRPr>
          </a:p>
          <a:p>
            <a:pPr marL="45720" indent="0">
              <a:lnSpc>
                <a:spcPct val="170000"/>
              </a:lnSpc>
              <a:buNone/>
            </a:pPr>
            <a:r>
              <a:rPr lang="en-US" altLang="zh-TW" sz="3600" dirty="0">
                <a:latin typeface="+mj-ea"/>
                <a:ea typeface="+mj-ea"/>
              </a:rPr>
              <a:t>          </a:t>
            </a:r>
            <a:r>
              <a:rPr lang="zh-TW" altLang="zh-TW" sz="3600" dirty="0">
                <a:latin typeface="+mj-ea"/>
                <a:ea typeface="+mj-ea"/>
              </a:rPr>
              <a:t>但當甲選擇</a:t>
            </a:r>
            <a:r>
              <a:rPr lang="en-US" altLang="zh-TW" sz="3600" dirty="0">
                <a:latin typeface="+mj-ea"/>
                <a:ea typeface="+mj-ea"/>
              </a:rPr>
              <a:t>L</a:t>
            </a:r>
            <a:r>
              <a:rPr lang="en-US" altLang="zh-TW" sz="3600" baseline="-25000" dirty="0">
                <a:latin typeface="+mj-ea"/>
                <a:ea typeface="+mj-ea"/>
              </a:rPr>
              <a:t>1</a:t>
            </a:r>
            <a:r>
              <a:rPr lang="zh-TW" altLang="zh-TW" sz="3600" dirty="0">
                <a:latin typeface="+mj-ea"/>
                <a:ea typeface="+mj-ea"/>
              </a:rPr>
              <a:t>時，雖丙一定選</a:t>
            </a:r>
            <a:r>
              <a:rPr lang="en-US" altLang="zh-TW" sz="3600" dirty="0">
                <a:latin typeface="+mj-ea"/>
                <a:ea typeface="+mj-ea"/>
              </a:rPr>
              <a:t>R</a:t>
            </a:r>
            <a:r>
              <a:rPr lang="en-US" altLang="zh-TW" sz="3600" baseline="-25000" dirty="0">
                <a:latin typeface="+mj-ea"/>
                <a:ea typeface="+mj-ea"/>
              </a:rPr>
              <a:t>3</a:t>
            </a:r>
            <a:r>
              <a:rPr lang="zh-TW" altLang="zh-TW" sz="3600" dirty="0">
                <a:latin typeface="+mj-ea"/>
                <a:ea typeface="+mj-ea"/>
              </a:rPr>
              <a:t>，乙變成無法選擇</a:t>
            </a:r>
            <a:r>
              <a:rPr lang="en-US" altLang="zh-TW" sz="3600" dirty="0">
                <a:latin typeface="+mj-ea"/>
                <a:ea typeface="+mj-ea"/>
              </a:rPr>
              <a:t>R</a:t>
            </a:r>
            <a:r>
              <a:rPr lang="en-US" altLang="zh-TW" sz="3600" baseline="-25000" dirty="0">
                <a:latin typeface="+mj-ea"/>
                <a:ea typeface="+mj-ea"/>
              </a:rPr>
              <a:t>2</a:t>
            </a:r>
            <a:r>
              <a:rPr lang="zh-TW" altLang="zh-TW" sz="3600" dirty="0">
                <a:latin typeface="+mj-ea"/>
                <a:ea typeface="+mj-ea"/>
              </a:rPr>
              <a:t>，</a:t>
            </a:r>
            <a:endParaRPr lang="en-US" altLang="zh-TW" sz="3600" dirty="0">
              <a:latin typeface="+mj-ea"/>
              <a:ea typeface="+mj-ea"/>
            </a:endParaRPr>
          </a:p>
          <a:p>
            <a:pPr marL="45720" indent="0">
              <a:lnSpc>
                <a:spcPct val="170000"/>
              </a:lnSpc>
              <a:buNone/>
            </a:pPr>
            <a:r>
              <a:rPr lang="en-US" altLang="zh-TW" sz="3600" dirty="0">
                <a:latin typeface="+mj-ea"/>
                <a:ea typeface="+mj-ea"/>
              </a:rPr>
              <a:t>      </a:t>
            </a:r>
            <a:r>
              <a:rPr lang="zh-TW" altLang="zh-TW" sz="3600" dirty="0">
                <a:latin typeface="+mj-ea"/>
                <a:ea typeface="+mj-ea"/>
              </a:rPr>
              <a:t>換言之，</a:t>
            </a:r>
            <a:r>
              <a:rPr lang="en-US" altLang="zh-TW" sz="3600" dirty="0">
                <a:latin typeface="+mj-ea"/>
                <a:ea typeface="+mj-ea"/>
              </a:rPr>
              <a:t>R</a:t>
            </a:r>
            <a:r>
              <a:rPr lang="en-US" altLang="zh-TW" sz="3600" baseline="-25000" dirty="0">
                <a:latin typeface="+mj-ea"/>
                <a:ea typeface="+mj-ea"/>
              </a:rPr>
              <a:t>2</a:t>
            </a:r>
            <a:r>
              <a:rPr lang="zh-TW" altLang="zh-TW" sz="3600" dirty="0">
                <a:latin typeface="+mj-ea"/>
                <a:ea typeface="+mj-ea"/>
              </a:rPr>
              <a:t>事實上是達不到，所以</a:t>
            </a:r>
            <a:r>
              <a:rPr lang="en-US" altLang="zh-TW" sz="3600" dirty="0">
                <a:latin typeface="+mj-ea"/>
                <a:ea typeface="+mj-ea"/>
              </a:rPr>
              <a:t>(L</a:t>
            </a:r>
            <a:r>
              <a:rPr lang="en-US" altLang="zh-TW" sz="3600" baseline="-25000" dirty="0">
                <a:latin typeface="+mj-ea"/>
                <a:ea typeface="+mj-ea"/>
              </a:rPr>
              <a:t>1</a:t>
            </a:r>
            <a:r>
              <a:rPr lang="en-US" altLang="zh-TW" sz="3600" dirty="0">
                <a:latin typeface="+mj-ea"/>
                <a:ea typeface="+mj-ea"/>
              </a:rPr>
              <a:t>,R</a:t>
            </a:r>
            <a:r>
              <a:rPr lang="en-US" altLang="zh-TW" sz="3600" baseline="-25000" dirty="0">
                <a:latin typeface="+mj-ea"/>
                <a:ea typeface="+mj-ea"/>
              </a:rPr>
              <a:t>2</a:t>
            </a:r>
            <a:r>
              <a:rPr lang="en-US" altLang="zh-TW" sz="3600" dirty="0">
                <a:latin typeface="+mj-ea"/>
                <a:ea typeface="+mj-ea"/>
              </a:rPr>
              <a:t>,R</a:t>
            </a:r>
            <a:r>
              <a:rPr lang="en-US" altLang="zh-TW" sz="3600" baseline="-25000" dirty="0">
                <a:latin typeface="+mj-ea"/>
                <a:ea typeface="+mj-ea"/>
              </a:rPr>
              <a:t>3</a:t>
            </a:r>
            <a:r>
              <a:rPr lang="en-US" altLang="zh-TW" sz="3600" dirty="0">
                <a:latin typeface="+mj-ea"/>
                <a:ea typeface="+mj-ea"/>
              </a:rPr>
              <a:t>)</a:t>
            </a:r>
            <a:r>
              <a:rPr lang="zh-TW" altLang="zh-TW" sz="3600" dirty="0">
                <a:latin typeface="+mj-ea"/>
                <a:ea typeface="+mj-ea"/>
              </a:rPr>
              <a:t>的</a:t>
            </a:r>
            <a:r>
              <a:rPr lang="en-US" altLang="zh-TW" sz="3600" dirty="0">
                <a:latin typeface="+mj-ea"/>
                <a:ea typeface="+mj-ea"/>
              </a:rPr>
              <a:t>Nash</a:t>
            </a:r>
            <a:r>
              <a:rPr lang="zh-TW" altLang="zh-TW" sz="3600" dirty="0">
                <a:latin typeface="+mj-ea"/>
                <a:ea typeface="+mj-ea"/>
              </a:rPr>
              <a:t>均衡是不合理。</a:t>
            </a:r>
            <a:endParaRPr lang="zh-TW" altLang="en-US" sz="3600" dirty="0">
              <a:latin typeface="+mj-ea"/>
              <a:ea typeface="+mj-ea"/>
            </a:endParaRPr>
          </a:p>
          <a:p>
            <a:pPr marL="45720" indent="0">
              <a:lnSpc>
                <a:spcPct val="170000"/>
              </a:lnSpc>
              <a:buNone/>
            </a:pPr>
            <a:r>
              <a:rPr lang="en-US" altLang="zh-TW" sz="3600" dirty="0">
                <a:latin typeface="+mj-ea"/>
                <a:ea typeface="+mj-ea"/>
              </a:rPr>
              <a:t>2.  </a:t>
            </a:r>
            <a:r>
              <a:rPr lang="zh-TW" altLang="en-US" sz="3600" dirty="0">
                <a:latin typeface="+mj-ea"/>
                <a:ea typeface="+mj-ea"/>
              </a:rPr>
              <a:t>當丙選</a:t>
            </a:r>
            <a:r>
              <a:rPr lang="en-US" altLang="zh-TW" sz="3600" dirty="0">
                <a:latin typeface="+mj-ea"/>
                <a:ea typeface="+mj-ea"/>
              </a:rPr>
              <a:t>L3</a:t>
            </a:r>
            <a:r>
              <a:rPr lang="zh-TW" altLang="en-US" sz="3600" dirty="0">
                <a:latin typeface="+mj-ea"/>
                <a:ea typeface="+mj-ea"/>
              </a:rPr>
              <a:t>的機率為</a:t>
            </a:r>
            <a:r>
              <a:rPr lang="en-US" altLang="zh-TW" sz="3600" dirty="0">
                <a:latin typeface="+mj-ea"/>
                <a:ea typeface="+mj-ea"/>
              </a:rPr>
              <a:t>p</a:t>
            </a:r>
            <a:r>
              <a:rPr lang="zh-TW" altLang="en-US" sz="3600" dirty="0">
                <a:latin typeface="+mj-ea"/>
                <a:ea typeface="+mj-ea"/>
              </a:rPr>
              <a:t>，</a:t>
            </a:r>
            <a:r>
              <a:rPr lang="en-US" altLang="zh-TW" sz="3600" dirty="0">
                <a:latin typeface="+mj-ea"/>
                <a:ea typeface="+mj-ea"/>
              </a:rPr>
              <a:t>R3</a:t>
            </a:r>
            <a:r>
              <a:rPr lang="zh-TW" altLang="en-US" sz="3600" dirty="0">
                <a:latin typeface="+mj-ea"/>
                <a:ea typeface="+mj-ea"/>
              </a:rPr>
              <a:t>的機率為</a:t>
            </a:r>
            <a:r>
              <a:rPr lang="en-US" altLang="zh-TW" sz="3600" dirty="0">
                <a:latin typeface="+mj-ea"/>
                <a:ea typeface="+mj-ea"/>
              </a:rPr>
              <a:t>1-p</a:t>
            </a:r>
            <a:r>
              <a:rPr lang="zh-TW" altLang="en-US" sz="3600" dirty="0">
                <a:latin typeface="+mj-ea"/>
                <a:ea typeface="+mj-ea"/>
              </a:rPr>
              <a:t>。</a:t>
            </a:r>
          </a:p>
          <a:p>
            <a:pPr marL="45720" indent="0">
              <a:lnSpc>
                <a:spcPct val="170000"/>
              </a:lnSpc>
              <a:buNone/>
            </a:pPr>
            <a:r>
              <a:rPr lang="en-US" altLang="zh-TW" sz="3600" dirty="0">
                <a:latin typeface="+mj-ea"/>
                <a:ea typeface="+mj-ea"/>
              </a:rPr>
              <a:t>      </a:t>
            </a:r>
            <a:r>
              <a:rPr lang="zh-TW" altLang="en-US" sz="3600" dirty="0">
                <a:latin typeface="+mj-ea"/>
                <a:ea typeface="+mj-ea"/>
              </a:rPr>
              <a:t>對甲而言，他若選</a:t>
            </a:r>
            <a:r>
              <a:rPr lang="en-US" altLang="zh-TW" sz="3600" dirty="0">
                <a:latin typeface="+mj-ea"/>
                <a:ea typeface="+mj-ea"/>
              </a:rPr>
              <a:t>R1</a:t>
            </a:r>
            <a:r>
              <a:rPr lang="zh-TW" altLang="en-US" sz="3600" dirty="0">
                <a:latin typeface="+mj-ea"/>
                <a:ea typeface="+mj-ea"/>
              </a:rPr>
              <a:t>時，當</a:t>
            </a:r>
            <a:r>
              <a:rPr lang="en-US" altLang="zh-TW" sz="3600" dirty="0">
                <a:latin typeface="+mj-ea"/>
                <a:ea typeface="+mj-ea"/>
              </a:rPr>
              <a:t>0 p+4 (1-p) &lt; 1    3/4≤p≤1</a:t>
            </a:r>
            <a:r>
              <a:rPr lang="zh-TW" altLang="en-US" sz="3600" dirty="0">
                <a:latin typeface="+mj-ea"/>
                <a:ea typeface="+mj-ea"/>
              </a:rPr>
              <a:t>時，</a:t>
            </a:r>
            <a:endParaRPr lang="en-US" altLang="zh-TW" sz="3600" dirty="0">
              <a:latin typeface="+mj-ea"/>
              <a:ea typeface="+mj-ea"/>
            </a:endParaRPr>
          </a:p>
          <a:p>
            <a:pPr marL="45720" indent="0">
              <a:lnSpc>
                <a:spcPct val="170000"/>
              </a:lnSpc>
              <a:buNone/>
            </a:pPr>
            <a:r>
              <a:rPr lang="en-US" altLang="zh-TW" sz="3600" dirty="0">
                <a:latin typeface="+mj-ea"/>
                <a:ea typeface="+mj-ea"/>
              </a:rPr>
              <a:t>      </a:t>
            </a:r>
            <a:r>
              <a:rPr lang="zh-TW" altLang="en-US" sz="3600" dirty="0">
                <a:latin typeface="+mj-ea"/>
                <a:ea typeface="+mj-ea"/>
              </a:rPr>
              <a:t>乙會選擇</a:t>
            </a:r>
            <a:r>
              <a:rPr lang="en-US" altLang="zh-TW" sz="3600" dirty="0">
                <a:latin typeface="+mj-ea"/>
                <a:ea typeface="+mj-ea"/>
              </a:rPr>
              <a:t>R2</a:t>
            </a:r>
            <a:r>
              <a:rPr lang="zh-TW" altLang="zh-TW" sz="3600" dirty="0">
                <a:latin typeface="+mj-ea"/>
                <a:ea typeface="+mj-ea"/>
              </a:rPr>
              <a:t>。乙若選</a:t>
            </a:r>
            <a:r>
              <a:rPr lang="en-US" altLang="zh-TW" sz="3600" dirty="0">
                <a:latin typeface="+mj-ea"/>
                <a:ea typeface="+mj-ea"/>
              </a:rPr>
              <a:t>L</a:t>
            </a:r>
            <a:r>
              <a:rPr lang="en-US" altLang="zh-TW" sz="3600" baseline="-25000" dirty="0">
                <a:latin typeface="+mj-ea"/>
                <a:ea typeface="+mj-ea"/>
              </a:rPr>
              <a:t>2</a:t>
            </a:r>
            <a:r>
              <a:rPr lang="zh-TW" altLang="zh-TW" sz="3600" dirty="0">
                <a:latin typeface="+mj-ea"/>
                <a:ea typeface="+mj-ea"/>
              </a:rPr>
              <a:t>，丙一定會選</a:t>
            </a:r>
            <a:r>
              <a:rPr lang="en-US" altLang="zh-TW" sz="3600" dirty="0">
                <a:latin typeface="+mj-ea"/>
                <a:ea typeface="+mj-ea"/>
              </a:rPr>
              <a:t>L</a:t>
            </a:r>
            <a:r>
              <a:rPr lang="en-US" altLang="zh-TW" sz="3600" baseline="-25000" dirty="0">
                <a:latin typeface="+mj-ea"/>
                <a:ea typeface="+mj-ea"/>
              </a:rPr>
              <a:t>3</a:t>
            </a:r>
            <a:r>
              <a:rPr lang="zh-TW" altLang="zh-TW" sz="3600" dirty="0">
                <a:latin typeface="+mj-ea"/>
                <a:ea typeface="+mj-ea"/>
              </a:rPr>
              <a:t>，此時，乙只獲得</a:t>
            </a:r>
            <a:r>
              <a:rPr lang="en-US" altLang="zh-TW" sz="3600" dirty="0">
                <a:latin typeface="+mj-ea"/>
                <a:ea typeface="+mj-ea"/>
              </a:rPr>
              <a:t>0</a:t>
            </a:r>
            <a:r>
              <a:rPr lang="zh-TW" altLang="zh-TW" sz="3600" dirty="0">
                <a:latin typeface="+mj-ea"/>
                <a:ea typeface="+mj-ea"/>
              </a:rPr>
              <a:t>。</a:t>
            </a:r>
            <a:endParaRPr lang="en-US" altLang="zh-TW" sz="3600" dirty="0">
              <a:latin typeface="+mj-ea"/>
              <a:ea typeface="+mj-ea"/>
            </a:endParaRPr>
          </a:p>
          <a:p>
            <a:pPr marL="45720" indent="0">
              <a:lnSpc>
                <a:spcPct val="170000"/>
              </a:lnSpc>
              <a:buNone/>
            </a:pPr>
            <a:r>
              <a:rPr lang="zh-TW" altLang="en-US" sz="3600" dirty="0">
                <a:latin typeface="+mj-ea"/>
                <a:ea typeface="+mj-ea"/>
              </a:rPr>
              <a:t>       所以 </a:t>
            </a:r>
            <a:r>
              <a:rPr lang="en-US" altLang="zh-TW" sz="3600" dirty="0">
                <a:latin typeface="+mj-ea"/>
                <a:ea typeface="+mj-ea"/>
              </a:rPr>
              <a:t>(R1,R2,(p,1-p)),  3/4≤p≤1)</a:t>
            </a:r>
            <a:r>
              <a:rPr lang="zh-TW" altLang="en-US" sz="3600" dirty="0">
                <a:latin typeface="+mj-ea"/>
                <a:ea typeface="+mj-ea"/>
              </a:rPr>
              <a:t>會是穩定的 </a:t>
            </a:r>
            <a:r>
              <a:rPr lang="en-US" altLang="zh-TW" sz="3600" dirty="0">
                <a:latin typeface="+mj-ea"/>
                <a:ea typeface="+mj-ea"/>
              </a:rPr>
              <a:t>Nash</a:t>
            </a:r>
            <a:r>
              <a:rPr lang="zh-TW" altLang="en-US" sz="3600" dirty="0">
                <a:latin typeface="+mj-ea"/>
                <a:ea typeface="+mj-ea"/>
              </a:rPr>
              <a:t>均衡。</a:t>
            </a:r>
          </a:p>
          <a:p>
            <a:pPr marL="45720" indent="0">
              <a:buNone/>
            </a:pPr>
            <a:endParaRPr lang="zh-TW" altLang="en-US" dirty="0"/>
          </a:p>
        </p:txBody>
      </p:sp>
    </p:spTree>
    <p:extLst>
      <p:ext uri="{BB962C8B-B14F-4D97-AF65-F5344CB8AC3E}">
        <p14:creationId xmlns:p14="http://schemas.microsoft.com/office/powerpoint/2010/main" val="29512305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sz="quarter" idx="13"/>
          </p:nvPr>
        </p:nvSpPr>
        <p:spPr>
          <a:xfrm>
            <a:off x="1143000" y="731520"/>
            <a:ext cx="7173416" cy="5433784"/>
          </a:xfrm>
        </p:spPr>
        <p:txBody>
          <a:bodyPr>
            <a:normAutofit fontScale="92500" lnSpcReduction="20000"/>
          </a:bodyPr>
          <a:lstStyle/>
          <a:p>
            <a:pPr marL="45720" indent="0" algn="ctr">
              <a:buNone/>
            </a:pPr>
            <a:r>
              <a:rPr lang="zh-TW" altLang="en-US" sz="3500" dirty="0"/>
              <a:t>推論二：為何甲一定會選擇</a:t>
            </a:r>
            <a:r>
              <a:rPr lang="en-US" altLang="zh-TW" sz="3500" dirty="0"/>
              <a:t>R</a:t>
            </a:r>
            <a:r>
              <a:rPr lang="en-US" altLang="zh-TW" sz="3500" baseline="-25000" dirty="0"/>
              <a:t>1</a:t>
            </a:r>
            <a:r>
              <a:rPr lang="zh-TW" altLang="en-US" sz="3500" dirty="0"/>
              <a:t>而非</a:t>
            </a:r>
            <a:r>
              <a:rPr lang="en-US" altLang="zh-TW" sz="3500" dirty="0"/>
              <a:t>L</a:t>
            </a:r>
            <a:r>
              <a:rPr lang="en-US" altLang="zh-TW" sz="3500" baseline="-25000" dirty="0"/>
              <a:t>1</a:t>
            </a:r>
            <a:r>
              <a:rPr lang="en-US" altLang="zh-TW" sz="3500" dirty="0"/>
              <a:t>?</a:t>
            </a:r>
          </a:p>
          <a:p>
            <a:pPr marL="45720" indent="0">
              <a:buNone/>
            </a:pPr>
            <a:endParaRPr lang="en-US" altLang="zh-TW" dirty="0"/>
          </a:p>
          <a:p>
            <a:pPr marL="560070" indent="-514350">
              <a:lnSpc>
                <a:spcPct val="160000"/>
              </a:lnSpc>
              <a:buClrTx/>
              <a:buFont typeface="+mj-lt"/>
              <a:buAutoNum type="arabicPeriod"/>
            </a:pPr>
            <a:r>
              <a:rPr lang="zh-TW" altLang="en-US" sz="2800" dirty="0">
                <a:solidFill>
                  <a:schemeClr val="tx1"/>
                </a:solidFill>
                <a:latin typeface="+mj-ea"/>
                <a:ea typeface="+mj-ea"/>
              </a:rPr>
              <a:t>假設薛爾頓的顫抖手存在，即</a:t>
            </a:r>
            <a:endParaRPr lang="zh-TW" altLang="zh-TW" sz="2800" dirty="0">
              <a:solidFill>
                <a:schemeClr val="tx1"/>
              </a:solidFill>
              <a:latin typeface="+mj-ea"/>
              <a:ea typeface="+mj-ea"/>
            </a:endParaRPr>
          </a:p>
          <a:p>
            <a:pPr marL="560070" indent="-514350">
              <a:lnSpc>
                <a:spcPct val="160000"/>
              </a:lnSpc>
              <a:buClrTx/>
              <a:buFont typeface="+mj-lt"/>
              <a:buAutoNum type="arabicPeriod"/>
            </a:pPr>
            <a:r>
              <a:rPr lang="zh-TW" altLang="en-US" sz="2800" dirty="0">
                <a:solidFill>
                  <a:schemeClr val="tx1"/>
                </a:solidFill>
                <a:latin typeface="+mj-ea"/>
                <a:ea typeface="+mj-ea"/>
              </a:rPr>
              <a:t>甲會選擇</a:t>
            </a:r>
            <a:r>
              <a:rPr lang="en-US" altLang="zh-TW" sz="2800" dirty="0">
                <a:solidFill>
                  <a:schemeClr val="tx1"/>
                </a:solidFill>
                <a:latin typeface="+mj-ea"/>
                <a:ea typeface="+mj-ea"/>
              </a:rPr>
              <a:t>R</a:t>
            </a:r>
            <a:r>
              <a:rPr lang="en-US" altLang="zh-TW" sz="2800" baseline="-25000" dirty="0">
                <a:solidFill>
                  <a:schemeClr val="tx1"/>
                </a:solidFill>
                <a:latin typeface="+mj-ea"/>
                <a:ea typeface="+mj-ea"/>
              </a:rPr>
              <a:t>1</a:t>
            </a:r>
            <a:r>
              <a:rPr lang="zh-TW" altLang="en-US" sz="2800" dirty="0">
                <a:solidFill>
                  <a:schemeClr val="tx1"/>
                </a:solidFill>
                <a:latin typeface="+mj-ea"/>
                <a:ea typeface="+mj-ea"/>
              </a:rPr>
              <a:t>的機率為</a:t>
            </a:r>
            <a:r>
              <a:rPr lang="en-US" altLang="zh-TW" sz="2800" dirty="0">
                <a:solidFill>
                  <a:schemeClr val="tx1"/>
                </a:solidFill>
                <a:latin typeface="+mj-ea"/>
                <a:ea typeface="+mj-ea"/>
              </a:rPr>
              <a:t>0.001</a:t>
            </a:r>
            <a:r>
              <a:rPr lang="zh-TW" altLang="en-US" sz="2800" dirty="0">
                <a:solidFill>
                  <a:schemeClr val="tx1"/>
                </a:solidFill>
                <a:latin typeface="+mj-ea"/>
                <a:ea typeface="+mj-ea"/>
              </a:rPr>
              <a:t>；甲會選擇</a:t>
            </a:r>
            <a:r>
              <a:rPr lang="en-US" altLang="zh-TW" sz="2800" dirty="0">
                <a:solidFill>
                  <a:schemeClr val="tx1"/>
                </a:solidFill>
                <a:latin typeface="+mj-ea"/>
                <a:ea typeface="+mj-ea"/>
              </a:rPr>
              <a:t>L</a:t>
            </a:r>
            <a:r>
              <a:rPr lang="en-US" altLang="zh-TW" sz="2800" baseline="-25000" dirty="0">
                <a:solidFill>
                  <a:schemeClr val="tx1"/>
                </a:solidFill>
                <a:latin typeface="+mj-ea"/>
                <a:ea typeface="+mj-ea"/>
              </a:rPr>
              <a:t>1</a:t>
            </a:r>
            <a:r>
              <a:rPr lang="zh-TW" altLang="en-US" sz="2800" dirty="0">
                <a:solidFill>
                  <a:schemeClr val="tx1"/>
                </a:solidFill>
                <a:latin typeface="+mj-ea"/>
                <a:ea typeface="+mj-ea"/>
              </a:rPr>
              <a:t>的機率為</a:t>
            </a:r>
            <a:r>
              <a:rPr lang="en-US" altLang="zh-TW" sz="2800" dirty="0">
                <a:solidFill>
                  <a:schemeClr val="tx1"/>
                </a:solidFill>
                <a:latin typeface="+mj-ea"/>
                <a:ea typeface="+mj-ea"/>
              </a:rPr>
              <a:t>0.999</a:t>
            </a:r>
            <a:r>
              <a:rPr lang="zh-TW" altLang="en-US" sz="2800" dirty="0">
                <a:solidFill>
                  <a:schemeClr val="tx1"/>
                </a:solidFill>
                <a:latin typeface="+mj-ea"/>
                <a:ea typeface="+mj-ea"/>
              </a:rPr>
              <a:t>。</a:t>
            </a:r>
            <a:endParaRPr lang="zh-TW" altLang="zh-TW" sz="2800" dirty="0">
              <a:solidFill>
                <a:schemeClr val="tx1"/>
              </a:solidFill>
              <a:latin typeface="+mj-ea"/>
              <a:ea typeface="+mj-ea"/>
            </a:endParaRPr>
          </a:p>
          <a:p>
            <a:pPr marL="560070" indent="-514350">
              <a:lnSpc>
                <a:spcPct val="160000"/>
              </a:lnSpc>
              <a:buClrTx/>
              <a:buFont typeface="+mj-lt"/>
              <a:buAutoNum type="arabicPeriod"/>
            </a:pPr>
            <a:r>
              <a:rPr lang="zh-TW" altLang="en-US" sz="2800" dirty="0">
                <a:solidFill>
                  <a:schemeClr val="tx1"/>
                </a:solidFill>
                <a:latin typeface="+mj-ea"/>
                <a:ea typeface="+mj-ea"/>
              </a:rPr>
              <a:t>乙會選擇</a:t>
            </a:r>
            <a:r>
              <a:rPr lang="en-US" altLang="zh-TW" sz="2800" dirty="0">
                <a:solidFill>
                  <a:schemeClr val="tx1"/>
                </a:solidFill>
                <a:latin typeface="+mj-ea"/>
                <a:ea typeface="+mj-ea"/>
              </a:rPr>
              <a:t>R</a:t>
            </a:r>
            <a:r>
              <a:rPr lang="en-US" altLang="zh-TW" sz="2800" baseline="-25000" dirty="0">
                <a:solidFill>
                  <a:schemeClr val="tx1"/>
                </a:solidFill>
                <a:latin typeface="+mj-ea"/>
                <a:ea typeface="+mj-ea"/>
              </a:rPr>
              <a:t>2</a:t>
            </a:r>
            <a:r>
              <a:rPr lang="zh-TW" altLang="en-US" sz="2800" dirty="0">
                <a:solidFill>
                  <a:schemeClr val="tx1"/>
                </a:solidFill>
                <a:latin typeface="+mj-ea"/>
                <a:ea typeface="+mj-ea"/>
              </a:rPr>
              <a:t>的機率為</a:t>
            </a:r>
            <a:r>
              <a:rPr lang="en-US" altLang="zh-TW" sz="2800" dirty="0">
                <a:solidFill>
                  <a:schemeClr val="tx1"/>
                </a:solidFill>
                <a:latin typeface="+mj-ea"/>
                <a:ea typeface="+mj-ea"/>
              </a:rPr>
              <a:t>0.999</a:t>
            </a:r>
            <a:r>
              <a:rPr lang="zh-TW" altLang="en-US" sz="2800" dirty="0">
                <a:solidFill>
                  <a:schemeClr val="tx1"/>
                </a:solidFill>
                <a:latin typeface="+mj-ea"/>
                <a:ea typeface="+mj-ea"/>
              </a:rPr>
              <a:t>；乙會選擇</a:t>
            </a:r>
            <a:r>
              <a:rPr lang="en-US" altLang="zh-TW" sz="2800" dirty="0">
                <a:solidFill>
                  <a:schemeClr val="tx1"/>
                </a:solidFill>
                <a:latin typeface="+mj-ea"/>
                <a:ea typeface="+mj-ea"/>
              </a:rPr>
              <a:t>L</a:t>
            </a:r>
            <a:r>
              <a:rPr lang="en-US" altLang="zh-TW" sz="2800" baseline="-25000" dirty="0">
                <a:solidFill>
                  <a:schemeClr val="tx1"/>
                </a:solidFill>
                <a:latin typeface="+mj-ea"/>
                <a:ea typeface="+mj-ea"/>
              </a:rPr>
              <a:t>2</a:t>
            </a:r>
            <a:r>
              <a:rPr lang="zh-TW" altLang="en-US" sz="2800" dirty="0">
                <a:solidFill>
                  <a:schemeClr val="tx1"/>
                </a:solidFill>
                <a:latin typeface="+mj-ea"/>
                <a:ea typeface="+mj-ea"/>
              </a:rPr>
              <a:t>的機率為</a:t>
            </a:r>
            <a:r>
              <a:rPr lang="en-US" altLang="zh-TW" sz="2800" dirty="0">
                <a:solidFill>
                  <a:schemeClr val="tx1"/>
                </a:solidFill>
                <a:latin typeface="+mj-ea"/>
                <a:ea typeface="+mj-ea"/>
              </a:rPr>
              <a:t>0.001</a:t>
            </a:r>
            <a:r>
              <a:rPr lang="zh-TW" altLang="en-US" sz="2800" dirty="0">
                <a:solidFill>
                  <a:schemeClr val="tx1"/>
                </a:solidFill>
                <a:latin typeface="+mj-ea"/>
                <a:ea typeface="+mj-ea"/>
              </a:rPr>
              <a:t>。</a:t>
            </a:r>
            <a:endParaRPr lang="zh-TW" altLang="zh-TW" sz="2800" dirty="0">
              <a:solidFill>
                <a:schemeClr val="tx1"/>
              </a:solidFill>
              <a:latin typeface="+mj-ea"/>
              <a:ea typeface="+mj-ea"/>
            </a:endParaRPr>
          </a:p>
          <a:p>
            <a:pPr marL="560070" indent="-514350">
              <a:lnSpc>
                <a:spcPct val="160000"/>
              </a:lnSpc>
              <a:buClrTx/>
              <a:buFont typeface="+mj-lt"/>
              <a:buAutoNum type="arabicPeriod"/>
            </a:pPr>
            <a:r>
              <a:rPr lang="zh-TW" altLang="en-US" sz="2800" dirty="0">
                <a:solidFill>
                  <a:schemeClr val="tx1"/>
                </a:solidFill>
                <a:latin typeface="+mj-ea"/>
                <a:ea typeface="+mj-ea"/>
              </a:rPr>
              <a:t>丙會選擇</a:t>
            </a:r>
            <a:r>
              <a:rPr lang="en-US" altLang="zh-TW" sz="2800" dirty="0">
                <a:solidFill>
                  <a:schemeClr val="tx1"/>
                </a:solidFill>
                <a:latin typeface="+mj-ea"/>
                <a:ea typeface="+mj-ea"/>
              </a:rPr>
              <a:t>R</a:t>
            </a:r>
            <a:r>
              <a:rPr lang="en-US" altLang="zh-TW" sz="2800" baseline="-25000" dirty="0">
                <a:solidFill>
                  <a:schemeClr val="tx1"/>
                </a:solidFill>
                <a:latin typeface="+mj-ea"/>
                <a:ea typeface="+mj-ea"/>
              </a:rPr>
              <a:t>3</a:t>
            </a:r>
            <a:r>
              <a:rPr lang="zh-TW" altLang="en-US" sz="2800" dirty="0">
                <a:solidFill>
                  <a:schemeClr val="tx1"/>
                </a:solidFill>
                <a:latin typeface="+mj-ea"/>
                <a:ea typeface="+mj-ea"/>
              </a:rPr>
              <a:t>的機率為</a:t>
            </a:r>
            <a:r>
              <a:rPr lang="en-US" altLang="zh-TW" sz="2800" dirty="0">
                <a:solidFill>
                  <a:schemeClr val="tx1"/>
                </a:solidFill>
                <a:latin typeface="+mj-ea"/>
                <a:ea typeface="+mj-ea"/>
              </a:rPr>
              <a:t>0.001</a:t>
            </a:r>
            <a:r>
              <a:rPr lang="zh-TW" altLang="en-US" sz="2800" dirty="0">
                <a:solidFill>
                  <a:schemeClr val="tx1"/>
                </a:solidFill>
                <a:latin typeface="+mj-ea"/>
                <a:ea typeface="+mj-ea"/>
              </a:rPr>
              <a:t>；丙會選擇</a:t>
            </a:r>
            <a:r>
              <a:rPr lang="en-US" altLang="zh-TW" sz="2800" dirty="0">
                <a:solidFill>
                  <a:schemeClr val="tx1"/>
                </a:solidFill>
                <a:latin typeface="+mj-ea"/>
                <a:ea typeface="+mj-ea"/>
              </a:rPr>
              <a:t>L</a:t>
            </a:r>
            <a:r>
              <a:rPr lang="en-US" altLang="zh-TW" sz="2800" baseline="-25000" dirty="0">
                <a:solidFill>
                  <a:schemeClr val="tx1"/>
                </a:solidFill>
                <a:latin typeface="+mj-ea"/>
                <a:ea typeface="+mj-ea"/>
              </a:rPr>
              <a:t>3</a:t>
            </a:r>
            <a:r>
              <a:rPr lang="zh-TW" altLang="en-US" sz="2800" dirty="0">
                <a:solidFill>
                  <a:schemeClr val="tx1"/>
                </a:solidFill>
                <a:latin typeface="+mj-ea"/>
                <a:ea typeface="+mj-ea"/>
              </a:rPr>
              <a:t>的機率為</a:t>
            </a:r>
            <a:r>
              <a:rPr lang="en-US" altLang="zh-TW" sz="2800" dirty="0">
                <a:solidFill>
                  <a:schemeClr val="tx1"/>
                </a:solidFill>
                <a:latin typeface="+mj-ea"/>
                <a:ea typeface="+mj-ea"/>
              </a:rPr>
              <a:t>0.999</a:t>
            </a:r>
            <a:r>
              <a:rPr lang="zh-TW" altLang="en-US" sz="2800" dirty="0">
                <a:solidFill>
                  <a:schemeClr val="tx1"/>
                </a:solidFill>
                <a:latin typeface="+mj-ea"/>
                <a:ea typeface="+mj-ea"/>
              </a:rPr>
              <a:t>。</a:t>
            </a:r>
            <a:endParaRPr lang="zh-TW" altLang="zh-TW" sz="2800" dirty="0">
              <a:solidFill>
                <a:schemeClr val="tx1"/>
              </a:solidFill>
              <a:latin typeface="+mj-ea"/>
              <a:ea typeface="+mj-ea"/>
            </a:endParaRPr>
          </a:p>
          <a:p>
            <a:endParaRPr lang="zh-TW" altLang="zh-TW" dirty="0"/>
          </a:p>
          <a:p>
            <a:endParaRPr lang="zh-TW" altLang="en-US" dirty="0"/>
          </a:p>
        </p:txBody>
      </p:sp>
    </p:spTree>
    <p:extLst>
      <p:ext uri="{BB962C8B-B14F-4D97-AF65-F5344CB8AC3E}">
        <p14:creationId xmlns:p14="http://schemas.microsoft.com/office/powerpoint/2010/main" val="32485171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620688"/>
            <a:ext cx="91440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kumimoji="1" 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乙選</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R</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策略</a:t>
            </a:r>
            <a:r>
              <a:rPr kumimoji="1" lang="zh-TW" altLang="en-US" sz="2400" dirty="0">
                <a:latin typeface="標楷體" pitchFamily="65" charset="-120"/>
                <a:ea typeface="標楷體" pitchFamily="65" charset="-120"/>
                <a:cs typeface="Times New Roman" pitchFamily="18" charset="0"/>
              </a:rPr>
              <a:t>，乙有</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0.999*0.999</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的機率，獲得收益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               </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0.999*0.001</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的機率，獲得收益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               </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0.999</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的機率，獲得收益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1</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a:p>
            <a:pPr lvl="0" eaLnBrk="0" fontAlgn="base" hangingPunct="0">
              <a:lnSpc>
                <a:spcPct val="150000"/>
              </a:lnSpc>
              <a:spcBef>
                <a:spcPct val="0"/>
              </a:spcBef>
              <a:spcAft>
                <a:spcPct val="0"/>
              </a:spcAf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乙選</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L</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策略</a:t>
            </a:r>
            <a:r>
              <a:rPr kumimoji="1" lang="zh-TW" altLang="en-US" sz="2400" dirty="0">
                <a:latin typeface="標楷體" pitchFamily="65" charset="-120"/>
                <a:ea typeface="標楷體" pitchFamily="65" charset="-120"/>
                <a:cs typeface="Times New Roman" pitchFamily="18" charset="0"/>
              </a:rPr>
              <a:t>，乙有</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0.999*0.999</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的機率，獲得收益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               </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0.999*0.001</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的機率，獲得收益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               </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0.001*0.001</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4</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               </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0.001*0.999</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，獲得收益</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0</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1" lang="zh-TW" altLang="en-US"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sp>
        <p:nvSpPr>
          <p:cNvPr id="2052" name="Rectangle 4"/>
          <p:cNvSpPr>
            <a:spLocks noChangeArrowheads="1"/>
          </p:cNvSpPr>
          <p:nvPr/>
        </p:nvSpPr>
        <p:spPr bwMode="auto">
          <a:xfrm>
            <a:off x="0" y="4408967"/>
            <a:ext cx="7725192" cy="168866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1" 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因乙選</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R</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策略的預期總收益大於選</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L</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策略的預期收益，</a:t>
            </a:r>
            <a:endPar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故乙一定會選擇</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R</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2</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a:t>
            </a:r>
            <a:endPar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endParaRPr>
          </a:p>
          <a:p>
            <a:pPr marL="0" marR="0" lvl="0" indent="0" algn="l" defTabSz="914400" rtl="0" eaLnBrk="1" fontAlgn="base" latinLnBrk="0" hangingPunct="1">
              <a:lnSpc>
                <a:spcPct val="150000"/>
              </a:lnSpc>
              <a:spcBef>
                <a:spcPct val="0"/>
              </a:spcBef>
              <a:spcAft>
                <a:spcPct val="0"/>
              </a:spcAft>
              <a:buClrTx/>
              <a:buSzTx/>
              <a:buFontTx/>
              <a:buNone/>
              <a:tabLst/>
            </a:pP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因此當甲有很小的機率犯錯選擇</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R</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1</a:t>
            </a:r>
            <a:r>
              <a:rPr kumimoji="1" lang="zh-TW" altLang="en-US"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時，</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(R</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1</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,R</a:t>
            </a:r>
            <a:r>
              <a:rPr kumimoji="1" lang="en-US" altLang="zh-TW" sz="2400" b="0" i="0" u="none" strike="noStrike" cap="none" normalizeH="0" baseline="-30000" dirty="0">
                <a:ln>
                  <a:noFill/>
                </a:ln>
                <a:solidFill>
                  <a:schemeClr val="tx1"/>
                </a:solidFill>
                <a:effectLst/>
                <a:latin typeface="標楷體" pitchFamily="65" charset="-120"/>
                <a:ea typeface="標楷體" pitchFamily="65" charset="-120"/>
                <a:cs typeface="Times New Roman" pitchFamily="18" charset="0"/>
              </a:rPr>
              <a:t>2</a:t>
            </a:r>
            <a:r>
              <a:rPr kumimoji="1" lang="en-US" altLang="zh-TW" sz="2400" b="0" i="0" u="none" strike="noStrike" cap="none" normalizeH="0" baseline="0" dirty="0">
                <a:ln>
                  <a:noFill/>
                </a:ln>
                <a:solidFill>
                  <a:schemeClr val="tx1"/>
                </a:solidFill>
                <a:effectLst/>
                <a:latin typeface="標楷體" pitchFamily="65" charset="-120"/>
                <a:ea typeface="標楷體" pitchFamily="65" charset="-120"/>
                <a:cs typeface="Times New Roman" pitchFamily="18" charset="0"/>
              </a:rPr>
              <a:t>,(p,1-p)),</a:t>
            </a:r>
            <a:endParaRPr kumimoji="1" lang="en-US" altLang="zh-TW" sz="2400" b="0" i="0" u="none" strike="noStrike" cap="none" normalizeH="0" baseline="0" dirty="0">
              <a:ln>
                <a:noFill/>
              </a:ln>
              <a:solidFill>
                <a:schemeClr val="tx1"/>
              </a:solidFill>
              <a:effectLst/>
              <a:latin typeface="Arial" pitchFamily="34" charset="0"/>
              <a:ea typeface="新細明體" pitchFamily="18" charset="-120"/>
              <a:cs typeface="新細明體" pitchFamily="18" charset="-120"/>
            </a:endParaRPr>
          </a:p>
        </p:txBody>
      </p:sp>
      <p:pic>
        <p:nvPicPr>
          <p:cNvPr id="2051"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9512" y="6237312"/>
            <a:ext cx="1224136" cy="472167"/>
          </a:xfrm>
          <a:prstGeom prst="rect">
            <a:avLst/>
          </a:prstGeom>
          <a:noFill/>
        </p:spPr>
      </p:pic>
      <p:sp>
        <p:nvSpPr>
          <p:cNvPr id="9" name="矩形 8"/>
          <p:cNvSpPr/>
          <p:nvPr/>
        </p:nvSpPr>
        <p:spPr>
          <a:xfrm>
            <a:off x="1403648" y="6237312"/>
            <a:ext cx="3570208" cy="461665"/>
          </a:xfrm>
          <a:prstGeom prst="rect">
            <a:avLst/>
          </a:prstGeom>
        </p:spPr>
        <p:txBody>
          <a:bodyPr wrap="none">
            <a:spAutoFit/>
          </a:bodyPr>
          <a:lstStyle/>
          <a:p>
            <a:pPr lvl="0" fontAlgn="base">
              <a:spcBef>
                <a:spcPct val="0"/>
              </a:spcBef>
              <a:spcAft>
                <a:spcPct val="0"/>
              </a:spcAft>
            </a:pPr>
            <a:r>
              <a:rPr kumimoji="1" lang="en-US" altLang="zh-TW" sz="2400" dirty="0">
                <a:solidFill>
                  <a:prstClr val="black"/>
                </a:solidFill>
                <a:latin typeface="標楷體" pitchFamily="65" charset="-120"/>
                <a:ea typeface="標楷體" pitchFamily="65" charset="-120"/>
                <a:cs typeface="Times New Roman" pitchFamily="18" charset="0"/>
              </a:rPr>
              <a:t>)</a:t>
            </a:r>
            <a:r>
              <a:rPr kumimoji="1" lang="zh-TW" altLang="en-US" sz="2400" dirty="0">
                <a:solidFill>
                  <a:prstClr val="black"/>
                </a:solidFill>
                <a:latin typeface="標楷體" pitchFamily="65" charset="-120"/>
                <a:ea typeface="標楷體" pitchFamily="65" charset="-120"/>
                <a:cs typeface="Times New Roman" pitchFamily="18" charset="0"/>
              </a:rPr>
              <a:t> 是可達到的</a:t>
            </a:r>
            <a:r>
              <a:rPr kumimoji="1" lang="en-US" altLang="zh-TW" sz="2400" dirty="0">
                <a:solidFill>
                  <a:prstClr val="black"/>
                </a:solidFill>
                <a:latin typeface="標楷體" pitchFamily="65" charset="-120"/>
                <a:ea typeface="標楷體" pitchFamily="65" charset="-120"/>
                <a:cs typeface="Times New Roman" pitchFamily="18" charset="0"/>
              </a:rPr>
              <a:t>Nash</a:t>
            </a:r>
            <a:r>
              <a:rPr kumimoji="1" lang="zh-TW" altLang="en-US" sz="2400" dirty="0">
                <a:solidFill>
                  <a:prstClr val="black"/>
                </a:solidFill>
                <a:latin typeface="標楷體" pitchFamily="65" charset="-120"/>
                <a:ea typeface="標楷體" pitchFamily="65" charset="-120"/>
                <a:cs typeface="Times New Roman" pitchFamily="18" charset="0"/>
              </a:rPr>
              <a:t>均衡。</a:t>
            </a:r>
            <a:endParaRPr kumimoji="1" lang="zh-TW" altLang="en-US" sz="2400" dirty="0">
              <a:solidFill>
                <a:prstClr val="black"/>
              </a:solidFill>
              <a:latin typeface="Arial" pitchFamily="34" charset="0"/>
              <a:ea typeface="新細明體" pitchFamily="18" charset="-120"/>
              <a:cs typeface="新細明體" pitchFamily="18" charset="-120"/>
            </a:endParaRPr>
          </a:p>
        </p:txBody>
      </p:sp>
    </p:spTree>
    <p:extLst>
      <p:ext uri="{BB962C8B-B14F-4D97-AF65-F5344CB8AC3E}">
        <p14:creationId xmlns:p14="http://schemas.microsoft.com/office/powerpoint/2010/main" val="765221410"/>
      </p:ext>
    </p:extLst>
  </p:cSld>
  <p:clrMapOvr>
    <a:masterClrMapping/>
  </p:clrMapOvr>
</p:sld>
</file>

<file path=ppt/theme/theme1.xml><?xml version="1.0" encoding="utf-8"?>
<a:theme xmlns:a="http://schemas.openxmlformats.org/drawingml/2006/main" name="氣流">
  <a:themeElements>
    <a:clrScheme name="氣流">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宣紙">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中庸">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694</TotalTime>
  <Words>2028</Words>
  <Application>Microsoft Office PowerPoint</Application>
  <PresentationFormat>如螢幕大小 (4:3)</PresentationFormat>
  <Paragraphs>225</Paragraphs>
  <Slides>44</Slides>
  <Notes>0</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44</vt:i4>
      </vt:variant>
    </vt:vector>
  </HeadingPairs>
  <TitlesOfParts>
    <vt:vector size="56" baseType="lpstr">
      <vt:lpstr>Arial Unicode MS</vt:lpstr>
      <vt:lpstr>新細明體</vt:lpstr>
      <vt:lpstr>新細明體</vt:lpstr>
      <vt:lpstr>標楷體</vt:lpstr>
      <vt:lpstr>Arial</vt:lpstr>
      <vt:lpstr>Calibri</vt:lpstr>
      <vt:lpstr>Cambria Math</vt:lpstr>
      <vt:lpstr>Constantia</vt:lpstr>
      <vt:lpstr>Georgia</vt:lpstr>
      <vt:lpstr>Times New Roman</vt:lpstr>
      <vt:lpstr>Wingdings</vt:lpstr>
      <vt:lpstr>氣流</vt:lpstr>
      <vt:lpstr>第六章不完全訊息賽局</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賽局觀念與意識</dc:title>
  <dc:creator>USER</dc:creator>
  <cp:lastModifiedBy>shunchiao chang</cp:lastModifiedBy>
  <cp:revision>51</cp:revision>
  <cp:lastPrinted>2020-02-28T14:22:57Z</cp:lastPrinted>
  <dcterms:created xsi:type="dcterms:W3CDTF">2020-02-28T14:14:09Z</dcterms:created>
  <dcterms:modified xsi:type="dcterms:W3CDTF">2026-05-11T14:03:19Z</dcterms:modified>
</cp:coreProperties>
</file>