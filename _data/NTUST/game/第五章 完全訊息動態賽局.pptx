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64" r:id="rId4"/>
    <p:sldId id="266" r:id="rId5"/>
    <p:sldId id="267" r:id="rId6"/>
    <p:sldId id="268" r:id="rId7"/>
    <p:sldId id="269" r:id="rId8"/>
    <p:sldId id="271" r:id="rId9"/>
    <p:sldId id="270" r:id="rId10"/>
    <p:sldId id="273" r:id="rId11"/>
    <p:sldId id="274" r:id="rId12"/>
    <p:sldId id="272" r:id="rId13"/>
    <p:sldId id="277" r:id="rId14"/>
    <p:sldId id="275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61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45" autoAdjust="0"/>
  </p:normalViewPr>
  <p:slideViewPr>
    <p:cSldViewPr>
      <p:cViewPr varScale="1">
        <p:scale>
          <a:sx n="60" d="100"/>
          <a:sy n="60" d="100"/>
        </p:scale>
        <p:origin x="708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FCD20A6-C17E-4B7D-83BF-25D511A37CF6}" type="datetimeFigureOut">
              <a:rPr lang="zh-TW" altLang="en-US" smtClean="0"/>
              <a:pPr/>
              <a:t>2023/5/12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4A3CF8D-44B1-47E6-AAB7-239FD45861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91680" y="476672"/>
            <a:ext cx="54938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3600" dirty="0" smtClean="0">
                <a:latin typeface="+mn-ea"/>
              </a:rPr>
              <a:t>第</a:t>
            </a:r>
            <a:r>
              <a:rPr lang="zh-TW" altLang="en-US" sz="3600" dirty="0" smtClean="0">
                <a:latin typeface="+mn-ea"/>
              </a:rPr>
              <a:t>五</a:t>
            </a:r>
            <a:r>
              <a:rPr lang="zh-TW" altLang="zh-TW" sz="3600" dirty="0" smtClean="0">
                <a:latin typeface="+mn-ea"/>
              </a:rPr>
              <a:t>章 </a:t>
            </a:r>
            <a:r>
              <a:rPr lang="zh-TW" altLang="zh-TW" sz="3600" dirty="0">
                <a:latin typeface="+mn-ea"/>
              </a:rPr>
              <a:t>完全訊息動態賽局</a:t>
            </a:r>
            <a:br>
              <a:rPr lang="zh-TW" altLang="zh-TW" sz="3600" dirty="0">
                <a:latin typeface="+mn-ea"/>
              </a:rPr>
            </a:b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874190" y="1988840"/>
            <a:ext cx="758624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dirty="0" smtClean="0">
                <a:latin typeface="+mn-ea"/>
              </a:rPr>
              <a:t>第一節 </a:t>
            </a:r>
            <a:r>
              <a:rPr lang="zh-TW" altLang="zh-TW" sz="3200" dirty="0" smtClean="0">
                <a:latin typeface="+mn-ea"/>
              </a:rPr>
              <a:t>後</a:t>
            </a:r>
            <a:r>
              <a:rPr lang="zh-TW" altLang="zh-TW" sz="3200" dirty="0">
                <a:latin typeface="+mn-ea"/>
              </a:rPr>
              <a:t>推法與前推法</a:t>
            </a:r>
            <a:r>
              <a:rPr lang="zh-TW" altLang="en-US" sz="3200" dirty="0">
                <a:latin typeface="+mn-ea"/>
              </a:rPr>
              <a:t>的應用</a:t>
            </a:r>
            <a:endParaRPr lang="zh-TW" altLang="zh-TW" sz="3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 smtClean="0">
                <a:latin typeface="+mn-ea"/>
              </a:rPr>
              <a:t>第二節 </a:t>
            </a:r>
            <a:r>
              <a:rPr lang="zh-TW" altLang="zh-TW" sz="3200" dirty="0" smtClean="0">
                <a:latin typeface="+mn-ea"/>
              </a:rPr>
              <a:t>序列</a:t>
            </a:r>
            <a:r>
              <a:rPr lang="zh-TW" altLang="zh-TW" sz="3200" dirty="0">
                <a:latin typeface="+mn-ea"/>
              </a:rPr>
              <a:t>賽局</a:t>
            </a:r>
          </a:p>
          <a:p>
            <a:pPr>
              <a:lnSpc>
                <a:spcPct val="150000"/>
              </a:lnSpc>
            </a:pPr>
            <a:r>
              <a:rPr lang="zh-TW" altLang="en-US" sz="3200" dirty="0" smtClean="0">
                <a:latin typeface="+mn-ea"/>
              </a:rPr>
              <a:t>第三節 </a:t>
            </a:r>
            <a:r>
              <a:rPr lang="zh-TW" altLang="zh-TW" sz="3200" dirty="0" smtClean="0">
                <a:latin typeface="+mn-ea"/>
              </a:rPr>
              <a:t>子</a:t>
            </a:r>
            <a:r>
              <a:rPr lang="zh-TW" altLang="zh-TW" sz="3200" dirty="0">
                <a:latin typeface="+mn-ea"/>
              </a:rPr>
              <a:t>賽局精煉</a:t>
            </a:r>
            <a:r>
              <a:rPr lang="en-US" altLang="zh-TW" sz="3200" dirty="0">
                <a:latin typeface="+mn-ea"/>
              </a:rPr>
              <a:t>Nash</a:t>
            </a:r>
            <a:r>
              <a:rPr lang="zh-TW" altLang="zh-TW" sz="3200" dirty="0">
                <a:latin typeface="+mn-ea"/>
              </a:rPr>
              <a:t>均衡存在的</a:t>
            </a:r>
            <a:r>
              <a:rPr lang="zh-TW" altLang="zh-TW" sz="3200" dirty="0" smtClean="0">
                <a:latin typeface="+mn-ea"/>
              </a:rPr>
              <a:t>問題</a:t>
            </a:r>
            <a:endParaRPr lang="en-US" altLang="zh-TW" sz="3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 smtClean="0">
                <a:latin typeface="+mn-ea"/>
              </a:rPr>
              <a:t>第四節 多人賽局</a:t>
            </a:r>
            <a:endParaRPr lang="zh-TW" altLang="zh-TW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784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43808" y="54868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3200" dirty="0">
                <a:latin typeface="+mn-ea"/>
              </a:rPr>
              <a:t>完全訊息動態賽局</a:t>
            </a:r>
            <a:endParaRPr lang="zh-TW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6409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3200" dirty="0"/>
              <a:t>此賽局代表參與者策略選擇均有先後順序</a:t>
            </a:r>
            <a:r>
              <a:rPr lang="en-US" altLang="zh-TW" sz="3200" dirty="0"/>
              <a:t>(</a:t>
            </a:r>
            <a:r>
              <a:rPr lang="zh-TW" altLang="zh-TW" sz="3200" dirty="0"/>
              <a:t>無同時選擇</a:t>
            </a:r>
            <a:r>
              <a:rPr lang="en-US" altLang="zh-TW" sz="3200" dirty="0"/>
              <a:t>)</a:t>
            </a:r>
            <a:r>
              <a:rPr lang="zh-TW" altLang="zh-TW" sz="3200" dirty="0"/>
              <a:t>，後選的參與者完全知道先行的參與者的選擇。對於所謂</a:t>
            </a:r>
            <a:r>
              <a:rPr lang="en-US" altLang="zh-TW" sz="3200" dirty="0"/>
              <a:t>"</a:t>
            </a:r>
            <a:r>
              <a:rPr lang="zh-TW" altLang="zh-TW" sz="3200" dirty="0"/>
              <a:t>自然</a:t>
            </a:r>
            <a:r>
              <a:rPr lang="en-US" altLang="zh-TW" sz="3200" dirty="0"/>
              <a:t>"</a:t>
            </a:r>
            <a:r>
              <a:rPr lang="zh-TW" altLang="zh-TW" sz="3200" dirty="0"/>
              <a:t>的行動也能完全觀測到，因此，再擴展式賽局中，不會出現虛線的連線或框架。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2850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9512" y="116632"/>
            <a:ext cx="90364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zh-TW" sz="3200" dirty="0">
                <a:latin typeface="+mn-ea"/>
              </a:rPr>
              <a:t>子賽局</a:t>
            </a:r>
            <a:r>
              <a:rPr lang="en-US" altLang="zh-TW" sz="3200" dirty="0">
                <a:latin typeface="+mn-ea"/>
              </a:rPr>
              <a:t>Nash</a:t>
            </a:r>
            <a:r>
              <a:rPr lang="zh-TW" altLang="zh-TW" sz="3200" dirty="0">
                <a:latin typeface="+mn-ea"/>
              </a:rPr>
              <a:t>均衡精煉</a:t>
            </a:r>
            <a:r>
              <a:rPr lang="en-US" altLang="zh-TW" sz="3200" dirty="0">
                <a:latin typeface="+mn-ea"/>
              </a:rPr>
              <a:t/>
            </a:r>
            <a:br>
              <a:rPr lang="en-US" altLang="zh-TW" sz="3200" dirty="0">
                <a:latin typeface="+mn-ea"/>
              </a:rPr>
            </a:br>
            <a:r>
              <a:rPr lang="en-US" altLang="zh-TW" sz="3200" dirty="0">
                <a:latin typeface="+mn-ea"/>
              </a:rPr>
              <a:t>(subgame perfect Nash equilibrium, SPNE)</a:t>
            </a:r>
            <a:endParaRPr lang="zh-TW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127585" y="1772816"/>
            <a:ext cx="9036496" cy="4445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3200" dirty="0"/>
              <a:t>賽局中</a:t>
            </a:r>
            <a:r>
              <a:rPr lang="zh-TW" altLang="en-US" sz="3200" dirty="0"/>
              <a:t>的</a:t>
            </a:r>
            <a:r>
              <a:rPr lang="zh-TW" altLang="zh-TW" sz="3200" dirty="0"/>
              <a:t>“子賽局</a:t>
            </a:r>
            <a:r>
              <a:rPr lang="en-US" altLang="zh-TW" sz="3200" dirty="0"/>
              <a:t>”</a:t>
            </a:r>
            <a:r>
              <a:rPr lang="zh-TW" altLang="en-US" sz="3200" dirty="0"/>
              <a:t>裡</a:t>
            </a:r>
            <a:r>
              <a:rPr lang="zh-TW" altLang="zh-TW" sz="3200" dirty="0"/>
              <a:t>，可能有符合</a:t>
            </a:r>
            <a:r>
              <a:rPr lang="en-US" altLang="zh-TW" sz="3200" dirty="0"/>
              <a:t>Nash</a:t>
            </a:r>
            <a:r>
              <a:rPr lang="zh-TW" altLang="zh-TW" sz="3200" dirty="0"/>
              <a:t>均衡定義的策略組合，</a:t>
            </a:r>
            <a:r>
              <a:rPr lang="zh-TW" altLang="en-US" sz="3200" dirty="0"/>
              <a:t>但不</a:t>
            </a:r>
            <a:r>
              <a:rPr lang="zh-TW" altLang="zh-TW" sz="3200" dirty="0"/>
              <a:t>一定符合整個賽局的</a:t>
            </a:r>
            <a:r>
              <a:rPr lang="en-US" altLang="zh-TW" sz="3200" dirty="0"/>
              <a:t>Nash</a:t>
            </a:r>
            <a:r>
              <a:rPr lang="zh-TW" altLang="zh-TW" sz="3200" dirty="0"/>
              <a:t>均衡定義，我們必須針對各子賽局中的</a:t>
            </a:r>
            <a:r>
              <a:rPr lang="en-US" altLang="zh-TW" sz="3200" dirty="0"/>
              <a:t>Nash</a:t>
            </a:r>
            <a:r>
              <a:rPr lang="zh-TW" altLang="zh-TW" sz="3200" dirty="0"/>
              <a:t>均衡進行精煉</a:t>
            </a:r>
            <a:r>
              <a:rPr lang="en-US" altLang="zh-TW" sz="3200" dirty="0"/>
              <a:t>(refining)</a:t>
            </a:r>
            <a:r>
              <a:rPr lang="zh-TW" altLang="zh-TW" sz="3200" dirty="0"/>
              <a:t>或比較，才能找出符合整個賽局的</a:t>
            </a:r>
            <a:r>
              <a:rPr lang="en-US" altLang="zh-TW" sz="3200" dirty="0"/>
              <a:t>Nash</a:t>
            </a:r>
            <a:r>
              <a:rPr lang="zh-TW" altLang="zh-TW" sz="3200" dirty="0"/>
              <a:t>均衡。此</a:t>
            </a:r>
            <a:r>
              <a:rPr lang="en-US" altLang="zh-TW" sz="3200" dirty="0"/>
              <a:t>Nash</a:t>
            </a:r>
            <a:r>
              <a:rPr lang="zh-TW" altLang="zh-TW" sz="3200" dirty="0"/>
              <a:t>均衡</a:t>
            </a:r>
            <a:r>
              <a:rPr lang="zh-TW" altLang="en-US" sz="3200" dirty="0"/>
              <a:t>又</a:t>
            </a:r>
            <a:r>
              <a:rPr lang="zh-TW" altLang="zh-TW" sz="3200" dirty="0"/>
              <a:t>稱之為</a:t>
            </a:r>
            <a:r>
              <a:rPr lang="en-US" altLang="zh-TW" sz="3200" dirty="0"/>
              <a:t>”</a:t>
            </a:r>
            <a:r>
              <a:rPr lang="zh-TW" altLang="zh-TW" sz="3200" dirty="0"/>
              <a:t>子賽局精煉</a:t>
            </a:r>
            <a:r>
              <a:rPr lang="en-US" altLang="zh-TW" sz="3200" dirty="0"/>
              <a:t>Nash</a:t>
            </a:r>
            <a:r>
              <a:rPr lang="zh-TW" altLang="zh-TW" sz="3200" dirty="0"/>
              <a:t>均衡</a:t>
            </a:r>
            <a:r>
              <a:rPr lang="en-US" altLang="zh-TW" sz="3200" dirty="0"/>
              <a:t>”</a:t>
            </a:r>
            <a:r>
              <a:rPr lang="zh-TW" altLang="zh-TW" sz="3200" dirty="0"/>
              <a:t>。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6371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內容版面配置區 2"/>
          <p:cNvSpPr>
            <a:spLocks noGrp="1"/>
          </p:cNvSpPr>
          <p:nvPr>
            <p:ph idx="4294967295"/>
          </p:nvPr>
        </p:nvSpPr>
        <p:spPr>
          <a:xfrm>
            <a:off x="762000" y="2057400"/>
            <a:ext cx="7772400" cy="27082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zh-TW" altLang="zh-TW" sz="3200" dirty="0" smtClean="0"/>
              <a:t>後推法</a:t>
            </a:r>
            <a:r>
              <a:rPr lang="zh-TW" altLang="en-US" sz="3200" dirty="0" smtClean="0"/>
              <a:t>的應用</a:t>
            </a:r>
            <a:r>
              <a:rPr lang="en-US" altLang="zh-TW" sz="3200" dirty="0"/>
              <a:t>(Backward Induction </a:t>
            </a:r>
            <a:r>
              <a:rPr lang="en-US" altLang="zh-TW" sz="3200" dirty="0" smtClean="0"/>
              <a:t>)</a:t>
            </a:r>
            <a:endParaRPr lang="en-US" altLang="zh-TW" sz="3200" dirty="0"/>
          </a:p>
          <a:p>
            <a:pPr marL="457200" indent="-457200">
              <a:buFont typeface="+mj-lt"/>
              <a:buAutoNum type="arabicPeriod"/>
              <a:defRPr/>
            </a:pPr>
            <a:endParaRPr lang="en-US" altLang="zh-TW" sz="3200" dirty="0" smtClean="0"/>
          </a:p>
          <a:p>
            <a:pPr marL="502920" indent="-457200">
              <a:buFont typeface="+mj-lt"/>
              <a:buAutoNum type="arabicPeriod"/>
              <a:defRPr/>
            </a:pPr>
            <a:r>
              <a:rPr lang="en-US" altLang="zh-TW" sz="3200" dirty="0" smtClean="0"/>
              <a:t> </a:t>
            </a:r>
            <a:r>
              <a:rPr lang="zh-TW" altLang="zh-TW" sz="3200" dirty="0" smtClean="0"/>
              <a:t>前推法</a:t>
            </a:r>
            <a:r>
              <a:rPr lang="zh-TW" altLang="en-US" sz="3200" dirty="0" smtClean="0"/>
              <a:t>的應用</a:t>
            </a:r>
            <a:r>
              <a:rPr lang="en-US" altLang="zh-TW" sz="3200" dirty="0" smtClean="0"/>
              <a:t>(Forward Induction )</a:t>
            </a:r>
          </a:p>
          <a:p>
            <a:pPr>
              <a:defRPr/>
            </a:pPr>
            <a:endParaRPr lang="zh-TW" altLang="en-US" sz="3200" dirty="0" smtClean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defRPr sz="3400" b="1">
                <a:solidFill>
                  <a:srgbClr val="0000CC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 algn="just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defRPr sz="3000" b="1">
                <a:solidFill>
                  <a:srgbClr val="80008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 algn="just">
              <a:lnSpc>
                <a:spcPct val="110000"/>
              </a:lnSpc>
              <a:spcBef>
                <a:spcPct val="20000"/>
              </a:spcBef>
              <a:buFont typeface="文鼎中圓" pitchFamily="49" charset="-120"/>
              <a:defRPr sz="2600" b="1">
                <a:solidFill>
                  <a:srgbClr val="3366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 algn="just">
              <a:lnSpc>
                <a:spcPct val="110000"/>
              </a:lnSpc>
              <a:spcBef>
                <a:spcPct val="20000"/>
              </a:spcBef>
              <a:defRPr sz="2200" b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 algn="just">
              <a:lnSpc>
                <a:spcPct val="110000"/>
              </a:lnSpc>
              <a:spcBef>
                <a:spcPct val="20000"/>
              </a:spcBef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fld id="{867A0CE3-39FB-405D-A292-48EE78726B78}" type="slidenum">
              <a:rPr lang="en-US" altLang="zh-TW" sz="1400">
                <a:solidFill>
                  <a:srgbClr val="336600"/>
                </a:solidFill>
                <a:latin typeface="文鼎中圓" pitchFamily="49" charset="-120"/>
                <a:ea typeface="文鼎中圓" pitchFamily="49" charset="-120"/>
              </a:rPr>
              <a:pPr algn="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1400">
              <a:solidFill>
                <a:srgbClr val="336600"/>
              </a:solidFill>
              <a:latin typeface="文鼎中圓" pitchFamily="49" charset="-120"/>
              <a:ea typeface="文鼎中圓" pitchFamily="49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01431" y="469673"/>
            <a:ext cx="44935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3200" dirty="0">
                <a:latin typeface="+mn-ea"/>
              </a:rPr>
              <a:t>第一節 後推法與前推法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7942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63688" y="620688"/>
            <a:ext cx="5519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3200" dirty="0">
                <a:latin typeface="+mn-ea"/>
              </a:rPr>
              <a:t>後推法</a:t>
            </a:r>
            <a:r>
              <a:rPr lang="zh-TW" altLang="en-US" sz="3200" dirty="0">
                <a:latin typeface="+mn-ea"/>
              </a:rPr>
              <a:t>適用的賽局特徵或假設</a:t>
            </a:r>
            <a:endParaRPr lang="zh-TW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395536" y="1844824"/>
            <a:ext cx="84969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>
                <a:latin typeface="+mn-ea"/>
              </a:rPr>
              <a:t>1.</a:t>
            </a:r>
            <a:r>
              <a:rPr lang="zh-TW" altLang="zh-TW" sz="3200" dirty="0">
                <a:latin typeface="+mn-ea"/>
              </a:rPr>
              <a:t>所有參與者都是理性；</a:t>
            </a:r>
          </a:p>
          <a:p>
            <a:pPr>
              <a:lnSpc>
                <a:spcPct val="150000"/>
              </a:lnSpc>
            </a:pPr>
            <a:r>
              <a:rPr lang="en-US" altLang="zh-TW" sz="3200" dirty="0">
                <a:latin typeface="+mn-ea"/>
              </a:rPr>
              <a:t>2.</a:t>
            </a:r>
            <a:r>
              <a:rPr lang="zh-TW" altLang="zh-TW" sz="3200" dirty="0">
                <a:latin typeface="+mn-ea"/>
              </a:rPr>
              <a:t>參與者間的訊息是完全；</a:t>
            </a:r>
          </a:p>
          <a:p>
            <a:pPr>
              <a:lnSpc>
                <a:spcPct val="150000"/>
              </a:lnSpc>
            </a:pPr>
            <a:r>
              <a:rPr lang="en-US" altLang="zh-TW" sz="3200" dirty="0">
                <a:latin typeface="+mn-ea"/>
              </a:rPr>
              <a:t>3.</a:t>
            </a:r>
            <a:r>
              <a:rPr lang="zh-TW" altLang="zh-TW" sz="3200" dirty="0">
                <a:latin typeface="+mn-ea"/>
              </a:rPr>
              <a:t>即使參與者有稍微犯錯可能，子賽局</a:t>
            </a:r>
            <a:r>
              <a:rPr lang="en-US" altLang="zh-TW" sz="3200" dirty="0">
                <a:latin typeface="+mn-ea"/>
              </a:rPr>
              <a:t>Nash</a:t>
            </a:r>
            <a:r>
              <a:rPr lang="zh-TW" altLang="zh-TW" sz="3200" dirty="0" smtClean="0">
                <a:latin typeface="+mn-ea"/>
              </a:rPr>
              <a:t>均</a:t>
            </a:r>
            <a:endParaRPr lang="en-US" altLang="zh-TW" sz="3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3200" dirty="0">
                <a:latin typeface="+mn-ea"/>
              </a:rPr>
              <a:t> </a:t>
            </a:r>
            <a:r>
              <a:rPr lang="en-US" altLang="zh-TW" sz="3200" dirty="0" smtClean="0">
                <a:latin typeface="+mn-ea"/>
              </a:rPr>
              <a:t> </a:t>
            </a:r>
            <a:r>
              <a:rPr lang="zh-TW" altLang="zh-TW" sz="3200" dirty="0" smtClean="0">
                <a:latin typeface="+mn-ea"/>
              </a:rPr>
              <a:t>衡</a:t>
            </a:r>
            <a:r>
              <a:rPr lang="zh-TW" altLang="zh-TW" sz="3200" dirty="0">
                <a:latin typeface="+mn-ea"/>
              </a:rPr>
              <a:t>仍是穩定</a:t>
            </a:r>
            <a:r>
              <a:rPr lang="zh-TW" altLang="zh-TW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99042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70552" y="1135646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3200" dirty="0" smtClean="0">
                <a:latin typeface="+mn-ea"/>
              </a:rPr>
              <a:t>例</a:t>
            </a:r>
            <a:r>
              <a:rPr lang="en-US" altLang="zh-TW" sz="3200" dirty="0" smtClean="0">
                <a:latin typeface="+mn-ea"/>
              </a:rPr>
              <a:t>1 </a:t>
            </a:r>
            <a:r>
              <a:rPr lang="zh-TW" altLang="zh-TW" sz="3200" dirty="0" smtClean="0">
                <a:latin typeface="+mn-ea"/>
              </a:rPr>
              <a:t>不可</a:t>
            </a:r>
            <a:r>
              <a:rPr lang="zh-TW" altLang="zh-TW" sz="3200" dirty="0">
                <a:latin typeface="+mn-ea"/>
              </a:rPr>
              <a:t>置信的威脅</a:t>
            </a:r>
            <a:endParaRPr lang="zh-TW" altLang="en-US" sz="3200" dirty="0"/>
          </a:p>
        </p:txBody>
      </p:sp>
      <p:sp>
        <p:nvSpPr>
          <p:cNvPr id="22" name="矩形 21"/>
          <p:cNvSpPr/>
          <p:nvPr/>
        </p:nvSpPr>
        <p:spPr>
          <a:xfrm>
            <a:off x="2502326" y="6161976"/>
            <a:ext cx="480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2400" dirty="0">
                <a:latin typeface="+mn-ea"/>
              </a:rPr>
              <a:t>圖</a:t>
            </a:r>
            <a:r>
              <a:rPr lang="en-US" altLang="zh-TW" sz="2400" dirty="0">
                <a:latin typeface="+mn-ea"/>
              </a:rPr>
              <a:t>5-1-1 </a:t>
            </a:r>
            <a:r>
              <a:rPr lang="zh-TW" altLang="en-US" sz="2400" dirty="0">
                <a:latin typeface="+mn-ea"/>
              </a:rPr>
              <a:t>甲與乙的策略競爭賽局樹</a:t>
            </a:r>
          </a:p>
        </p:txBody>
      </p:sp>
      <p:sp>
        <p:nvSpPr>
          <p:cNvPr id="23" name="矩形 22"/>
          <p:cNvSpPr/>
          <p:nvPr/>
        </p:nvSpPr>
        <p:spPr>
          <a:xfrm>
            <a:off x="2410746" y="173478"/>
            <a:ext cx="3595856" cy="744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 hangingPunct="0"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 smtClean="0">
                <a:latin typeface="Times New Roman" panose="02020603050405020304" pitchFamily="18" charset="0"/>
              </a:rPr>
              <a:t>一</a:t>
            </a:r>
            <a:r>
              <a:rPr lang="zh-TW" altLang="zh-TW" sz="3200" b="1" kern="100" dirty="0" smtClean="0">
                <a:latin typeface="Times New Roman" panose="02020603050405020304" pitchFamily="18" charset="0"/>
              </a:rPr>
              <a:t>、</a:t>
            </a:r>
            <a:r>
              <a:rPr lang="zh-TW" altLang="en-US" sz="3200" b="1" kern="100" dirty="0" smtClean="0">
                <a:latin typeface="Times New Roman" panose="02020603050405020304" pitchFamily="18" charset="0"/>
              </a:rPr>
              <a:t>後</a:t>
            </a:r>
            <a:r>
              <a:rPr lang="zh-TW" altLang="zh-TW" sz="3200" b="1" kern="100" dirty="0" smtClean="0">
                <a:latin typeface="Times New Roman" panose="02020603050405020304" pitchFamily="18" charset="0"/>
              </a:rPr>
              <a:t>推</a:t>
            </a:r>
            <a:r>
              <a:rPr lang="zh-TW" altLang="zh-TW" sz="3200" b="1" kern="100" dirty="0">
                <a:latin typeface="Times New Roman" panose="02020603050405020304" pitchFamily="18" charset="0"/>
              </a:rPr>
              <a:t>法的應用</a:t>
            </a:r>
            <a:endParaRPr lang="zh-TW" altLang="zh-TW" sz="3200" kern="100" dirty="0">
              <a:latin typeface="Times New Roman" panose="02020603050405020304" pitchFamily="18" charset="0"/>
            </a:endParaRPr>
          </a:p>
        </p:txBody>
      </p:sp>
      <p:sp>
        <p:nvSpPr>
          <p:cNvPr id="18433" name="矩形 37"/>
          <p:cNvSpPr>
            <a:spLocks noChangeArrowheads="1"/>
          </p:cNvSpPr>
          <p:nvPr/>
        </p:nvSpPr>
        <p:spPr bwMode="auto">
          <a:xfrm>
            <a:off x="6372200" y="4149080"/>
            <a:ext cx="931440" cy="44881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(4,1)</a:t>
            </a:r>
            <a:endParaRPr kumimoji="1" lang="en-US" altLang="zh-TW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979712" y="2585014"/>
            <a:ext cx="5184816" cy="2572177"/>
            <a:chOff x="2070" y="2705"/>
            <a:chExt cx="6100" cy="2558"/>
          </a:xfrm>
        </p:grpSpPr>
        <p:grpSp>
          <p:nvGrpSpPr>
            <p:cNvPr id="18437" name="群組 39"/>
            <p:cNvGrpSpPr>
              <a:grpSpLocks/>
            </p:cNvGrpSpPr>
            <p:nvPr/>
          </p:nvGrpSpPr>
          <p:grpSpPr bwMode="auto">
            <a:xfrm>
              <a:off x="2070" y="2705"/>
              <a:ext cx="6100" cy="2558"/>
              <a:chOff x="1712" y="4603"/>
              <a:chExt cx="38738" cy="16249"/>
            </a:xfrm>
          </p:grpSpPr>
          <p:sp>
            <p:nvSpPr>
              <p:cNvPr id="18456" name="矩形 1"/>
              <p:cNvSpPr>
                <a:spLocks noChangeArrowheads="1"/>
              </p:cNvSpPr>
              <p:nvPr/>
            </p:nvSpPr>
            <p:spPr bwMode="auto">
              <a:xfrm>
                <a:off x="1712" y="11992"/>
                <a:ext cx="3429" cy="647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TW" sz="2400" b="1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標楷體" pitchFamily="65" charset="-120"/>
                    <a:ea typeface="標楷體" pitchFamily="65" charset="-120"/>
                    <a:cs typeface="Calibri" pitchFamily="34" charset="0"/>
                  </a:rPr>
                  <a:t>甲</a:t>
                </a:r>
                <a:endParaRPr kumimoji="1" lang="zh-TW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  <a:cs typeface="新細明體" pitchFamily="18" charset="-120"/>
                </a:endParaRPr>
              </a:p>
            </p:txBody>
          </p:sp>
          <p:grpSp>
            <p:nvGrpSpPr>
              <p:cNvPr id="62" name="群組 38"/>
              <p:cNvGrpSpPr>
                <a:grpSpLocks/>
              </p:cNvGrpSpPr>
              <p:nvPr/>
            </p:nvGrpSpPr>
            <p:grpSpPr bwMode="auto">
              <a:xfrm>
                <a:off x="5047" y="4603"/>
                <a:ext cx="35403" cy="16249"/>
                <a:chOff x="952" y="4603"/>
                <a:chExt cx="35402" cy="16249"/>
              </a:xfrm>
            </p:grpSpPr>
            <p:grpSp>
              <p:nvGrpSpPr>
                <p:cNvPr id="67" name="群組 34"/>
                <p:cNvGrpSpPr>
                  <a:grpSpLocks/>
                </p:cNvGrpSpPr>
                <p:nvPr/>
              </p:nvGrpSpPr>
              <p:grpSpPr bwMode="auto">
                <a:xfrm>
                  <a:off x="952" y="4952"/>
                  <a:ext cx="29431" cy="15900"/>
                  <a:chOff x="-286" y="4952"/>
                  <a:chExt cx="29431" cy="15900"/>
                </a:xfrm>
              </p:grpSpPr>
              <p:grpSp>
                <p:nvGrpSpPr>
                  <p:cNvPr id="68" name="群組 16"/>
                  <p:cNvGrpSpPr>
                    <a:grpSpLocks/>
                  </p:cNvGrpSpPr>
                  <p:nvPr/>
                </p:nvGrpSpPr>
                <p:grpSpPr bwMode="auto">
                  <a:xfrm>
                    <a:off x="-286" y="6762"/>
                    <a:ext cx="20383" cy="14090"/>
                    <a:chOff x="-286" y="3048"/>
                    <a:chExt cx="20383" cy="14090"/>
                  </a:xfrm>
                </p:grpSpPr>
                <p:sp>
                  <p:nvSpPr>
                    <p:cNvPr id="18455" name="橢圓 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286" y="10664"/>
                      <a:ext cx="1524" cy="1524"/>
                    </a:xfrm>
                    <a:prstGeom prst="ellips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新細明體" pitchFamily="18" charset="-120"/>
                        <a:cs typeface="新細明體" pitchFamily="18" charset="-120"/>
                      </a:endParaRPr>
                    </a:p>
                  </p:txBody>
                </p:sp>
                <p:sp>
                  <p:nvSpPr>
                    <p:cNvPr id="70" name="直線接點 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143" y="6953"/>
                      <a:ext cx="14763" cy="4381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71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43" y="11334"/>
                      <a:ext cx="11906" cy="352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8452" name="矩形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86" y="5715"/>
                      <a:ext cx="6001" cy="3048"/>
                    </a:xfrm>
                    <a:prstGeom prst="rect">
                      <a:avLst/>
                    </a:prstGeom>
                    <a:noFill/>
                    <a:ln w="12700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新細明體" pitchFamily="18" charset="-120"/>
                        <a:cs typeface="新細明體" pitchFamily="18" charset="-120"/>
                      </a:endParaRPr>
                    </a:p>
                  </p:txBody>
                </p:sp>
                <p:sp>
                  <p:nvSpPr>
                    <p:cNvPr id="18450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61" y="13793"/>
                      <a:ext cx="5526" cy="3048"/>
                    </a:xfrm>
                    <a:prstGeom prst="rect">
                      <a:avLst/>
                    </a:prstGeom>
                    <a:noFill/>
                    <a:ln w="12700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新細明體" pitchFamily="18" charset="-120"/>
                        <a:cs typeface="新細明體" pitchFamily="18" charset="-120"/>
                      </a:endParaRPr>
                    </a:p>
                  </p:txBody>
                </p:sp>
                <p:sp>
                  <p:nvSpPr>
                    <p:cNvPr id="74" name="Oval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002" y="6096"/>
                      <a:ext cx="1524" cy="1524"/>
                    </a:xfrm>
                    <a:prstGeom prst="ellips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8448" name="Rectangle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239" y="3048"/>
                      <a:ext cx="6858" cy="3048"/>
                    </a:xfrm>
                    <a:prstGeom prst="rect">
                      <a:avLst/>
                    </a:prstGeom>
                    <a:noFill/>
                    <a:ln w="12700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Calibri" pitchFamily="34" charset="0"/>
                        </a:rPr>
                        <a:t>乙</a:t>
                      </a:r>
                      <a:endParaRPr kumimoji="1" lang="zh-TW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新細明體" pitchFamily="18" charset="-120"/>
                        <a:cs typeface="新細明體" pitchFamily="18" charset="-120"/>
                      </a:endParaRPr>
                    </a:p>
                  </p:txBody>
                </p:sp>
                <p:sp>
                  <p:nvSpPr>
                    <p:cNvPr id="18447" name="矩形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20" y="14090"/>
                      <a:ext cx="6858" cy="3048"/>
                    </a:xfrm>
                    <a:prstGeom prst="rect">
                      <a:avLst/>
                    </a:prstGeom>
                    <a:noFill/>
                    <a:ln w="12700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(2,5)</a:t>
                      </a:r>
                      <a:endParaRPr kumimoji="1" lang="en-US" altLang="zh-TW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新細明體" pitchFamily="18" charset="-120"/>
                        <a:cs typeface="新細明體" pitchFamily="18" charset="-120"/>
                      </a:endParaRPr>
                    </a:p>
                  </p:txBody>
                </p:sp>
              </p:grpSp>
              <p:grpSp>
                <p:nvGrpSpPr>
                  <p:cNvPr id="78" name="群組 25"/>
                  <p:cNvGrpSpPr>
                    <a:grpSpLocks/>
                  </p:cNvGrpSpPr>
                  <p:nvPr/>
                </p:nvGrpSpPr>
                <p:grpSpPr bwMode="auto">
                  <a:xfrm>
                    <a:off x="17335" y="4952"/>
                    <a:ext cx="11810" cy="11335"/>
                    <a:chOff x="-190" y="4667"/>
                    <a:chExt cx="11810" cy="11335"/>
                  </a:xfrm>
                </p:grpSpPr>
                <p:sp>
                  <p:nvSpPr>
                    <p:cNvPr id="80" name="Line 1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-190" y="6286"/>
                      <a:ext cx="11810" cy="3429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81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-3" y="10285"/>
                      <a:ext cx="11238" cy="428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8443" name="Rectangle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24" y="12954"/>
                      <a:ext cx="6001" cy="3048"/>
                    </a:xfrm>
                    <a:prstGeom prst="rect">
                      <a:avLst/>
                    </a:prstGeom>
                    <a:noFill/>
                    <a:ln w="12700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Calibri" pitchFamily="34" charset="0"/>
                        </a:rPr>
                        <a:t>L</a:t>
                      </a:r>
                      <a:endParaRPr kumimoji="1" lang="en-US" altLang="zh-TW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新細明體" pitchFamily="18" charset="-120"/>
                        <a:cs typeface="新細明體" pitchFamily="18" charset="-120"/>
                      </a:endParaRPr>
                    </a:p>
                  </p:txBody>
                </p:sp>
                <p:sp>
                  <p:nvSpPr>
                    <p:cNvPr id="18442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62" y="4667"/>
                      <a:ext cx="6763" cy="3048"/>
                    </a:xfrm>
                    <a:prstGeom prst="rect">
                      <a:avLst/>
                    </a:prstGeom>
                    <a:noFill/>
                    <a:ln w="12700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Calibri" pitchFamily="34" charset="0"/>
                        </a:rPr>
                        <a:t>R</a:t>
                      </a:r>
                      <a:endParaRPr kumimoji="1" lang="en-US" altLang="zh-TW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新細明體" pitchFamily="18" charset="-120"/>
                        <a:cs typeface="新細明體" pitchFamily="18" charset="-120"/>
                      </a:endParaRPr>
                    </a:p>
                  </p:txBody>
                </p:sp>
              </p:grpSp>
            </p:grpSp>
            <p:sp>
              <p:nvSpPr>
                <p:cNvPr id="18439" name="Rectangle 7"/>
                <p:cNvSpPr>
                  <a:spLocks noChangeArrowheads="1"/>
                </p:cNvSpPr>
                <p:nvPr/>
              </p:nvSpPr>
              <p:spPr bwMode="auto">
                <a:xfrm>
                  <a:off x="29358" y="4603"/>
                  <a:ext cx="6996" cy="383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zh-TW" sz="2400" b="0" i="0" u="none" strike="noStrike" cap="none" normalizeH="0" baseline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(0,0)</a:t>
                  </a:r>
                  <a:endParaRPr kumimoji="1" lang="en-US" altLang="zh-TW" sz="2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新細明體" pitchFamily="18" charset="-120"/>
                    <a:cs typeface="新細明體" pitchFamily="18" charset="-12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zh-TW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新細明體" pitchFamily="18" charset="-120"/>
                    <a:cs typeface="新細明體" pitchFamily="18" charset="-120"/>
                  </a:endParaRPr>
                </a:p>
              </p:txBody>
            </p:sp>
          </p:grpSp>
        </p:grpSp>
        <p:sp>
          <p:nvSpPr>
            <p:cNvPr id="18436" name="AutoShape 4"/>
            <p:cNvSpPr>
              <a:spLocks noChangeShapeType="1"/>
            </p:cNvSpPr>
            <p:nvPr/>
          </p:nvSpPr>
          <p:spPr bwMode="auto">
            <a:xfrm flipH="1" flipV="1">
              <a:off x="5839" y="3716"/>
              <a:ext cx="1074" cy="39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8435" name="AutoShape 3"/>
            <p:cNvSpPr>
              <a:spLocks noChangeShapeType="1"/>
            </p:cNvSpPr>
            <p:nvPr/>
          </p:nvSpPr>
          <p:spPr bwMode="auto">
            <a:xfrm flipH="1">
              <a:off x="3617" y="3892"/>
              <a:ext cx="1108" cy="33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18458" name="Rectangle 2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8463" name="Rectangle 31"/>
          <p:cNvSpPr>
            <a:spLocks noChangeArrowheads="1"/>
          </p:cNvSpPr>
          <p:nvPr/>
        </p:nvSpPr>
        <p:spPr bwMode="auto">
          <a:xfrm>
            <a:off x="4572000" y="45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470" name="Rectangle 38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270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endParaRPr kumimoji="1" lang="en-US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/>
              <p:cNvSpPr txBox="1"/>
              <p:nvPr/>
            </p:nvSpPr>
            <p:spPr>
              <a:xfrm>
                <a:off x="3338674" y="3451741"/>
                <a:ext cx="28098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674" y="3451741"/>
                <a:ext cx="280987" cy="369332"/>
              </a:xfrm>
              <a:prstGeom prst="rect">
                <a:avLst/>
              </a:prstGeom>
              <a:blipFill>
                <a:blip r:embed="rId2"/>
                <a:stretch>
                  <a:fillRect l="-19565" r="-13043" b="-22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11"/>
              <p:cNvSpPr>
                <a:spLocks noChangeArrowheads="1"/>
              </p:cNvSpPr>
              <p:nvPr/>
            </p:nvSpPr>
            <p:spPr bwMode="auto">
              <a:xfrm>
                <a:off x="3038027" y="4672566"/>
                <a:ext cx="552450" cy="304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𝓁</m:t>
                      </m:r>
                    </m:oMath>
                  </m:oMathPara>
                </a14:m>
                <a:endParaRPr lang="zh-TW" sz="2400" kern="100" dirty="0">
                  <a:effectLst/>
                  <a:latin typeface="Calibri" panose="020F0502020204030204" pitchFamily="34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8027" y="4672566"/>
                <a:ext cx="552450" cy="304165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059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71800" y="260648"/>
            <a:ext cx="27751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>
              <a:defRPr/>
            </a:pPr>
            <a:r>
              <a:rPr lang="zh-TW" altLang="zh-TW" sz="3200" b="1" dirty="0" smtClean="0">
                <a:latin typeface="+mn-ea"/>
              </a:rPr>
              <a:t>例</a:t>
            </a:r>
            <a:r>
              <a:rPr lang="en-US" altLang="zh-TW" sz="3200" b="1" dirty="0" smtClean="0">
                <a:latin typeface="+mn-ea"/>
              </a:rPr>
              <a:t>2</a:t>
            </a:r>
            <a:r>
              <a:rPr lang="zh-TW" altLang="en-US" sz="3200" b="1" dirty="0" smtClean="0">
                <a:latin typeface="+mn-ea"/>
              </a:rPr>
              <a:t> </a:t>
            </a:r>
            <a:r>
              <a:rPr lang="zh-TW" altLang="zh-TW" sz="3200" b="1" dirty="0">
                <a:latin typeface="+mn-ea"/>
              </a:rPr>
              <a:t>膠帶賽局</a:t>
            </a:r>
          </a:p>
        </p:txBody>
      </p:sp>
      <p:grpSp>
        <p:nvGrpSpPr>
          <p:cNvPr id="3" name="群組 116"/>
          <p:cNvGrpSpPr>
            <a:grpSpLocks/>
          </p:cNvGrpSpPr>
          <p:nvPr/>
        </p:nvGrpSpPr>
        <p:grpSpPr bwMode="auto">
          <a:xfrm>
            <a:off x="571500" y="969963"/>
            <a:ext cx="7956550" cy="4851400"/>
            <a:chOff x="0" y="761"/>
            <a:chExt cx="44016" cy="20669"/>
          </a:xfrm>
        </p:grpSpPr>
        <p:sp>
          <p:nvSpPr>
            <p:cNvPr id="4" name="Rectangle 33"/>
            <p:cNvSpPr>
              <a:spLocks noChangeArrowheads="1"/>
            </p:cNvSpPr>
            <p:nvPr/>
          </p:nvSpPr>
          <p:spPr bwMode="auto">
            <a:xfrm>
              <a:off x="18047" y="14558"/>
              <a:ext cx="4101" cy="5891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anchor="ctr"/>
            <a:lstStyle/>
            <a:p>
              <a:pPr algn="ctr">
                <a:defRPr/>
              </a:pPr>
              <a:r>
                <a:rPr lang="zh-TW" sz="2000" dirty="0">
                  <a:solidFill>
                    <a:srgbClr val="000000"/>
                  </a:solidFill>
                  <a:latin typeface="+mn-ea"/>
                  <a:ea typeface="+mn-ea"/>
                  <a:cs typeface="Times New Roman" pitchFamily="18" charset="0"/>
                </a:rPr>
                <a:t>炎洲</a:t>
              </a:r>
              <a:endParaRPr lang="zh-TW" sz="2000" dirty="0">
                <a:latin typeface="+mn-ea"/>
                <a:ea typeface="+mn-ea"/>
              </a:endParaRPr>
            </a:p>
          </p:txBody>
        </p:sp>
        <p:grpSp>
          <p:nvGrpSpPr>
            <p:cNvPr id="5" name="群組 115"/>
            <p:cNvGrpSpPr>
              <a:grpSpLocks/>
            </p:cNvGrpSpPr>
            <p:nvPr/>
          </p:nvGrpSpPr>
          <p:grpSpPr bwMode="auto">
            <a:xfrm>
              <a:off x="0" y="761"/>
              <a:ext cx="44016" cy="20669"/>
              <a:chOff x="0" y="761"/>
              <a:chExt cx="44016" cy="20669"/>
            </a:xfrm>
          </p:grpSpPr>
          <p:sp>
            <p:nvSpPr>
              <p:cNvPr id="6" name="Rectangle 32"/>
              <p:cNvSpPr>
                <a:spLocks noChangeArrowheads="1"/>
              </p:cNvSpPr>
              <p:nvPr/>
            </p:nvSpPr>
            <p:spPr bwMode="auto">
              <a:xfrm>
                <a:off x="17380" y="1633"/>
                <a:ext cx="4101" cy="5904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TW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itchFamily="18" charset="0"/>
                  </a:rPr>
                  <a:t>炎洲</a:t>
                </a:r>
                <a:endParaRPr lang="zh-TW" sz="2000" dirty="0">
                  <a:latin typeface="+mn-ea"/>
                  <a:ea typeface="+mn-ea"/>
                </a:endParaRPr>
              </a:p>
            </p:txBody>
          </p:sp>
          <p:grpSp>
            <p:nvGrpSpPr>
              <p:cNvPr id="7" name="群組 114"/>
              <p:cNvGrpSpPr>
                <a:grpSpLocks/>
              </p:cNvGrpSpPr>
              <p:nvPr/>
            </p:nvGrpSpPr>
            <p:grpSpPr bwMode="auto">
              <a:xfrm>
                <a:off x="0" y="761"/>
                <a:ext cx="44016" cy="20669"/>
                <a:chOff x="0" y="571"/>
                <a:chExt cx="44016" cy="20668"/>
              </a:xfrm>
            </p:grpSpPr>
            <p:sp>
              <p:nvSpPr>
                <p:cNvPr id="8" name="Line 31"/>
                <p:cNvSpPr>
                  <a:spLocks noChangeShapeType="1"/>
                </p:cNvSpPr>
                <p:nvPr/>
              </p:nvSpPr>
              <p:spPr bwMode="auto">
                <a:xfrm>
                  <a:off x="6762" y="11811"/>
                  <a:ext cx="11906" cy="352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9" name="群組 113"/>
                <p:cNvGrpSpPr>
                  <a:grpSpLocks/>
                </p:cNvGrpSpPr>
                <p:nvPr/>
              </p:nvGrpSpPr>
              <p:grpSpPr bwMode="auto">
                <a:xfrm>
                  <a:off x="0" y="571"/>
                  <a:ext cx="44016" cy="20668"/>
                  <a:chOff x="0" y="571"/>
                  <a:chExt cx="44016" cy="20668"/>
                </a:xfrm>
              </p:grpSpPr>
              <p:sp>
                <p:nvSpPr>
                  <p:cNvPr id="10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18669" y="14573"/>
                    <a:ext cx="1524" cy="1523"/>
                  </a:xfrm>
                  <a:prstGeom prst="ellipse">
                    <a:avLst/>
                  </a:prstGeom>
                  <a:no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/>
                  <a:lstStyle>
                    <a:lvl1pPr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400" b="1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1pPr>
                    <a:lvl2pPr marL="742950" indent="-28575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000" b="1">
                        <a:solidFill>
                          <a:srgbClr val="80008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2pPr>
                    <a:lvl3pPr marL="11430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文鼎中圓" pitchFamily="49" charset="-120"/>
                      <a:defRPr sz="2600" b="1">
                        <a:solidFill>
                          <a:srgbClr val="3366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3pPr>
                    <a:lvl4pPr marL="16002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defRPr sz="22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4pPr>
                    <a:lvl5pPr marL="20574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5pPr>
                    <a:lvl6pPr marL="25146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6pPr>
                    <a:lvl7pPr marL="29718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7pPr>
                    <a:lvl8pPr marL="34290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8pPr>
                    <a:lvl9pPr marL="38862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9pPr>
                  </a:lstStyle>
                  <a:p>
                    <a:pPr algn="l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zh-TW" altLang="en-US" sz="2400" b="0">
                      <a:solidFill>
                        <a:schemeClr val="tx1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11" name="橢圓 3"/>
                  <p:cNvSpPr>
                    <a:spLocks noChangeArrowheads="1"/>
                  </p:cNvSpPr>
                  <p:nvPr/>
                </p:nvSpPr>
                <p:spPr bwMode="auto">
                  <a:xfrm>
                    <a:off x="5619" y="10382"/>
                    <a:ext cx="1524" cy="1523"/>
                  </a:xfrm>
                  <a:prstGeom prst="ellipse">
                    <a:avLst/>
                  </a:prstGeom>
                  <a:no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/>
                  <a:lstStyle>
                    <a:lvl1pPr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400" b="1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1pPr>
                    <a:lvl2pPr marL="742950" indent="-28575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000" b="1">
                        <a:solidFill>
                          <a:srgbClr val="80008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2pPr>
                    <a:lvl3pPr marL="11430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文鼎中圓" pitchFamily="49" charset="-120"/>
                      <a:defRPr sz="2600" b="1">
                        <a:solidFill>
                          <a:srgbClr val="3366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3pPr>
                    <a:lvl4pPr marL="16002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defRPr sz="22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4pPr>
                    <a:lvl5pPr marL="20574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5pPr>
                    <a:lvl6pPr marL="25146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6pPr>
                    <a:lvl7pPr marL="29718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7pPr>
                    <a:lvl8pPr marL="34290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8pPr>
                    <a:lvl9pPr marL="38862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9pPr>
                  </a:lstStyle>
                  <a:p>
                    <a:pPr algn="l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zh-TW" altLang="zh-TW" sz="2400" b="0">
                      <a:solidFill>
                        <a:schemeClr val="tx1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12" name="直線接點 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762" y="5905"/>
                    <a:ext cx="12130" cy="4537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13" name="矩形 7"/>
                  <p:cNvSpPr>
                    <a:spLocks noChangeArrowheads="1"/>
                  </p:cNvSpPr>
                  <p:nvPr/>
                </p:nvSpPr>
                <p:spPr bwMode="auto">
                  <a:xfrm>
                    <a:off x="8194" y="5907"/>
                    <a:ext cx="5998" cy="3043"/>
                  </a:xfrm>
                  <a:prstGeom prst="rect">
                    <a:avLst/>
                  </a:prstGeom>
                  <a:noFill/>
                  <a:ln>
                    <a:noFill/>
                  </a:ln>
                  <a:extLst/>
                </p:spPr>
                <p:txBody>
                  <a:bodyPr anchor="ctr"/>
                  <a:lstStyle/>
                  <a:p>
                    <a:pPr algn="ctr">
                      <a:defRPr/>
                    </a:pPr>
                    <a:r>
                      <a:rPr lang="zh-TW" sz="20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itchFamily="18" charset="0"/>
                      </a:rPr>
                      <a:t>追打</a:t>
                    </a:r>
                    <a:endParaRPr lang="zh-TW" sz="2000" dirty="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8097" y="13428"/>
                    <a:ext cx="6762" cy="30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/>
                </p:spPr>
                <p:txBody>
                  <a:bodyPr anchor="ctr"/>
                  <a:lstStyle/>
                  <a:p>
                    <a:pPr algn="ctr">
                      <a:defRPr/>
                    </a:pPr>
                    <a:r>
                      <a:rPr lang="zh-TW" sz="20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itchFamily="18" charset="0"/>
                      </a:rPr>
                      <a:t>放任</a:t>
                    </a:r>
                    <a:endParaRPr lang="zh-TW" sz="2000" dirty="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0" y="9525"/>
                    <a:ext cx="6763" cy="304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400" b="1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1pPr>
                    <a:lvl2pPr marL="742950" indent="-28575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000" b="1">
                        <a:solidFill>
                          <a:srgbClr val="80008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2pPr>
                    <a:lvl3pPr marL="11430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文鼎中圓" pitchFamily="49" charset="-120"/>
                      <a:defRPr sz="2600" b="1">
                        <a:solidFill>
                          <a:srgbClr val="3366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3pPr>
                    <a:lvl4pPr marL="16002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defRPr sz="22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4pPr>
                    <a:lvl5pPr marL="20574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5pPr>
                    <a:lvl6pPr marL="25146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6pPr>
                    <a:lvl7pPr marL="29718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7pPr>
                    <a:lvl8pPr marL="34290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8pPr>
                    <a:lvl9pPr marL="38862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TW" sz="2000" b="0">
                        <a:solidFill>
                          <a:srgbClr val="000000"/>
                        </a:solidFill>
                        <a:latin typeface="標楷體" panose="03000509000000000000" pitchFamily="65" charset="-12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a:t>3M</a:t>
                    </a:r>
                    <a:endParaRPr lang="en-US" altLang="zh-TW" sz="2000" b="0">
                      <a:solidFill>
                        <a:schemeClr val="tx1"/>
                      </a:solidFill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6" name="群組 112"/>
                  <p:cNvGrpSpPr>
                    <a:grpSpLocks/>
                  </p:cNvGrpSpPr>
                  <p:nvPr/>
                </p:nvGrpSpPr>
                <p:grpSpPr bwMode="auto">
                  <a:xfrm>
                    <a:off x="18859" y="571"/>
                    <a:ext cx="24275" cy="10376"/>
                    <a:chOff x="0" y="571"/>
                    <a:chExt cx="24275" cy="10376"/>
                  </a:xfrm>
                </p:grpSpPr>
                <p:sp>
                  <p:nvSpPr>
                    <p:cNvPr id="24" name="Oval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5143"/>
                      <a:ext cx="1524" cy="1518"/>
                    </a:xfrm>
                    <a:prstGeom prst="ellips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/>
                    <a:lstStyle>
                      <a:lvl1pPr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3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1pPr>
                      <a:lvl2pPr marL="742950" indent="-28575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3000" b="1">
                          <a:solidFill>
                            <a:srgbClr val="80008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2pPr>
                      <a:lvl3pPr marL="11430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文鼎中圓" pitchFamily="49" charset="-120"/>
                        <a:defRPr sz="2600" b="1">
                          <a:solidFill>
                            <a:srgbClr val="3366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3pPr>
                      <a:lvl4pPr marL="16002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defRPr sz="2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4pPr>
                      <a:lvl5pPr marL="20574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5pPr>
                      <a:lvl6pPr marL="25146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6pPr>
                      <a:lvl7pPr marL="29718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7pPr>
                      <a:lvl8pPr marL="34290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8pPr>
                      <a:lvl9pPr marL="38862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algn="l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zh-TW" altLang="en-US" sz="2400" b="0">
                        <a:solidFill>
                          <a:schemeClr val="tx1"/>
                        </a:solidFill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25" name="Line 2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428" y="2190"/>
                      <a:ext cx="11805" cy="342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6" name="Rectangle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8" y="571"/>
                      <a:ext cx="6762" cy="304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進入</a:t>
                      </a:r>
                      <a:endParaRPr lang="zh-TW" sz="2000" dirty="0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27" name="Rectangle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518" y="571"/>
                      <a:ext cx="10757" cy="30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anchor="ctr"/>
                    <a:lstStyle>
                      <a:lvl1pPr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3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1pPr>
                      <a:lvl2pPr marL="742950" indent="-28575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3000" b="1">
                          <a:solidFill>
                            <a:srgbClr val="80008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2pPr>
                      <a:lvl3pPr marL="11430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文鼎中圓" pitchFamily="49" charset="-120"/>
                        <a:defRPr sz="2600" b="1">
                          <a:solidFill>
                            <a:srgbClr val="3366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3pPr>
                      <a:lvl4pPr marL="16002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defRPr sz="2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4pPr>
                      <a:lvl5pPr marL="20574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5pPr>
                      <a:lvl6pPr marL="25146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6pPr>
                      <a:lvl7pPr marL="29718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7pPr>
                      <a:lvl8pPr marL="34290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8pPr>
                      <a:lvl9pPr marL="38862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TW" sz="2000" b="0">
                          <a:solidFill>
                            <a:srgbClr val="000000"/>
                          </a:solidFill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(3.8 , -2.5</a:t>
                      </a:r>
                      <a:r>
                        <a:rPr lang="en-US" altLang="zh-TW" sz="1200" b="0">
                          <a:solidFill>
                            <a:srgbClr val="000000"/>
                          </a:solidFill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TW" sz="700" b="0">
                        <a:solidFill>
                          <a:schemeClr val="tx1"/>
                        </a:solidFill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zh-TW" sz="2400" b="0">
                        <a:solidFill>
                          <a:schemeClr val="tx1"/>
                        </a:solidFill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19" y="6191"/>
                      <a:ext cx="12662" cy="3431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9" name="Rectangle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04" y="7862"/>
                      <a:ext cx="8668" cy="304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zh-TW" sz="18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不進入</a:t>
                      </a:r>
                      <a:endParaRPr lang="zh-TW" sz="1800" dirty="0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30" name="矩形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11" y="7905"/>
                      <a:ext cx="10756" cy="30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anchor="ctr"/>
                    <a:lstStyle>
                      <a:lvl1pPr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3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1pPr>
                      <a:lvl2pPr marL="742950" indent="-28575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3000" b="1">
                          <a:solidFill>
                            <a:srgbClr val="80008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2pPr>
                      <a:lvl3pPr marL="11430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Font typeface="文鼎中圓" pitchFamily="49" charset="-120"/>
                        <a:defRPr sz="2600" b="1">
                          <a:solidFill>
                            <a:srgbClr val="3366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3pPr>
                      <a:lvl4pPr marL="16002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defRPr sz="22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4pPr>
                      <a:lvl5pPr marL="2057400" indent="-228600" algn="just">
                        <a:lnSpc>
                          <a:spcPct val="110000"/>
                        </a:lnSpc>
                        <a:spcBef>
                          <a:spcPct val="20000"/>
                        </a:spcBef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5pPr>
                      <a:lvl6pPr marL="25146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6pPr>
                      <a:lvl7pPr marL="29718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7pPr>
                      <a:lvl8pPr marL="34290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8pPr>
                      <a:lvl9pPr marL="3886200" indent="-228600" algn="just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TW" sz="2000" b="0">
                          <a:solidFill>
                            <a:srgbClr val="000000"/>
                          </a:solidFill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(4.5 , 0</a:t>
                      </a:r>
                      <a:r>
                        <a:rPr lang="en-US" altLang="zh-TW" sz="1200" b="0">
                          <a:solidFill>
                            <a:srgbClr val="000000"/>
                          </a:solidFill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TW" sz="700" b="0">
                        <a:solidFill>
                          <a:schemeClr val="tx1"/>
                        </a:solidFill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zh-TW" sz="2400" b="0">
                        <a:solidFill>
                          <a:schemeClr val="tx1"/>
                        </a:solidFill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17" name="群組 25"/>
                  <p:cNvGrpSpPr>
                    <a:grpSpLocks/>
                  </p:cNvGrpSpPr>
                  <p:nvPr/>
                </p:nvGrpSpPr>
                <p:grpSpPr bwMode="auto">
                  <a:xfrm>
                    <a:off x="20097" y="11430"/>
                    <a:ext cx="12856" cy="9809"/>
                    <a:chOff x="-190" y="5804"/>
                    <a:chExt cx="12858" cy="9815"/>
                  </a:xfrm>
                </p:grpSpPr>
                <p:sp>
                  <p:nvSpPr>
                    <p:cNvPr id="20" name="Line 1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-190" y="7805"/>
                      <a:ext cx="12858" cy="190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-190" y="10234"/>
                      <a:ext cx="12852" cy="348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2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32" y="12574"/>
                      <a:ext cx="8669" cy="30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不進入</a:t>
                      </a:r>
                      <a:endParaRPr lang="zh-TW" sz="2000" dirty="0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23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31" y="5807"/>
                      <a:ext cx="6763" cy="30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進入</a:t>
                      </a:r>
                      <a:endParaRPr lang="zh-TW" sz="2000" dirty="0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18" name="矩形 109"/>
                  <p:cNvSpPr>
                    <a:spLocks noChangeArrowheads="1"/>
                  </p:cNvSpPr>
                  <p:nvPr/>
                </p:nvSpPr>
                <p:spPr bwMode="auto">
                  <a:xfrm>
                    <a:off x="33259" y="12689"/>
                    <a:ext cx="10757" cy="304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400" b="1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1pPr>
                    <a:lvl2pPr marL="742950" indent="-28575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000" b="1">
                        <a:solidFill>
                          <a:srgbClr val="80008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2pPr>
                    <a:lvl3pPr marL="11430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文鼎中圓" pitchFamily="49" charset="-120"/>
                      <a:defRPr sz="2600" b="1">
                        <a:solidFill>
                          <a:srgbClr val="3366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3pPr>
                    <a:lvl4pPr marL="16002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defRPr sz="22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4pPr>
                    <a:lvl5pPr marL="20574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5pPr>
                    <a:lvl6pPr marL="25146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6pPr>
                    <a:lvl7pPr marL="29718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7pPr>
                    <a:lvl8pPr marL="34290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8pPr>
                    <a:lvl9pPr marL="38862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9pPr>
                  </a:lstStyle>
                  <a:p>
                    <a:pPr algn="l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TW" sz="2000" b="0">
                        <a:solidFill>
                          <a:srgbClr val="000000"/>
                        </a:solidFill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a:t>(5 , 1)</a:t>
                    </a:r>
                    <a:endParaRPr lang="en-US" altLang="zh-TW" sz="2000" b="0">
                      <a:solidFill>
                        <a:schemeClr val="tx1"/>
                      </a:solidFill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  <a:p>
                    <a:pPr algn="l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zh-TW" sz="2400" b="0">
                      <a:solidFill>
                        <a:schemeClr val="tx1"/>
                      </a:solidFill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" name="矩形 110"/>
                  <p:cNvSpPr>
                    <a:spLocks noChangeArrowheads="1"/>
                  </p:cNvSpPr>
                  <p:nvPr/>
                </p:nvSpPr>
                <p:spPr bwMode="auto">
                  <a:xfrm>
                    <a:off x="32377" y="18198"/>
                    <a:ext cx="10757" cy="304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400" b="1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1pPr>
                    <a:lvl2pPr marL="742950" indent="-28575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Wingdings" panose="05000000000000000000" pitchFamily="2" charset="2"/>
                      <a:defRPr sz="3000" b="1">
                        <a:solidFill>
                          <a:srgbClr val="80008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2pPr>
                    <a:lvl3pPr marL="11430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Font typeface="文鼎中圓" pitchFamily="49" charset="-120"/>
                      <a:defRPr sz="2600" b="1">
                        <a:solidFill>
                          <a:srgbClr val="3366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3pPr>
                    <a:lvl4pPr marL="16002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defRPr sz="22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4pPr>
                    <a:lvl5pPr marL="2057400" indent="-228600" algn="just">
                      <a:lnSpc>
                        <a:spcPct val="110000"/>
                      </a:lnSpc>
                      <a:spcBef>
                        <a:spcPct val="20000"/>
                      </a:spcBef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5pPr>
                    <a:lvl6pPr marL="25146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6pPr>
                    <a:lvl7pPr marL="29718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7pPr>
                    <a:lvl8pPr marL="34290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8pPr>
                    <a:lvl9pPr marL="3886200" indent="-228600" algn="just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50000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defRPr>
                    </a:lvl9pPr>
                  </a:lstStyle>
                  <a:p>
                    <a:pPr algn="l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TW" sz="2000" b="0">
                        <a:solidFill>
                          <a:srgbClr val="000000"/>
                        </a:solidFill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a:t>(8 , 0)</a:t>
                    </a:r>
                    <a:endParaRPr lang="en-US" altLang="zh-TW" sz="2000" b="0">
                      <a:solidFill>
                        <a:schemeClr val="tx1"/>
                      </a:solidFill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  <a:p>
                    <a:pPr algn="l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zh-TW" sz="2400" b="0">
                      <a:solidFill>
                        <a:schemeClr val="tx1"/>
                      </a:solidFill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sp>
        <p:nvSpPr>
          <p:cNvPr id="31" name="矩形 30"/>
          <p:cNvSpPr/>
          <p:nvPr/>
        </p:nvSpPr>
        <p:spPr>
          <a:xfrm>
            <a:off x="2771800" y="6136581"/>
            <a:ext cx="46474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cs typeface="Times New Roman" panose="02020603050405020304" pitchFamily="18" charset="0"/>
              </a:rPr>
              <a:t>圖</a:t>
            </a:r>
            <a:r>
              <a:rPr lang="en-US" altLang="zh-TW" sz="2400" dirty="0">
                <a:latin typeface="標楷體" panose="03000509000000000000" pitchFamily="65" charset="-120"/>
                <a:cs typeface="Times New Roman" panose="02020603050405020304" pitchFamily="18" charset="0"/>
              </a:rPr>
              <a:t>5-1-2  3M</a:t>
            </a:r>
            <a:r>
              <a:rPr lang="zh-TW" altLang="en-US" sz="2400" dirty="0">
                <a:latin typeface="標楷體" panose="03000509000000000000" pitchFamily="65" charset="-120"/>
                <a:cs typeface="Times New Roman" panose="02020603050405020304" pitchFamily="18" charset="0"/>
              </a:rPr>
              <a:t>與炎洲之膠帶賽局樹</a:t>
            </a:r>
            <a:endParaRPr lang="zh-TW" altLang="en-US" sz="2400" dirty="0"/>
          </a:p>
        </p:txBody>
      </p:sp>
      <p:sp>
        <p:nvSpPr>
          <p:cNvPr id="32" name="Oval 5"/>
          <p:cNvSpPr>
            <a:spLocks noChangeArrowheads="1"/>
          </p:cNvSpPr>
          <p:nvPr/>
        </p:nvSpPr>
        <p:spPr bwMode="auto">
          <a:xfrm>
            <a:off x="3477287" y="751305"/>
            <a:ext cx="5033962" cy="2662238"/>
          </a:xfrm>
          <a:prstGeom prst="ellipse">
            <a:avLst/>
          </a:prstGeom>
          <a:noFill/>
          <a:ln w="19050">
            <a:solidFill>
              <a:srgbClr val="0070C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just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defRPr sz="3400" b="1">
                <a:solidFill>
                  <a:srgbClr val="0000CC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 algn="just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defRPr sz="3000" b="1">
                <a:solidFill>
                  <a:srgbClr val="80008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 algn="just">
              <a:lnSpc>
                <a:spcPct val="110000"/>
              </a:lnSpc>
              <a:spcBef>
                <a:spcPct val="20000"/>
              </a:spcBef>
              <a:buFont typeface="文鼎中圓" pitchFamily="49" charset="-120"/>
              <a:defRPr sz="2600" b="1">
                <a:solidFill>
                  <a:srgbClr val="3366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 algn="just">
              <a:lnSpc>
                <a:spcPct val="110000"/>
              </a:lnSpc>
              <a:spcBef>
                <a:spcPct val="20000"/>
              </a:spcBef>
              <a:defRPr sz="2200" b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 algn="just">
              <a:lnSpc>
                <a:spcPct val="110000"/>
              </a:lnSpc>
              <a:spcBef>
                <a:spcPct val="20000"/>
              </a:spcBef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2400" b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33" name="Oval 4"/>
          <p:cNvSpPr>
            <a:spLocks noChangeArrowheads="1"/>
          </p:cNvSpPr>
          <p:nvPr/>
        </p:nvSpPr>
        <p:spPr bwMode="auto">
          <a:xfrm>
            <a:off x="3648256" y="3465847"/>
            <a:ext cx="4786313" cy="2483433"/>
          </a:xfrm>
          <a:prstGeom prst="ellipse">
            <a:avLst/>
          </a:prstGeom>
          <a:noFill/>
          <a:ln w="19050">
            <a:solidFill>
              <a:srgbClr val="00B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just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defRPr sz="3400" b="1">
                <a:solidFill>
                  <a:srgbClr val="0000CC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 algn="just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defRPr sz="3000" b="1">
                <a:solidFill>
                  <a:srgbClr val="80008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 algn="just">
              <a:lnSpc>
                <a:spcPct val="110000"/>
              </a:lnSpc>
              <a:spcBef>
                <a:spcPct val="20000"/>
              </a:spcBef>
              <a:buFont typeface="文鼎中圓" pitchFamily="49" charset="-120"/>
              <a:defRPr sz="2600" b="1">
                <a:solidFill>
                  <a:srgbClr val="3366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 algn="just">
              <a:lnSpc>
                <a:spcPct val="110000"/>
              </a:lnSpc>
              <a:spcBef>
                <a:spcPct val="20000"/>
              </a:spcBef>
              <a:defRPr sz="2200" b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 algn="just">
              <a:lnSpc>
                <a:spcPct val="110000"/>
              </a:lnSpc>
              <a:spcBef>
                <a:spcPct val="20000"/>
              </a:spcBef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5000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2400" b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34" name="AutoShape 463"/>
          <p:cNvCxnSpPr>
            <a:cxnSpLocks noChangeShapeType="1"/>
          </p:cNvCxnSpPr>
          <p:nvPr/>
        </p:nvCxnSpPr>
        <p:spPr bwMode="auto">
          <a:xfrm flipH="1" flipV="1">
            <a:off x="4741204" y="2305498"/>
            <a:ext cx="1327892" cy="488696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465"/>
          <p:cNvCxnSpPr>
            <a:cxnSpLocks noChangeShapeType="1"/>
          </p:cNvCxnSpPr>
          <p:nvPr/>
        </p:nvCxnSpPr>
        <p:spPr bwMode="auto">
          <a:xfrm flipH="1">
            <a:off x="4876855" y="4199130"/>
            <a:ext cx="1495754" cy="32707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AutoShape 464"/>
          <p:cNvCxnSpPr>
            <a:cxnSpLocks noChangeShapeType="1"/>
          </p:cNvCxnSpPr>
          <p:nvPr/>
        </p:nvCxnSpPr>
        <p:spPr bwMode="auto">
          <a:xfrm flipH="1" flipV="1">
            <a:off x="2095787" y="3539801"/>
            <a:ext cx="1552288" cy="63164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0748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35696" y="260648"/>
            <a:ext cx="59298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3200" dirty="0" smtClean="0">
                <a:latin typeface="+mn-ea"/>
              </a:rPr>
              <a:t>例</a:t>
            </a:r>
            <a:r>
              <a:rPr lang="en-US" altLang="zh-TW" sz="3200" dirty="0" smtClean="0">
                <a:latin typeface="+mn-ea"/>
              </a:rPr>
              <a:t>3 </a:t>
            </a:r>
            <a:r>
              <a:rPr lang="en-US" altLang="zh-TW" sz="3200" dirty="0" smtClean="0">
                <a:latin typeface="+mn-ea"/>
              </a:rPr>
              <a:t>Apple </a:t>
            </a:r>
            <a:r>
              <a:rPr lang="zh-TW" altLang="zh-TW" sz="3200" dirty="0" smtClean="0">
                <a:latin typeface="+mn-ea"/>
              </a:rPr>
              <a:t>與</a:t>
            </a:r>
            <a:r>
              <a:rPr lang="en-US" altLang="zh-TW" sz="3200" dirty="0">
                <a:latin typeface="+mn-ea"/>
              </a:rPr>
              <a:t>Google</a:t>
            </a:r>
            <a:r>
              <a:rPr lang="zh-TW" altLang="zh-TW" sz="3200" dirty="0">
                <a:latin typeface="+mn-ea"/>
              </a:rPr>
              <a:t>的人才之爭</a:t>
            </a:r>
            <a:endParaRPr lang="zh-TW" altLang="en-US" sz="3200" dirty="0">
              <a:latin typeface="+mn-ea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845423"/>
            <a:ext cx="8305800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691680" y="6338144"/>
            <a:ext cx="630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2400" dirty="0" smtClean="0">
                <a:latin typeface="+mn-ea"/>
              </a:rPr>
              <a:t>圖</a:t>
            </a:r>
            <a:r>
              <a:rPr lang="en-US" altLang="zh-TW" sz="2400" dirty="0" smtClean="0">
                <a:latin typeface="+mn-ea"/>
              </a:rPr>
              <a:t>5-1-3 </a:t>
            </a:r>
            <a:r>
              <a:rPr lang="en-US" altLang="zh-TW" sz="2400" dirty="0">
                <a:latin typeface="+mn-ea"/>
              </a:rPr>
              <a:t>Apple</a:t>
            </a:r>
            <a:r>
              <a:rPr lang="zh-TW" altLang="zh-TW" sz="2400" dirty="0">
                <a:latin typeface="+mn-ea"/>
              </a:rPr>
              <a:t>與</a:t>
            </a:r>
            <a:r>
              <a:rPr lang="en-US" altLang="zh-TW" sz="2400" dirty="0">
                <a:latin typeface="+mn-ea"/>
              </a:rPr>
              <a:t>Google</a:t>
            </a:r>
            <a:r>
              <a:rPr lang="zh-TW" altLang="zh-TW" sz="2400" dirty="0">
                <a:latin typeface="+mn-ea"/>
              </a:rPr>
              <a:t>作業系統競爭賽局樹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300192" y="979598"/>
            <a:ext cx="1075690" cy="303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(170,-50)</a:t>
            </a:r>
            <a:endParaRPr lang="zh-TW" sz="1600" kern="100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endParaRPr lang="zh-TW" sz="1200" kern="100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5" y="11259"/>
            <a:ext cx="89289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 hangingPunct="0">
              <a:lnSpc>
                <a:spcPct val="150000"/>
              </a:lnSpc>
            </a:pPr>
            <a:r>
              <a:rPr lang="zh-TW" altLang="zh-TW" sz="3200" b="1" kern="100" dirty="0">
                <a:latin typeface="Times New Roman" panose="02020603050405020304" pitchFamily="18" charset="0"/>
              </a:rPr>
              <a:t>二、前推法的</a:t>
            </a:r>
            <a:r>
              <a:rPr lang="zh-TW" altLang="zh-TW" sz="3200" b="1" kern="100" dirty="0" smtClean="0">
                <a:latin typeface="Times New Roman" panose="02020603050405020304" pitchFamily="18" charset="0"/>
              </a:rPr>
              <a:t>應用</a:t>
            </a:r>
            <a:r>
              <a:rPr lang="en-US" altLang="zh-TW" sz="3200" b="1" kern="100" dirty="0" smtClean="0">
                <a:latin typeface="Times New Roman" panose="02020603050405020304" pitchFamily="18" charset="0"/>
              </a:rPr>
              <a:t>:</a:t>
            </a:r>
            <a:r>
              <a:rPr lang="zh-TW" altLang="zh-TW" sz="3200" dirty="0">
                <a:latin typeface="+mn-ea"/>
              </a:rPr>
              <a:t>例</a:t>
            </a:r>
            <a:r>
              <a:rPr lang="en-US" altLang="zh-TW" sz="3200" dirty="0">
                <a:latin typeface="+mn-ea"/>
              </a:rPr>
              <a:t>1 </a:t>
            </a:r>
            <a:r>
              <a:rPr lang="zh-TW" altLang="zh-TW" sz="3200" dirty="0">
                <a:latin typeface="+mn-ea"/>
              </a:rPr>
              <a:t>台積電與中芯的</a:t>
            </a:r>
            <a:r>
              <a:rPr lang="en-US" altLang="zh-TW" sz="3200" dirty="0">
                <a:latin typeface="+mn-ea"/>
              </a:rPr>
              <a:t>IP</a:t>
            </a:r>
            <a:r>
              <a:rPr lang="zh-TW" altLang="zh-TW" sz="3200" dirty="0">
                <a:latin typeface="+mn-ea"/>
              </a:rPr>
              <a:t>之爭</a:t>
            </a:r>
            <a:endParaRPr lang="zh-TW" altLang="en-US" sz="3200" dirty="0"/>
          </a:p>
          <a:p>
            <a:pPr indent="127000" algn="just" hangingPunct="0">
              <a:lnSpc>
                <a:spcPct val="150000"/>
              </a:lnSpc>
              <a:spcAft>
                <a:spcPts val="0"/>
              </a:spcAft>
            </a:pPr>
            <a:endParaRPr lang="zh-TW" altLang="zh-TW" sz="3200" kern="100" dirty="0"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640" y="6396335"/>
            <a:ext cx="6840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2400" dirty="0">
                <a:latin typeface="+mn-ea"/>
              </a:rPr>
              <a:t>圖</a:t>
            </a:r>
            <a:r>
              <a:rPr lang="en-US" altLang="zh-TW" sz="2400" dirty="0">
                <a:latin typeface="+mn-ea"/>
              </a:rPr>
              <a:t>5-1-4</a:t>
            </a:r>
            <a:r>
              <a:rPr lang="zh-TW" altLang="zh-TW" sz="2400" dirty="0">
                <a:latin typeface="+mn-ea"/>
              </a:rPr>
              <a:t>台積電與中芯</a:t>
            </a:r>
            <a:r>
              <a:rPr lang="en-US" altLang="zh-TW" sz="2400" dirty="0">
                <a:latin typeface="+mn-ea"/>
              </a:rPr>
              <a:t>IC</a:t>
            </a:r>
            <a:r>
              <a:rPr lang="zh-TW" altLang="zh-TW" sz="2400" dirty="0">
                <a:latin typeface="+mn-ea"/>
              </a:rPr>
              <a:t>製程技術的競爭賽局樹</a:t>
            </a:r>
            <a:endParaRPr lang="zh-TW" altLang="en-US" sz="2400" dirty="0">
              <a:latin typeface="+mn-ea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07080"/>
            <a:ext cx="9036496" cy="545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4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83768" y="332656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2800" dirty="0" smtClean="0">
                <a:latin typeface="+mn-ea"/>
              </a:rPr>
              <a:t>例</a:t>
            </a:r>
            <a:r>
              <a:rPr lang="en-US" altLang="zh-TW" sz="2800" dirty="0" smtClean="0">
                <a:latin typeface="+mn-ea"/>
              </a:rPr>
              <a:t> 2</a:t>
            </a:r>
            <a:r>
              <a:rPr lang="zh-TW" altLang="en-US" sz="2800" dirty="0" smtClean="0">
                <a:latin typeface="+mn-ea"/>
              </a:rPr>
              <a:t> </a:t>
            </a:r>
            <a:r>
              <a:rPr lang="zh-TW" altLang="zh-TW" sz="2800" dirty="0" smtClean="0">
                <a:latin typeface="+mn-ea"/>
              </a:rPr>
              <a:t> </a:t>
            </a:r>
            <a:r>
              <a:rPr lang="zh-TW" altLang="zh-TW" sz="2800" dirty="0">
                <a:latin typeface="+mn-ea"/>
              </a:rPr>
              <a:t>多</a:t>
            </a:r>
            <a:r>
              <a:rPr lang="zh-TW" altLang="zh-TW" sz="2800" dirty="0" smtClean="0">
                <a:latin typeface="+mn-ea"/>
              </a:rPr>
              <a:t>個</a:t>
            </a:r>
            <a:r>
              <a:rPr lang="en-US" altLang="zh-TW" sz="2800" dirty="0" smtClean="0">
                <a:latin typeface="+mn-ea"/>
              </a:rPr>
              <a:t> Nash </a:t>
            </a:r>
            <a:r>
              <a:rPr lang="zh-TW" altLang="zh-TW" sz="2800" dirty="0" smtClean="0">
                <a:latin typeface="+mn-ea"/>
              </a:rPr>
              <a:t>均衡</a:t>
            </a:r>
            <a:r>
              <a:rPr lang="zh-TW" altLang="zh-TW" sz="2800" dirty="0">
                <a:latin typeface="+mn-ea"/>
              </a:rPr>
              <a:t>賽局</a:t>
            </a:r>
            <a:endParaRPr lang="zh-TW" altLang="en-US" sz="2800" dirty="0">
              <a:latin typeface="+mn-ea"/>
            </a:endParaRPr>
          </a:p>
        </p:txBody>
      </p:sp>
      <p:grpSp>
        <p:nvGrpSpPr>
          <p:cNvPr id="3" name="群組 63"/>
          <p:cNvGrpSpPr>
            <a:grpSpLocks/>
          </p:cNvGrpSpPr>
          <p:nvPr/>
        </p:nvGrpSpPr>
        <p:grpSpPr bwMode="auto">
          <a:xfrm>
            <a:off x="1447800" y="1524000"/>
            <a:ext cx="5802313" cy="4419600"/>
            <a:chOff x="1966" y="4659"/>
            <a:chExt cx="3731" cy="2828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1966" y="6161"/>
              <a:ext cx="526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2000" b="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甲</a:t>
              </a:r>
            </a:p>
          </p:txBody>
        </p:sp>
        <p:cxnSp>
          <p:nvCxnSpPr>
            <p:cNvPr id="5" name="AutoShape 4"/>
            <p:cNvCxnSpPr>
              <a:cxnSpLocks noChangeShapeType="1"/>
            </p:cNvCxnSpPr>
            <p:nvPr/>
          </p:nvCxnSpPr>
          <p:spPr bwMode="auto">
            <a:xfrm flipV="1">
              <a:off x="2492" y="5622"/>
              <a:ext cx="926" cy="7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AutoShape 5"/>
            <p:cNvCxnSpPr>
              <a:cxnSpLocks noChangeShapeType="1"/>
            </p:cNvCxnSpPr>
            <p:nvPr/>
          </p:nvCxnSpPr>
          <p:spPr bwMode="auto">
            <a:xfrm>
              <a:off x="2492" y="6374"/>
              <a:ext cx="926" cy="8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3418" y="5470"/>
              <a:ext cx="200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2400" b="0">
                <a:solidFill>
                  <a:schemeClr val="tx1"/>
                </a:solidFill>
                <a:ea typeface="新細明體" panose="02020500000000000000" pitchFamily="18" charset="-120"/>
              </a:endParaRPr>
            </a:p>
          </p:txBody>
        </p:sp>
        <p:cxnSp>
          <p:nvCxnSpPr>
            <p:cNvPr id="8" name="AutoShape 7"/>
            <p:cNvCxnSpPr>
              <a:cxnSpLocks noChangeShapeType="1"/>
            </p:cNvCxnSpPr>
            <p:nvPr/>
          </p:nvCxnSpPr>
          <p:spPr bwMode="auto">
            <a:xfrm flipV="1">
              <a:off x="3605" y="4858"/>
              <a:ext cx="926" cy="6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8"/>
            <p:cNvCxnSpPr>
              <a:cxnSpLocks noChangeShapeType="1"/>
            </p:cNvCxnSpPr>
            <p:nvPr/>
          </p:nvCxnSpPr>
          <p:spPr bwMode="auto">
            <a:xfrm>
              <a:off x="3605" y="5510"/>
              <a:ext cx="939" cy="7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544" y="4659"/>
              <a:ext cx="1153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800" b="0">
                  <a:solidFill>
                    <a:schemeClr val="tx1"/>
                  </a:solidFill>
                  <a:latin typeface="標楷體" panose="03000509000000000000" pitchFamily="65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(0,0)</a:t>
              </a:r>
              <a:endParaRPr lang="en-US" altLang="zh-TW" sz="1800" b="0">
                <a:solidFill>
                  <a:schemeClr val="tx1"/>
                </a:solidFill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582" y="6650"/>
              <a:ext cx="526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000" b="0" dirty="0">
                  <a:solidFill>
                    <a:schemeClr val="tx1"/>
                  </a:solidFill>
                  <a:latin typeface="Cambria Math" panose="020405030504060302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l</a:t>
              </a:r>
              <a:endParaRPr lang="en-US" altLang="zh-TW" sz="2000" b="0" dirty="0">
                <a:solidFill>
                  <a:schemeClr val="tx1"/>
                </a:solidFill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582" y="5622"/>
              <a:ext cx="526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000" b="0" dirty="0">
                  <a:solidFill>
                    <a:schemeClr val="tx1"/>
                  </a:solidFill>
                  <a:latin typeface="標楷體" panose="03000509000000000000" pitchFamily="65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r</a:t>
              </a:r>
              <a:endParaRPr lang="en-US" altLang="zh-TW" sz="2000" b="0" dirty="0">
                <a:solidFill>
                  <a:schemeClr val="tx1"/>
                </a:solidFill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155" y="5210"/>
              <a:ext cx="526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2000" b="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乙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3785" y="5853"/>
              <a:ext cx="526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800" b="0">
                  <a:solidFill>
                    <a:schemeClr val="tx1"/>
                  </a:solidFill>
                  <a:latin typeface="標楷體" panose="03000509000000000000" pitchFamily="65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L</a:t>
              </a:r>
              <a:endParaRPr lang="en-US" altLang="zh-TW" sz="1800" b="0">
                <a:solidFill>
                  <a:schemeClr val="tx1"/>
                </a:solidFill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771" y="4659"/>
              <a:ext cx="526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800" b="0">
                  <a:solidFill>
                    <a:schemeClr val="tx1"/>
                  </a:solidFill>
                  <a:latin typeface="標楷體" panose="03000509000000000000" pitchFamily="65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R</a:t>
              </a:r>
              <a:endParaRPr lang="en-US" altLang="zh-TW" sz="1800" b="0">
                <a:solidFill>
                  <a:schemeClr val="tx1"/>
                </a:solidFill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418" y="7037"/>
              <a:ext cx="1153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400" b="1">
                  <a:solidFill>
                    <a:srgbClr val="0000CC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defRPr sz="3000" b="1">
                  <a:solidFill>
                    <a:srgbClr val="80008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0000"/>
                </a:spcBef>
                <a:buFont typeface="文鼎中圓" pitchFamily="49" charset="-120"/>
                <a:defRPr sz="2600" b="1">
                  <a:solidFill>
                    <a:srgbClr val="3366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0000"/>
                </a:spcBef>
                <a:defRPr sz="2200" b="1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0000"/>
                </a:spcBef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SzPct val="150000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800" b="0">
                  <a:solidFill>
                    <a:schemeClr val="tx1"/>
                  </a:solidFill>
                  <a:latin typeface="標楷體" panose="03000509000000000000" pitchFamily="65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(2,5)*</a:t>
              </a:r>
              <a:endParaRPr lang="en-US" altLang="zh-TW" sz="1800" b="0">
                <a:solidFill>
                  <a:schemeClr val="tx1"/>
                </a:solidFill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823156"/>
              </p:ext>
            </p:extLst>
          </p:nvPr>
        </p:nvGraphicFramePr>
        <p:xfrm>
          <a:off x="4860032" y="3122427"/>
          <a:ext cx="2667000" cy="2066657"/>
        </p:xfrm>
        <a:graphic>
          <a:graphicData uri="http://schemas.openxmlformats.org/drawingml/2006/table">
            <a:tbl>
              <a:tblPr firstRow="1" firstCol="1" bandRow="1"/>
              <a:tblGrid>
                <a:gridCol w="594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65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/>
                          <a:ea typeface="標楷體"/>
                          <a:cs typeface="Times New Roman"/>
                        </a:rPr>
                        <a:t> </a:t>
                      </a:r>
                      <a:endParaRPr lang="zh-TW" sz="1200" kern="100" dirty="0">
                        <a:effectLst/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sz="24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2"/>
                      <a:stretch>
                        <a:fillRect l="-56977" r="-97674" b="-10560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 sz="24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2"/>
                      <a:stretch>
                        <a:fillRect l="-160714" b="-105607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/>
                          <a:ea typeface="標楷體"/>
                          <a:cs typeface="Times New Roman"/>
                        </a:rPr>
                        <a:t>T</a:t>
                      </a:r>
                      <a:endParaRPr lang="zh-TW" sz="1800" kern="100" dirty="0">
                        <a:effectLst/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/>
                          <a:ea typeface="標楷體"/>
                          <a:cs typeface="Times New Roman"/>
                        </a:rPr>
                        <a:t>1,4*</a:t>
                      </a:r>
                      <a:endParaRPr lang="zh-TW" sz="2000" kern="100" dirty="0">
                        <a:effectLst/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/>
                          <a:ea typeface="標楷體"/>
                          <a:cs typeface="Times New Roman"/>
                        </a:rPr>
                        <a:t>0,0</a:t>
                      </a:r>
                      <a:endParaRPr lang="zh-TW" sz="2000" kern="100" dirty="0">
                        <a:effectLst/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0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/>
                          <a:ea typeface="標楷體"/>
                          <a:cs typeface="Times New Roman"/>
                        </a:rPr>
                        <a:t>B</a:t>
                      </a:r>
                      <a:endParaRPr lang="zh-TW" sz="1800" kern="100" dirty="0">
                        <a:effectLst/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標楷體"/>
                          <a:ea typeface="標楷體"/>
                          <a:cs typeface="Times New Roman"/>
                        </a:rPr>
                        <a:t>0,0</a:t>
                      </a:r>
                      <a:endParaRPr lang="zh-TW" sz="2000" kern="100">
                        <a:effectLst/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/>
                          <a:ea typeface="標楷體"/>
                          <a:cs typeface="Times New Roman"/>
                        </a:rPr>
                        <a:t>4,1*</a:t>
                      </a:r>
                      <a:endParaRPr lang="zh-TW" sz="2000" kern="100" dirty="0">
                        <a:effectLst/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2800433" y="6091311"/>
            <a:ext cx="3724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2400" dirty="0" smtClean="0">
                <a:latin typeface="+mn-ea"/>
              </a:rPr>
              <a:t>圖</a:t>
            </a:r>
            <a:r>
              <a:rPr lang="en-US" altLang="zh-TW" sz="2400" dirty="0" smtClean="0">
                <a:latin typeface="+mn-ea"/>
              </a:rPr>
              <a:t>5-1-5</a:t>
            </a:r>
            <a:r>
              <a:rPr lang="zh-TW" altLang="zh-TW" sz="2400" dirty="0">
                <a:latin typeface="+mn-ea"/>
              </a:rPr>
              <a:t>，甲、乙兩人賽局</a:t>
            </a:r>
          </a:p>
        </p:txBody>
      </p:sp>
    </p:spTree>
    <p:extLst>
      <p:ext uri="{BB962C8B-B14F-4D97-AF65-F5344CB8AC3E}">
        <p14:creationId xmlns:p14="http://schemas.microsoft.com/office/powerpoint/2010/main" val="2998360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99792" y="188640"/>
            <a:ext cx="32624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3200" dirty="0" smtClean="0">
                <a:latin typeface="+mn-ea"/>
              </a:rPr>
              <a:t>例</a:t>
            </a:r>
            <a:r>
              <a:rPr lang="en-US" altLang="zh-TW" sz="3200" dirty="0" smtClean="0">
                <a:latin typeface="+mn-ea"/>
              </a:rPr>
              <a:t>3</a:t>
            </a:r>
            <a:r>
              <a:rPr lang="zh-TW" altLang="zh-TW" sz="3200" dirty="0" smtClean="0">
                <a:latin typeface="+mn-ea"/>
              </a:rPr>
              <a:t>  </a:t>
            </a:r>
            <a:r>
              <a:rPr lang="zh-TW" altLang="zh-TW" sz="3200" dirty="0">
                <a:latin typeface="+mn-ea"/>
              </a:rPr>
              <a:t>混合型賽局</a:t>
            </a:r>
            <a:endParaRPr lang="zh-TW" altLang="en-US" sz="3200" dirty="0">
              <a:latin typeface="+mn-ea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624523"/>
            <a:ext cx="7848600" cy="502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547664" y="6084843"/>
            <a:ext cx="6552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2400" dirty="0" smtClean="0">
                <a:latin typeface="+mn-ea"/>
              </a:rPr>
              <a:t>圖</a:t>
            </a:r>
            <a:r>
              <a:rPr lang="en-US" altLang="zh-TW" sz="2400" dirty="0" smtClean="0">
                <a:latin typeface="+mn-ea"/>
              </a:rPr>
              <a:t>5-1-6</a:t>
            </a:r>
            <a:r>
              <a:rPr lang="zh-TW" altLang="zh-TW" sz="2400" dirty="0">
                <a:latin typeface="+mn-ea"/>
              </a:rPr>
              <a:t>甲、乙動態與同步出招之混合型賽局</a:t>
            </a:r>
            <a:endParaRPr lang="zh-TW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3950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8382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51520" y="260648"/>
            <a:ext cx="8712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TW" altLang="en-US" sz="2400" dirty="0">
                <a:latin typeface="+mn-ea"/>
              </a:rPr>
              <a:t>解法</a:t>
            </a:r>
            <a:r>
              <a:rPr lang="en-US" altLang="zh-TW" sz="2400" dirty="0">
                <a:latin typeface="+mn-ea"/>
              </a:rPr>
              <a:t>1: </a:t>
            </a:r>
            <a:r>
              <a:rPr lang="zh-TW" altLang="en-US" sz="2400" dirty="0">
                <a:latin typeface="+mn-ea"/>
              </a:rPr>
              <a:t>前推法</a:t>
            </a:r>
            <a:endParaRPr lang="en-US" altLang="zh-TW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TW" altLang="zh-TW" sz="2400" dirty="0">
                <a:latin typeface="+mn-ea"/>
              </a:rPr>
              <a:t>解法</a:t>
            </a:r>
            <a:r>
              <a:rPr lang="en-US" altLang="zh-TW" sz="2400" dirty="0">
                <a:latin typeface="+mn-ea"/>
              </a:rPr>
              <a:t>2</a:t>
            </a:r>
            <a:r>
              <a:rPr lang="zh-TW" altLang="zh-TW" sz="2400" dirty="0">
                <a:latin typeface="+mn-ea"/>
              </a:rPr>
              <a:t>：以弱劣勢</a:t>
            </a:r>
            <a:r>
              <a:rPr lang="zh-TW" altLang="zh-TW" sz="2400" dirty="0" smtClean="0">
                <a:latin typeface="+mn-ea"/>
              </a:rPr>
              <a:t>策略</a:t>
            </a:r>
            <a:r>
              <a:rPr lang="en-US" altLang="zh-TW" sz="2400" dirty="0" smtClean="0">
                <a:latin typeface="+mn-ea"/>
              </a:rPr>
              <a:t>(</a:t>
            </a:r>
            <a:r>
              <a:rPr lang="en-US" altLang="zh-TW" sz="2400" dirty="0">
                <a:latin typeface="+mn-ea"/>
              </a:rPr>
              <a:t>weakly dominated strategy</a:t>
            </a:r>
            <a:r>
              <a:rPr lang="zh-TW" altLang="zh-TW" sz="2400" dirty="0">
                <a:latin typeface="+mn-ea"/>
              </a:rPr>
              <a:t>，</a:t>
            </a:r>
            <a:r>
              <a:rPr lang="en-US" altLang="zh-TW" sz="2400" dirty="0">
                <a:latin typeface="+mn-ea"/>
              </a:rPr>
              <a:t>WDS)</a:t>
            </a:r>
            <a:endParaRPr lang="zh-TW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3309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332656"/>
            <a:ext cx="8856984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zh-TW" sz="2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強</a:t>
            </a:r>
            <a:r>
              <a:rPr lang="en-US" altLang="zh-TW" sz="2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zh-TW" altLang="zh-TW" sz="2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弱劣勢策略刪除法</a:t>
            </a:r>
            <a:r>
              <a:rPr lang="en-US" altLang="zh-TW" sz="2800" b="1" kern="100" dirty="0">
                <a:latin typeface="標楷體" panose="03000509000000000000" pitchFamily="65" charset="-120"/>
                <a:cs typeface="Times New Roman" panose="02020603050405020304" pitchFamily="18" charset="0"/>
              </a:rPr>
              <a:t>(strongly/weakly dominated strategy, SDS/WDS</a:t>
            </a:r>
            <a:r>
              <a:rPr lang="en-US" altLang="zh-TW" sz="2800" b="1" kern="100" dirty="0" smtClean="0">
                <a:latin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algn="ctr">
              <a:spcAft>
                <a:spcPts val="0"/>
              </a:spcAft>
            </a:pP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在一個賽局中，無論對手的策略為何，賽局參與者選擇某一特定策略的收益，若“嚴格小於”其他策略的收益時，則我們可以稱此特定策略相對於其他的策略為弱勢策略。若是“不小於”時，則我們可以稱此特定策略相對於其他的策略為弱劣勢策略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TW" altLang="en-US" sz="28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此</a:t>
            </a:r>
            <a:r>
              <a:rPr lang="zh-TW" altLang="en-US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法</a:t>
            </a:r>
            <a:r>
              <a:rPr lang="zh-TW" altLang="zh-TW" sz="28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只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能在特定條件之下，才能</a:t>
            </a:r>
            <a:r>
              <a:rPr lang="zh-TW" altLang="zh-TW" sz="28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使用。</a:t>
            </a:r>
            <a:r>
              <a:rPr lang="zh-TW" altLang="en-US" sz="28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否則</a:t>
            </a:r>
            <a:r>
              <a:rPr lang="zh-TW" altLang="zh-TW" sz="28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可能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會將賽局中屬於精煉的</a:t>
            </a: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Nash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均衡刪除，</a:t>
            </a:r>
            <a:r>
              <a:rPr lang="zh-TW" altLang="zh-TW" sz="28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而無法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尋找全部的精煉</a:t>
            </a: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Nash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均衡。</a:t>
            </a:r>
          </a:p>
        </p:txBody>
      </p:sp>
    </p:spTree>
    <p:extLst>
      <p:ext uri="{BB962C8B-B14F-4D97-AF65-F5344CB8AC3E}">
        <p14:creationId xmlns:p14="http://schemas.microsoft.com/office/powerpoint/2010/main" val="3003870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15816" y="260648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latin typeface="+mn-ea"/>
              </a:rPr>
              <a:t>第二節</a:t>
            </a:r>
            <a:r>
              <a:rPr lang="zh-TW" altLang="zh-TW" sz="3200" dirty="0">
                <a:latin typeface="+mn-ea"/>
              </a:rPr>
              <a:t>序列賽局</a:t>
            </a:r>
            <a:endParaRPr lang="zh-TW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0" y="1052736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3200" dirty="0" smtClean="0">
                <a:latin typeface="+mn-ea"/>
              </a:rPr>
              <a:t>例</a:t>
            </a:r>
            <a:r>
              <a:rPr lang="en-US" altLang="zh-TW" sz="3200" dirty="0" smtClean="0">
                <a:latin typeface="+mn-ea"/>
              </a:rPr>
              <a:t>1</a:t>
            </a:r>
            <a:r>
              <a:rPr lang="zh-TW" altLang="en-US" sz="3200" dirty="0" smtClean="0">
                <a:latin typeface="+mn-ea"/>
              </a:rPr>
              <a:t> </a:t>
            </a:r>
            <a:r>
              <a:rPr lang="zh-TW" altLang="en-US" sz="3200" dirty="0">
                <a:latin typeface="+mn-ea"/>
              </a:rPr>
              <a:t>多</a:t>
            </a:r>
            <a:r>
              <a:rPr lang="zh-TW" altLang="zh-TW" sz="3200" dirty="0">
                <a:latin typeface="+mn-ea"/>
              </a:rPr>
              <a:t>期的序列賽局</a:t>
            </a:r>
            <a:r>
              <a:rPr lang="zh-TW" altLang="en-US" sz="3200" dirty="0">
                <a:latin typeface="+mn-ea"/>
              </a:rPr>
              <a:t>或</a:t>
            </a:r>
            <a:r>
              <a:rPr lang="zh-TW" altLang="zh-TW" sz="3200" dirty="0">
                <a:latin typeface="+mn-ea"/>
              </a:rPr>
              <a:t>蜈蚣賽局</a:t>
            </a:r>
            <a:r>
              <a:rPr lang="en-US" altLang="zh-TW" sz="3200" dirty="0">
                <a:latin typeface="+mn-ea"/>
              </a:rPr>
              <a:t>(Centipede game)</a:t>
            </a:r>
            <a:r>
              <a:rPr lang="zh-TW" altLang="zh-TW" sz="3200" dirty="0">
                <a:latin typeface="+mn-ea"/>
              </a:rPr>
              <a:t/>
            </a:r>
            <a:br>
              <a:rPr lang="zh-TW" altLang="zh-TW" sz="3200" dirty="0">
                <a:latin typeface="+mn-ea"/>
              </a:rPr>
            </a:br>
            <a:endParaRPr lang="zh-TW" altLang="en-US" sz="3200" dirty="0"/>
          </a:p>
        </p:txBody>
      </p:sp>
      <p:pic>
        <p:nvPicPr>
          <p:cNvPr id="46" name="圖片 4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1988841"/>
            <a:ext cx="8568952" cy="3600400"/>
          </a:xfrm>
          <a:prstGeom prst="rect">
            <a:avLst/>
          </a:prstGeom>
        </p:spPr>
      </p:pic>
      <p:sp>
        <p:nvSpPr>
          <p:cNvPr id="47" name="矩形 46"/>
          <p:cNvSpPr/>
          <p:nvPr/>
        </p:nvSpPr>
        <p:spPr>
          <a:xfrm>
            <a:off x="3193135" y="6021288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2400" dirty="0">
                <a:latin typeface="+mn-ea"/>
              </a:rPr>
              <a:t>圖</a:t>
            </a:r>
            <a:r>
              <a:rPr lang="en-US" altLang="zh-TW" sz="2400" dirty="0">
                <a:latin typeface="+mn-ea"/>
              </a:rPr>
              <a:t>5-2-1 </a:t>
            </a:r>
            <a:r>
              <a:rPr lang="zh-TW" altLang="zh-TW" sz="2400" dirty="0">
                <a:latin typeface="+mn-ea"/>
              </a:rPr>
              <a:t>兩人</a:t>
            </a:r>
            <a:r>
              <a:rPr lang="zh-TW" altLang="en-US" sz="2400" dirty="0">
                <a:latin typeface="+mn-ea"/>
              </a:rPr>
              <a:t>多</a:t>
            </a:r>
            <a:r>
              <a:rPr lang="zh-TW" altLang="zh-TW" sz="2400" dirty="0">
                <a:latin typeface="+mn-ea"/>
              </a:rPr>
              <a:t>期序列賽局</a:t>
            </a:r>
          </a:p>
        </p:txBody>
      </p:sp>
    </p:spTree>
    <p:extLst>
      <p:ext uri="{BB962C8B-B14F-4D97-AF65-F5344CB8AC3E}">
        <p14:creationId xmlns:p14="http://schemas.microsoft.com/office/powerpoint/2010/main" val="2209955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1196752"/>
            <a:ext cx="7920880" cy="42844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763078" y="5733256"/>
            <a:ext cx="41944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2400" dirty="0">
                <a:latin typeface="+mn-ea"/>
              </a:rPr>
              <a:t>圖</a:t>
            </a:r>
            <a:r>
              <a:rPr lang="en-US" altLang="zh-TW" sz="2400" dirty="0" smtClean="0">
                <a:latin typeface="+mn-ea"/>
              </a:rPr>
              <a:t>5-2-2 </a:t>
            </a:r>
            <a:r>
              <a:rPr lang="zh-TW" altLang="en-US" sz="2400" dirty="0" smtClean="0">
                <a:latin typeface="+mn-ea"/>
              </a:rPr>
              <a:t>夫妻之間的蜈蚣</a:t>
            </a:r>
            <a:r>
              <a:rPr lang="zh-TW" altLang="zh-TW" sz="2400" dirty="0" smtClean="0">
                <a:latin typeface="+mn-ea"/>
              </a:rPr>
              <a:t>賽</a:t>
            </a:r>
            <a:r>
              <a:rPr lang="zh-TW" altLang="zh-TW" sz="2400" dirty="0">
                <a:latin typeface="+mn-ea"/>
              </a:rPr>
              <a:t>局</a:t>
            </a:r>
          </a:p>
        </p:txBody>
      </p:sp>
      <p:sp>
        <p:nvSpPr>
          <p:cNvPr id="4" name="矩形 3"/>
          <p:cNvSpPr/>
          <p:nvPr/>
        </p:nvSpPr>
        <p:spPr>
          <a:xfrm>
            <a:off x="2780725" y="373595"/>
            <a:ext cx="3605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 smtClean="0">
                <a:latin typeface="+mn-ea"/>
              </a:rPr>
              <a:t>例</a:t>
            </a:r>
            <a:r>
              <a:rPr lang="en-US" altLang="zh-TW" sz="3200" dirty="0" smtClean="0">
                <a:latin typeface="+mn-ea"/>
              </a:rPr>
              <a:t>2</a:t>
            </a:r>
            <a:r>
              <a:rPr lang="zh-TW" altLang="en-US" sz="3200" dirty="0" smtClean="0">
                <a:latin typeface="+mn-ea"/>
              </a:rPr>
              <a:t> 蜈蚣</a:t>
            </a:r>
            <a:r>
              <a:rPr lang="zh-TW" altLang="zh-TW" sz="3200" dirty="0">
                <a:latin typeface="+mn-ea"/>
              </a:rPr>
              <a:t>賽局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4302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3608" y="332656"/>
            <a:ext cx="73661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3200" dirty="0">
                <a:latin typeface="+mn-ea"/>
              </a:rPr>
              <a:t>第</a:t>
            </a:r>
            <a:r>
              <a:rPr lang="zh-TW" altLang="zh-TW" sz="3200" dirty="0" smtClean="0">
                <a:latin typeface="+mn-ea"/>
              </a:rPr>
              <a:t>三節</a:t>
            </a:r>
            <a:r>
              <a:rPr lang="en-US" altLang="zh-TW" sz="3200" dirty="0" smtClean="0">
                <a:latin typeface="+mn-ea"/>
              </a:rPr>
              <a:t> </a:t>
            </a:r>
            <a:r>
              <a:rPr lang="zh-TW" altLang="zh-TW" sz="3200" dirty="0" smtClean="0">
                <a:latin typeface="+mn-ea"/>
              </a:rPr>
              <a:t>子</a:t>
            </a:r>
            <a:r>
              <a:rPr lang="zh-TW" altLang="zh-TW" sz="3200" dirty="0">
                <a:latin typeface="+mn-ea"/>
              </a:rPr>
              <a:t>賽局精煉</a:t>
            </a:r>
            <a:r>
              <a:rPr lang="en-US" altLang="zh-TW" sz="3200" dirty="0">
                <a:latin typeface="+mn-ea"/>
              </a:rPr>
              <a:t>Nash</a:t>
            </a:r>
            <a:r>
              <a:rPr lang="zh-TW" altLang="zh-TW" sz="3200" dirty="0">
                <a:latin typeface="+mn-ea"/>
              </a:rPr>
              <a:t>均衡存在的問題</a:t>
            </a:r>
            <a:endParaRPr lang="zh-TW" altLang="en-US" sz="32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1628800"/>
            <a:ext cx="8280920" cy="388843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318150" y="5720770"/>
            <a:ext cx="3817071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TW" altLang="zh-TW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圖</a:t>
            </a:r>
            <a:r>
              <a:rPr lang="en-US" altLang="zh-TW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5-3-1 </a:t>
            </a:r>
            <a:r>
              <a:rPr lang="en-US" altLang="zh-TW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Rosenthsal</a:t>
            </a:r>
            <a:r>
              <a:rPr lang="zh-TW" altLang="zh-TW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蜈蚣賽局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58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83768" y="404664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latin typeface="+mn-ea"/>
              </a:rPr>
              <a:t>蜈蚣賽局討論與應用</a:t>
            </a:r>
            <a:endParaRPr lang="zh-TW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395536" y="1412776"/>
            <a:ext cx="885698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TW" sz="3200" dirty="0" smtClean="0">
                <a:latin typeface="+mn-ea"/>
              </a:rPr>
              <a:t>1.</a:t>
            </a:r>
            <a:r>
              <a:rPr lang="zh-TW" altLang="zh-TW" sz="3200" dirty="0" smtClean="0">
                <a:latin typeface="+mn-ea"/>
              </a:rPr>
              <a:t>羅森索</a:t>
            </a:r>
            <a:r>
              <a:rPr lang="en-US" altLang="zh-TW" sz="3200" dirty="0" smtClean="0">
                <a:latin typeface="+mn-ea"/>
              </a:rPr>
              <a:t>(Rosenthsal,1981)</a:t>
            </a:r>
            <a:r>
              <a:rPr lang="zh-TW" altLang="en-US" sz="3200" dirty="0" smtClean="0">
                <a:latin typeface="+mn-ea"/>
              </a:rPr>
              <a:t>觀點</a:t>
            </a:r>
            <a:r>
              <a:rPr lang="en-US" altLang="zh-TW" sz="3200" dirty="0" smtClean="0">
                <a:latin typeface="+mn-ea"/>
              </a:rPr>
              <a:t>:</a:t>
            </a:r>
          </a:p>
          <a:p>
            <a:pPr marL="450850" indent="-450850">
              <a:lnSpc>
                <a:spcPct val="150000"/>
              </a:lnSpc>
              <a:tabLst>
                <a:tab pos="173038" algn="l"/>
              </a:tabLst>
              <a:defRPr/>
            </a:pPr>
            <a:r>
              <a:rPr lang="zh-TW" altLang="en-US" sz="3200" dirty="0" smtClean="0">
                <a:latin typeface="+mn-ea"/>
              </a:rPr>
              <a:t>    </a:t>
            </a:r>
            <a:r>
              <a:rPr lang="zh-TW" altLang="zh-TW" sz="3200" dirty="0" smtClean="0">
                <a:latin typeface="+mn-ea"/>
              </a:rPr>
              <a:t>後推法所推論出的子賽局精煉</a:t>
            </a:r>
            <a:r>
              <a:rPr lang="en-US" altLang="zh-TW" sz="3200" dirty="0" smtClean="0">
                <a:latin typeface="+mn-ea"/>
              </a:rPr>
              <a:t>Nash</a:t>
            </a:r>
            <a:r>
              <a:rPr lang="zh-TW" altLang="zh-TW" sz="3200" dirty="0" smtClean="0">
                <a:latin typeface="+mn-ea"/>
              </a:rPr>
              <a:t>均衡可能出現</a:t>
            </a:r>
            <a:r>
              <a:rPr lang="en-US" altLang="zh-TW" sz="3200" dirty="0" smtClean="0">
                <a:latin typeface="+mn-ea"/>
              </a:rPr>
              <a:t>“</a:t>
            </a:r>
            <a:r>
              <a:rPr lang="zh-TW" altLang="zh-TW" sz="3200" dirty="0" smtClean="0">
                <a:latin typeface="+mn-ea"/>
              </a:rPr>
              <a:t>不一定能實現</a:t>
            </a:r>
            <a:r>
              <a:rPr lang="en-US" altLang="zh-TW" sz="3200" dirty="0" smtClean="0">
                <a:latin typeface="+mn-ea"/>
              </a:rPr>
              <a:t>(unreachable)”</a:t>
            </a:r>
            <a:r>
              <a:rPr lang="zh-TW" altLang="zh-TW" sz="3200" dirty="0" smtClean="0">
                <a:latin typeface="+mn-ea"/>
              </a:rPr>
              <a:t>的狀態</a:t>
            </a:r>
            <a:endParaRPr lang="zh-TW" altLang="en-US" sz="3200" dirty="0" smtClean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TW" sz="3200" dirty="0" smtClean="0">
                <a:latin typeface="+mn-ea"/>
              </a:rPr>
              <a:t>2.</a:t>
            </a:r>
            <a:r>
              <a:rPr lang="zh-TW" altLang="zh-TW" sz="3200" dirty="0" smtClean="0">
                <a:latin typeface="+mn-ea"/>
              </a:rPr>
              <a:t>薛爾頓</a:t>
            </a:r>
            <a:r>
              <a:rPr lang="en-US" altLang="zh-TW" sz="3200" dirty="0" smtClean="0">
                <a:latin typeface="+mn-ea"/>
              </a:rPr>
              <a:t>(Selten,1975)</a:t>
            </a:r>
            <a:r>
              <a:rPr lang="zh-TW" altLang="en-US" sz="3200" dirty="0" smtClean="0">
                <a:latin typeface="+mn-ea"/>
              </a:rPr>
              <a:t>以</a:t>
            </a:r>
            <a:r>
              <a:rPr lang="en-US" altLang="zh-TW" sz="3200" dirty="0" smtClean="0">
                <a:latin typeface="+mn-ea"/>
              </a:rPr>
              <a:t>“</a:t>
            </a:r>
            <a:r>
              <a:rPr lang="zh-TW" altLang="zh-TW" sz="3200" dirty="0" smtClean="0">
                <a:latin typeface="+mn-ea"/>
              </a:rPr>
              <a:t>顫抖手</a:t>
            </a:r>
            <a:r>
              <a:rPr lang="en-US" altLang="zh-TW" sz="3200" dirty="0" smtClean="0">
                <a:latin typeface="+mn-ea"/>
              </a:rPr>
              <a:t>(trembling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TW" sz="3200" dirty="0">
                <a:latin typeface="+mn-ea"/>
              </a:rPr>
              <a:t> </a:t>
            </a:r>
            <a:r>
              <a:rPr lang="en-US" altLang="zh-TW" sz="3200" dirty="0" smtClean="0">
                <a:latin typeface="+mn-ea"/>
              </a:rPr>
              <a:t>   hand) ”</a:t>
            </a:r>
            <a:r>
              <a:rPr lang="zh-TW" altLang="zh-TW" sz="3200" dirty="0" smtClean="0">
                <a:latin typeface="+mn-ea"/>
              </a:rPr>
              <a:t>的論點反駁</a:t>
            </a:r>
            <a:endParaRPr lang="en-US" altLang="zh-TW" sz="3200" dirty="0" smtClean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TW" sz="3200" dirty="0" smtClean="0">
                <a:latin typeface="+mn-ea"/>
              </a:rPr>
              <a:t>3. </a:t>
            </a:r>
            <a:r>
              <a:rPr lang="zh-TW" altLang="en-US" sz="3200" dirty="0" smtClean="0">
                <a:latin typeface="+mn-ea"/>
              </a:rPr>
              <a:t>以</a:t>
            </a:r>
            <a:r>
              <a:rPr lang="en-US" altLang="zh-TW" sz="3200" dirty="0" smtClean="0">
                <a:latin typeface="+mn-ea"/>
              </a:rPr>
              <a:t>“</a:t>
            </a:r>
            <a:r>
              <a:rPr lang="zh-TW" altLang="zh-TW" sz="3200" dirty="0" smtClean="0">
                <a:latin typeface="+mn-ea"/>
              </a:rPr>
              <a:t>合作機制</a:t>
            </a:r>
            <a:r>
              <a:rPr lang="en-US" altLang="zh-TW" sz="3200" dirty="0" smtClean="0">
                <a:latin typeface="+mn-ea"/>
              </a:rPr>
              <a:t>”</a:t>
            </a:r>
            <a:r>
              <a:rPr lang="zh-TW" altLang="en-US" sz="3200" dirty="0" smtClean="0">
                <a:latin typeface="+mn-ea"/>
              </a:rPr>
              <a:t>解決</a:t>
            </a:r>
            <a:r>
              <a:rPr lang="zh-TW" altLang="zh-TW" sz="3200" dirty="0" smtClean="0">
                <a:latin typeface="+mn-ea"/>
              </a:rPr>
              <a:t>子賽局精煉</a:t>
            </a:r>
            <a:r>
              <a:rPr lang="en-US" altLang="zh-TW" sz="3200" dirty="0" smtClean="0">
                <a:latin typeface="+mn-ea"/>
              </a:rPr>
              <a:t>Nash</a:t>
            </a:r>
            <a:r>
              <a:rPr lang="zh-TW" altLang="zh-TW" sz="3200" dirty="0" smtClean="0">
                <a:latin typeface="+mn-ea"/>
              </a:rPr>
              <a:t>均</a:t>
            </a:r>
            <a:r>
              <a:rPr lang="zh-TW" altLang="en-US" sz="3200" dirty="0" smtClean="0">
                <a:latin typeface="+mn-ea"/>
              </a:rPr>
              <a:t> </a:t>
            </a:r>
            <a:r>
              <a:rPr lang="zh-TW" altLang="zh-TW" sz="3200" dirty="0" smtClean="0">
                <a:latin typeface="+mn-ea"/>
              </a:rPr>
              <a:t>衡不</a:t>
            </a:r>
            <a:endParaRPr lang="en-US" altLang="zh-TW" sz="3200" dirty="0" smtClean="0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TW" sz="3200" dirty="0">
                <a:latin typeface="+mn-ea"/>
              </a:rPr>
              <a:t> </a:t>
            </a:r>
            <a:r>
              <a:rPr lang="en-US" altLang="zh-TW" sz="3200" dirty="0" smtClean="0">
                <a:latin typeface="+mn-ea"/>
              </a:rPr>
              <a:t>  </a:t>
            </a:r>
            <a:r>
              <a:rPr lang="zh-TW" altLang="zh-TW" sz="3200" dirty="0" smtClean="0">
                <a:latin typeface="+mn-ea"/>
              </a:rPr>
              <a:t>符合效率</a:t>
            </a:r>
            <a:r>
              <a:rPr lang="en-US" altLang="zh-TW" sz="3200" dirty="0" smtClean="0">
                <a:latin typeface="+mn-ea"/>
              </a:rPr>
              <a:t>(efficient)</a:t>
            </a:r>
            <a:r>
              <a:rPr lang="zh-TW" altLang="zh-TW" sz="3200" dirty="0" smtClean="0">
                <a:latin typeface="+mn-ea"/>
              </a:rPr>
              <a:t>的</a:t>
            </a:r>
            <a:r>
              <a:rPr lang="zh-TW" altLang="en-US" sz="3200" dirty="0" smtClean="0">
                <a:latin typeface="+mn-ea"/>
              </a:rPr>
              <a:t>問題</a:t>
            </a:r>
            <a:endParaRPr lang="zh-TW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2370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27784" y="332656"/>
            <a:ext cx="32624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TW" altLang="zh-TW" sz="3200" b="1" dirty="0">
                <a:solidFill>
                  <a:schemeClr val="tx2"/>
                </a:solidFill>
                <a:latin typeface="+mn-ea"/>
              </a:rPr>
              <a:t>第四節 多人賽局</a:t>
            </a:r>
            <a:endParaRPr lang="zh-TW" altLang="en-US" sz="32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30376" y="126876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TW" altLang="en-US" sz="2800" b="1" dirty="0" smtClean="0">
                <a:solidFill>
                  <a:schemeClr val="tx2"/>
                </a:solidFill>
                <a:latin typeface="+mn-ea"/>
              </a:rPr>
              <a:t>一</a:t>
            </a:r>
            <a:r>
              <a:rPr lang="zh-TW" altLang="en-US" sz="2800" b="1" dirty="0" smtClean="0">
                <a:solidFill>
                  <a:schemeClr val="tx2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zh-TW" sz="2800" b="1" dirty="0" smtClean="0">
                <a:solidFill>
                  <a:schemeClr val="tx2"/>
                </a:solidFill>
                <a:latin typeface="+mn-ea"/>
              </a:rPr>
              <a:t>多人</a:t>
            </a:r>
            <a:r>
              <a:rPr lang="zh-TW" altLang="en-US" sz="2800" b="1" dirty="0" smtClean="0">
                <a:solidFill>
                  <a:schemeClr val="tx2"/>
                </a:solidFill>
                <a:latin typeface="+mn-ea"/>
              </a:rPr>
              <a:t>排隊賽局</a:t>
            </a:r>
            <a:endParaRPr lang="zh-TW" altLang="en-US" sz="2800" b="1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916832"/>
            <a:ext cx="7848600" cy="5333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8937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4135" y="1052736"/>
            <a:ext cx="36728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+mn-ea"/>
              </a:rPr>
              <a:t>(</a:t>
            </a:r>
            <a:r>
              <a:rPr lang="zh-TW" altLang="en-US" sz="3200" dirty="0" smtClean="0">
                <a:latin typeface="+mn-ea"/>
              </a:rPr>
              <a:t>一</a:t>
            </a:r>
            <a:r>
              <a:rPr lang="en-US" altLang="zh-TW" sz="3200" dirty="0" smtClean="0">
                <a:latin typeface="+mn-ea"/>
              </a:rPr>
              <a:t>)</a:t>
            </a:r>
            <a:r>
              <a:rPr lang="zh-TW" altLang="en-US" sz="3200" dirty="0" smtClean="0">
                <a:latin typeface="+mn-ea"/>
              </a:rPr>
              <a:t> </a:t>
            </a:r>
            <a:r>
              <a:rPr lang="zh-TW" altLang="zh-TW" sz="3200" dirty="0" smtClean="0">
                <a:latin typeface="+mn-ea"/>
              </a:rPr>
              <a:t>排隊</a:t>
            </a:r>
            <a:r>
              <a:rPr lang="zh-TW" altLang="zh-TW" sz="3200" dirty="0">
                <a:latin typeface="+mn-ea"/>
              </a:rPr>
              <a:t>成本改變</a:t>
            </a:r>
            <a:endParaRPr lang="zh-TW" altLang="en-US" sz="3200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70151" y="332656"/>
            <a:ext cx="46987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TW" altLang="en-US" sz="3200" b="1" dirty="0" smtClean="0">
                <a:solidFill>
                  <a:schemeClr val="tx2"/>
                </a:solidFill>
                <a:latin typeface="+mn-ea"/>
              </a:rPr>
              <a:t>二</a:t>
            </a:r>
            <a:r>
              <a:rPr lang="zh-TW" altLang="en-US" sz="3200" b="1" dirty="0" smtClean="0">
                <a:solidFill>
                  <a:schemeClr val="tx2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zh-TW" sz="3200" b="1" dirty="0">
                <a:solidFill>
                  <a:schemeClr val="tx2"/>
                </a:solidFill>
                <a:latin typeface="+mn-ea"/>
              </a:rPr>
              <a:t>多人</a:t>
            </a:r>
            <a:r>
              <a:rPr lang="zh-TW" altLang="en-US" sz="3200" b="1" dirty="0">
                <a:solidFill>
                  <a:schemeClr val="tx2"/>
                </a:solidFill>
                <a:latin typeface="+mn-ea"/>
              </a:rPr>
              <a:t>排隊賽</a:t>
            </a:r>
            <a:r>
              <a:rPr lang="zh-TW" altLang="en-US" sz="3200" b="1" dirty="0" smtClean="0">
                <a:solidFill>
                  <a:schemeClr val="tx2"/>
                </a:solidFill>
                <a:latin typeface="+mn-ea"/>
              </a:rPr>
              <a:t>局的變數</a:t>
            </a:r>
            <a:endParaRPr lang="zh-TW" altLang="en-US" sz="3200" b="1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5656" y="1988840"/>
            <a:ext cx="5974598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40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230646"/>
              </p:ext>
            </p:extLst>
          </p:nvPr>
        </p:nvGraphicFramePr>
        <p:xfrm>
          <a:off x="1371600" y="908720"/>
          <a:ext cx="6248399" cy="4958681"/>
        </p:xfrm>
        <a:graphic>
          <a:graphicData uri="http://schemas.openxmlformats.org/drawingml/2006/table">
            <a:tbl>
              <a:tblPr/>
              <a:tblGrid>
                <a:gridCol w="2055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3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3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 dirty="0">
                          <a:latin typeface="Times New Roman"/>
                          <a:ea typeface="標楷體"/>
                          <a:cs typeface="Times New Roman"/>
                        </a:rPr>
                        <a:t>排隊順序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 dirty="0">
                          <a:latin typeface="Times New Roman"/>
                          <a:ea typeface="標楷體"/>
                          <a:cs typeface="Times New Roman"/>
                        </a:rPr>
                        <a:t>毛收益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>
                          <a:latin typeface="Times New Roman"/>
                          <a:ea typeface="標楷體"/>
                          <a:cs typeface="Times New Roman"/>
                        </a:rPr>
                        <a:t>淨收益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3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>
                          <a:latin typeface="Times New Roman"/>
                          <a:ea typeface="標楷體"/>
                          <a:cs typeface="Times New Roman"/>
                        </a:rPr>
                        <a:t>第一個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35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29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3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>
                          <a:latin typeface="Times New Roman"/>
                          <a:ea typeface="標楷體"/>
                          <a:cs typeface="Times New Roman"/>
                        </a:rPr>
                        <a:t>第二個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30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24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3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>
                          <a:latin typeface="Times New Roman"/>
                          <a:ea typeface="標楷體"/>
                          <a:cs typeface="Times New Roman"/>
                        </a:rPr>
                        <a:t>第三個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25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17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3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>
                          <a:latin typeface="Times New Roman"/>
                          <a:ea typeface="標楷體"/>
                          <a:cs typeface="Times New Roman"/>
                        </a:rPr>
                        <a:t>第四個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latin typeface="Times New Roman"/>
                          <a:ea typeface="標楷體"/>
                          <a:cs typeface="Times New Roman"/>
                        </a:rPr>
                        <a:t>20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12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3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>
                          <a:latin typeface="Times New Roman"/>
                          <a:ea typeface="標楷體"/>
                          <a:cs typeface="Times New Roman"/>
                        </a:rPr>
                        <a:t>第五個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latin typeface="Times New Roman"/>
                          <a:ea typeface="標楷體"/>
                          <a:cs typeface="Times New Roman"/>
                        </a:rPr>
                        <a:t>15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7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3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400" kern="100">
                          <a:latin typeface="Times New Roman"/>
                          <a:ea typeface="標楷體"/>
                          <a:cs typeface="Times New Roman"/>
                        </a:rPr>
                        <a:t>第六個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latin typeface="Times New Roman"/>
                          <a:ea typeface="標楷體"/>
                          <a:cs typeface="Times New Roman"/>
                        </a:rPr>
                        <a:t>10</a:t>
                      </a:r>
                      <a:endParaRPr lang="zh-TW" sz="2400" kern="10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latin typeface="Times New Roman"/>
                          <a:ea typeface="標楷體"/>
                          <a:cs typeface="Times New Roman"/>
                        </a:rPr>
                        <a:t>2</a:t>
                      </a:r>
                      <a:endParaRPr lang="zh-TW" sz="2400" kern="100" dirty="0">
                        <a:latin typeface="Calibri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371600" y="6021288"/>
            <a:ext cx="63401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3200" dirty="0">
                <a:latin typeface="+mn-ea"/>
              </a:rPr>
              <a:t>4</a:t>
            </a:r>
            <a:r>
              <a:rPr lang="zh-TW" altLang="zh-TW" sz="3200" dirty="0">
                <a:latin typeface="+mn-ea"/>
              </a:rPr>
              <a:t>人坐著；</a:t>
            </a:r>
            <a:r>
              <a:rPr lang="en-US" altLang="zh-TW" sz="3200" dirty="0">
                <a:latin typeface="+mn-ea"/>
              </a:rPr>
              <a:t>2</a:t>
            </a:r>
            <a:r>
              <a:rPr lang="zh-TW" altLang="zh-TW" sz="3200" dirty="0">
                <a:latin typeface="+mn-ea"/>
              </a:rPr>
              <a:t>人站著將變成</a:t>
            </a:r>
            <a:r>
              <a:rPr lang="en-US" altLang="zh-TW" sz="3200" dirty="0">
                <a:latin typeface="+mn-ea"/>
              </a:rPr>
              <a:t>Nash</a:t>
            </a:r>
            <a:r>
              <a:rPr lang="zh-TW" altLang="zh-TW" sz="3200" dirty="0">
                <a:latin typeface="+mn-ea"/>
              </a:rPr>
              <a:t>均衡</a:t>
            </a:r>
            <a:endParaRPr lang="zh-TW" altLang="en-US" sz="3200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23143" y="247001"/>
            <a:ext cx="39453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TW" sz="3200" kern="100" dirty="0">
                <a:latin typeface="Times New Roman" panose="02020603050405020304" pitchFamily="18" charset="0"/>
              </a:rPr>
              <a:t>5-4-2  6</a:t>
            </a:r>
            <a:r>
              <a:rPr lang="zh-TW" altLang="zh-TW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人排隊賽局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93920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51720" y="476672"/>
            <a:ext cx="49039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3200" dirty="0" smtClean="0">
                <a:latin typeface="+mn-ea"/>
                <a:cs typeface="Calibri" pitchFamily="34" charset="0"/>
              </a:rPr>
              <a:t>(</a:t>
            </a:r>
            <a:r>
              <a:rPr lang="zh-TW" altLang="en-US" sz="3200" dirty="0" smtClean="0">
                <a:latin typeface="+mn-ea"/>
                <a:cs typeface="Calibri" pitchFamily="34" charset="0"/>
              </a:rPr>
              <a:t>二</a:t>
            </a:r>
            <a:r>
              <a:rPr lang="en-US" altLang="zh-TW" sz="3200" dirty="0" smtClean="0">
                <a:latin typeface="+mn-ea"/>
                <a:cs typeface="Calibri" pitchFamily="34" charset="0"/>
              </a:rPr>
              <a:t>)</a:t>
            </a:r>
            <a:r>
              <a:rPr lang="zh-TW" altLang="en-US" sz="3200" dirty="0" smtClean="0">
                <a:latin typeface="+mn-ea"/>
                <a:cs typeface="Calibri" pitchFamily="34" charset="0"/>
              </a:rPr>
              <a:t> </a:t>
            </a:r>
            <a:r>
              <a:rPr lang="zh-TW" altLang="zh-TW" sz="3200" dirty="0" smtClean="0">
                <a:latin typeface="+mn-ea"/>
                <a:cs typeface="Calibri" pitchFamily="34" charset="0"/>
              </a:rPr>
              <a:t>排隊</a:t>
            </a:r>
            <a:r>
              <a:rPr lang="zh-TW" altLang="zh-TW" sz="3200" dirty="0">
                <a:latin typeface="+mn-ea"/>
                <a:cs typeface="Calibri" pitchFamily="34" charset="0"/>
              </a:rPr>
              <a:t>者風險態度改變</a:t>
            </a:r>
            <a:endParaRPr lang="zh-TW" altLang="zh-TW" sz="3200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3528" y="1274564"/>
            <a:ext cx="882047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TW" altLang="zh-TW" sz="2400" dirty="0">
                <a:latin typeface="+mn-ea"/>
                <a:cs typeface="Calibri" pitchFamily="34" charset="0"/>
              </a:rPr>
              <a:t>若排隊者都是明顯風險趨避者時。排第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3</a:t>
            </a:r>
            <a:r>
              <a:rPr lang="zh-TW" altLang="en-US" sz="2400" dirty="0">
                <a:latin typeface="+mn-ea"/>
                <a:cs typeface="Calibri" pitchFamily="34" charset="0"/>
              </a:rPr>
              <a:t>人的收益僅剩</a:t>
            </a:r>
            <a:endParaRPr lang="en-US" altLang="zh-TW" sz="2400" dirty="0">
              <a:latin typeface="+mn-ea"/>
              <a:cs typeface="Calibri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latin typeface="+mn-ea"/>
                <a:cs typeface="Calibri" pitchFamily="34" charset="0"/>
              </a:rPr>
              <a:t>下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17</a:t>
            </a:r>
            <a:r>
              <a:rPr lang="zh-TW" altLang="en-US" sz="2400" dirty="0">
                <a:latin typeface="+mn-ea"/>
                <a:cs typeface="Calibri" pitchFamily="34" charset="0"/>
              </a:rPr>
              <a:t>單位，小於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17.5</a:t>
            </a:r>
            <a:r>
              <a:rPr lang="zh-TW" altLang="en-US" sz="2400" dirty="0">
                <a:latin typeface="+mn-ea"/>
                <a:cs typeface="Calibri" pitchFamily="34" charset="0"/>
              </a:rPr>
              <a:t>，她極可能還是會選擇參加排隊，</a:t>
            </a:r>
            <a:endParaRPr lang="en-US" altLang="zh-TW" sz="2400" dirty="0">
              <a:latin typeface="+mn-ea"/>
              <a:cs typeface="Calibri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latin typeface="+mn-ea"/>
                <a:cs typeface="Calibri" pitchFamily="34" charset="0"/>
              </a:rPr>
              <a:t>此時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4</a:t>
            </a:r>
            <a:r>
              <a:rPr lang="zh-TW" altLang="en-US" sz="2400" dirty="0">
                <a:latin typeface="+mn-ea"/>
                <a:cs typeface="Calibri" pitchFamily="34" charset="0"/>
              </a:rPr>
              <a:t>人坐著；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2</a:t>
            </a:r>
            <a:r>
              <a:rPr lang="zh-TW" altLang="en-US" sz="2400" dirty="0">
                <a:latin typeface="+mn-ea"/>
                <a:cs typeface="Calibri" pitchFamily="34" charset="0"/>
              </a:rPr>
              <a:t>人站著又將變成非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Nash</a:t>
            </a:r>
            <a:r>
              <a:rPr lang="zh-TW" altLang="en-US" sz="2400" dirty="0">
                <a:latin typeface="+mn-ea"/>
                <a:cs typeface="Calibri" pitchFamily="34" charset="0"/>
              </a:rPr>
              <a:t>均衡。</a:t>
            </a:r>
            <a:endParaRPr lang="en-US" altLang="zh-TW" sz="2400" dirty="0">
              <a:latin typeface="+mn-ea"/>
              <a:cs typeface="Calibri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latin typeface="+mn-ea"/>
                <a:cs typeface="Calibri" pitchFamily="34" charset="0"/>
              </a:rPr>
              <a:t>甚至排第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4</a:t>
            </a:r>
            <a:r>
              <a:rPr lang="zh-TW" altLang="en-US" sz="2400" dirty="0">
                <a:latin typeface="+mn-ea"/>
                <a:cs typeface="Calibri" pitchFamily="34" charset="0"/>
              </a:rPr>
              <a:t>位的收益僅剩下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12</a:t>
            </a:r>
            <a:r>
              <a:rPr lang="zh-TW" altLang="en-US" sz="2400" dirty="0">
                <a:latin typeface="+mn-ea"/>
                <a:cs typeface="Calibri" pitchFamily="34" charset="0"/>
              </a:rPr>
              <a:t>單位，小於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15</a:t>
            </a:r>
            <a:r>
              <a:rPr lang="zh-TW" altLang="en-US" sz="2400" dirty="0">
                <a:latin typeface="+mn-ea"/>
                <a:cs typeface="Calibri" pitchFamily="34" charset="0"/>
              </a:rPr>
              <a:t>，</a:t>
            </a:r>
            <a:endParaRPr lang="en-US" altLang="zh-TW" sz="2400" dirty="0">
              <a:latin typeface="+mn-ea"/>
              <a:cs typeface="Calibri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latin typeface="+mn-ea"/>
                <a:cs typeface="Calibri" pitchFamily="34" charset="0"/>
              </a:rPr>
              <a:t>但她也極可能會選擇參加排隊。</a:t>
            </a:r>
            <a:endParaRPr lang="en-US" altLang="zh-TW" sz="2400" dirty="0">
              <a:latin typeface="+mn-ea"/>
              <a:cs typeface="Calibri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TW" sz="2400" dirty="0" smtClean="0"/>
              <a:t>           </a:t>
            </a:r>
            <a:r>
              <a:rPr lang="en-US" altLang="zh-TW" sz="2400" dirty="0">
                <a:latin typeface="+mn-ea"/>
              </a:rPr>
              <a:t>2</a:t>
            </a:r>
            <a:r>
              <a:rPr lang="zh-TW" altLang="zh-TW" sz="2400" dirty="0">
                <a:latin typeface="+mn-ea"/>
              </a:rPr>
              <a:t>人坐著；</a:t>
            </a:r>
            <a:r>
              <a:rPr lang="en-US" altLang="zh-TW" sz="2400" dirty="0">
                <a:latin typeface="+mn-ea"/>
              </a:rPr>
              <a:t>4</a:t>
            </a:r>
            <a:r>
              <a:rPr lang="zh-TW" altLang="zh-TW" sz="2400" dirty="0">
                <a:latin typeface="+mn-ea"/>
              </a:rPr>
              <a:t>人站著排隊可能成為</a:t>
            </a:r>
            <a:r>
              <a:rPr lang="en-US" altLang="zh-TW" sz="2400" dirty="0">
                <a:latin typeface="+mn-ea"/>
              </a:rPr>
              <a:t>Nash</a:t>
            </a:r>
            <a:r>
              <a:rPr lang="zh-TW" altLang="zh-TW" sz="2400" dirty="0">
                <a:latin typeface="+mn-ea"/>
              </a:rPr>
              <a:t>均衡</a:t>
            </a:r>
            <a:endParaRPr lang="en-US" altLang="zh-TW" sz="2400" dirty="0">
              <a:latin typeface="+mn-ea"/>
              <a:cs typeface="Calibri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 smtClean="0">
                <a:latin typeface="+mn-ea"/>
                <a:cs typeface="Calibri" pitchFamily="34" charset="0"/>
              </a:rPr>
              <a:t>反之</a:t>
            </a:r>
            <a:r>
              <a:rPr lang="zh-TW" altLang="en-US" sz="2400" dirty="0">
                <a:latin typeface="+mn-ea"/>
                <a:cs typeface="Calibri" pitchFamily="34" charset="0"/>
              </a:rPr>
              <a:t>，若排隊者都是明顯風險愛好者時，</a:t>
            </a:r>
            <a:endParaRPr lang="en-US" altLang="zh-TW" sz="2400" dirty="0">
              <a:latin typeface="+mn-ea"/>
              <a:cs typeface="Calibri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latin typeface="+mn-ea"/>
                <a:cs typeface="Calibri" pitchFamily="34" charset="0"/>
              </a:rPr>
              <a:t>第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2</a:t>
            </a:r>
            <a:r>
              <a:rPr lang="zh-TW" altLang="en-US" sz="2400" dirty="0">
                <a:latin typeface="+mn-ea"/>
                <a:cs typeface="Calibri" pitchFamily="34" charset="0"/>
              </a:rPr>
              <a:t>人站起來排隊，其淨收益為</a:t>
            </a:r>
            <a:r>
              <a:rPr lang="en-US" altLang="zh-TW" sz="2400" dirty="0">
                <a:latin typeface="+mn-ea"/>
                <a:cs typeface="Times New Roman" pitchFamily="18" charset="0"/>
              </a:rPr>
              <a:t>24</a:t>
            </a:r>
            <a:r>
              <a:rPr lang="zh-TW" altLang="en-US" sz="2400" dirty="0">
                <a:latin typeface="+mn-ea"/>
                <a:cs typeface="Calibri" pitchFamily="34" charset="0"/>
              </a:rPr>
              <a:t>，</a:t>
            </a:r>
            <a:endParaRPr lang="en-US" altLang="zh-TW" sz="2400" dirty="0">
              <a:latin typeface="+mn-ea"/>
              <a:cs typeface="Calibri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latin typeface="+mn-ea"/>
                <a:cs typeface="Calibri" pitchFamily="34" charset="0"/>
              </a:rPr>
              <a:t>雖大於坐著的期望</a:t>
            </a:r>
            <a:r>
              <a:rPr lang="zh-TW" altLang="en-US" sz="2400" dirty="0" smtClean="0">
                <a:latin typeface="+mn-ea"/>
                <a:cs typeface="Calibri" pitchFamily="34" charset="0"/>
              </a:rPr>
              <a:t>收益 </a:t>
            </a:r>
            <a:r>
              <a:rPr lang="en-US" altLang="zh-TW" sz="2400" dirty="0" smtClean="0">
                <a:latin typeface="+mn-ea"/>
                <a:cs typeface="Calibri" pitchFamily="34" charset="0"/>
              </a:rPr>
              <a:t>20</a:t>
            </a:r>
          </a:p>
          <a:p>
            <a:pPr>
              <a:lnSpc>
                <a:spcPct val="150000"/>
              </a:lnSpc>
              <a:defRPr/>
            </a:pPr>
            <a:endParaRPr lang="en-US" altLang="zh-TW" sz="2400" dirty="0">
              <a:latin typeface="+mn-ea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59632" y="6381328"/>
            <a:ext cx="5724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dirty="0">
                <a:latin typeface="+mn-ea"/>
              </a:rPr>
              <a:t>5</a:t>
            </a:r>
            <a:r>
              <a:rPr lang="zh-TW" altLang="zh-TW" sz="2400" dirty="0">
                <a:latin typeface="+mn-ea"/>
              </a:rPr>
              <a:t>人坐著；</a:t>
            </a:r>
            <a:r>
              <a:rPr lang="en-US" altLang="zh-TW" sz="2400" dirty="0">
                <a:latin typeface="+mn-ea"/>
              </a:rPr>
              <a:t>1</a:t>
            </a:r>
            <a:r>
              <a:rPr lang="zh-TW" altLang="zh-TW" sz="2400" dirty="0">
                <a:latin typeface="+mn-ea"/>
              </a:rPr>
              <a:t>人站著排隊可能成為</a:t>
            </a:r>
            <a:r>
              <a:rPr lang="en-US" altLang="zh-TW" sz="2400" dirty="0">
                <a:latin typeface="+mn-ea"/>
              </a:rPr>
              <a:t>Nash</a:t>
            </a:r>
            <a:r>
              <a:rPr lang="zh-TW" altLang="zh-TW" sz="2400" dirty="0">
                <a:latin typeface="+mn-ea"/>
              </a:rPr>
              <a:t>均衡</a:t>
            </a:r>
            <a:endParaRPr lang="zh-TW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0748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6FDE8B9-744F-4144-BE8A-053A4C9D1AD3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447800"/>
            <a:ext cx="7772400" cy="2547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r>
              <a:rPr lang="en-US" altLang="zh-TW" sz="6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4013485195"/>
      </p:ext>
    </p:extLst>
  </p:cSld>
  <p:clrMapOvr>
    <a:masterClrMapping/>
  </p:clrMapOvr>
</p:sld>
</file>

<file path=ppt/theme/theme1.xml><?xml version="1.0" encoding="utf-8"?>
<a:theme xmlns:a="http://schemas.openxmlformats.org/drawingml/2006/main" name="氣流">
  <a:themeElements>
    <a:clrScheme name="氣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宣紙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中庸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132</TotalTime>
  <Words>979</Words>
  <Application>Microsoft Office PowerPoint</Application>
  <PresentationFormat>如螢幕大小 (4:3)</PresentationFormat>
  <Paragraphs>133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3" baseType="lpstr">
      <vt:lpstr>文鼎中圓</vt:lpstr>
      <vt:lpstr>新細明體</vt:lpstr>
      <vt:lpstr>新細明體</vt:lpstr>
      <vt:lpstr>標楷體</vt:lpstr>
      <vt:lpstr>Arial</vt:lpstr>
      <vt:lpstr>Calibri</vt:lpstr>
      <vt:lpstr>Cambria Math</vt:lpstr>
      <vt:lpstr>Constantia</vt:lpstr>
      <vt:lpstr>Georgia</vt:lpstr>
      <vt:lpstr>Times New Roman</vt:lpstr>
      <vt:lpstr>氣流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賽局觀念與意識</dc:title>
  <dc:creator>USER</dc:creator>
  <cp:lastModifiedBy>USER</cp:lastModifiedBy>
  <cp:revision>33</cp:revision>
  <cp:lastPrinted>2020-02-28T14:22:57Z</cp:lastPrinted>
  <dcterms:created xsi:type="dcterms:W3CDTF">2020-02-28T14:14:09Z</dcterms:created>
  <dcterms:modified xsi:type="dcterms:W3CDTF">2023-05-12T13:31:20Z</dcterms:modified>
</cp:coreProperties>
</file>