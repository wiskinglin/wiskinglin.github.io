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685" r:id="rId2"/>
  </p:sldIdLst>
  <p:sldSz cx="9144000" cy="5143500" type="screen16x9"/>
  <p:notesSz cx="6858000" cy="9144000"/>
  <p:defaultTextStyle>
    <a:defPPr>
      <a:defRPr lang="en-US"/>
    </a:defPPr>
    <a:lvl1pPr marL="0" algn="l" defTabSz="685685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42843" algn="l" defTabSz="685685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685685" algn="l" defTabSz="685685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28528" algn="l" defTabSz="685685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371371" algn="l" defTabSz="685685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14215" algn="l" defTabSz="685685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057057" algn="l" defTabSz="685685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399900" algn="l" defTabSz="685685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742743" algn="l" defTabSz="685685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620">
          <p15:clr>
            <a:srgbClr val="A4A3A4"/>
          </p15:clr>
        </p15:guide>
        <p15:guide id="4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E2FA"/>
    <a:srgbClr val="71E8FF"/>
    <a:srgbClr val="00FDFF"/>
    <a:srgbClr val="00D9F0"/>
    <a:srgbClr val="3C8C93"/>
    <a:srgbClr val="FFFFFF"/>
    <a:srgbClr val="D7D7D7"/>
    <a:srgbClr val="C7C7C7"/>
    <a:srgbClr val="B4B4B4"/>
    <a:srgbClr val="306F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中等深淺樣式 3 - 輔色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09"/>
    <p:restoredTop sz="82369" autoAdjust="0"/>
  </p:normalViewPr>
  <p:slideViewPr>
    <p:cSldViewPr snapToGrid="0" snapToObjects="1">
      <p:cViewPr varScale="1">
        <p:scale>
          <a:sx n="94" d="100"/>
          <a:sy n="94" d="100"/>
        </p:scale>
        <p:origin x="-1066" y="-72"/>
      </p:cViewPr>
      <p:guideLst>
        <p:guide orient="horz" pos="2160"/>
        <p:guide orient="horz" pos="1620"/>
        <p:guide pos="384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92" d="100"/>
          <a:sy n="92" d="100"/>
        </p:scale>
        <p:origin x="393" y="3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xmlns="" id="{FD7239F7-48BE-4033-9139-71B833CE7B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xmlns="" id="{25547E69-A3D0-4645-898C-127D13743B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17C7B4-AB09-4FBD-90D9-AEEE416DED9E}" type="datetimeFigureOut">
              <a:rPr lang="zh-TW" altLang="en-US" smtClean="0"/>
              <a:t>2025/12/30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xmlns="" id="{C92BD882-4BE9-4A45-8E16-878BAFB6968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xmlns="" id="{FE470A4A-E0BC-49F0-9517-53D70AE09BD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A395EC-ABF3-4083-817B-9F751785EF5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283299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F82E8D-725E-458B-A09B-99A6C25447E6}" type="datetimeFigureOut">
              <a:rPr lang="zh-TW" altLang="en-US" smtClean="0"/>
              <a:t>2025/12/30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3CD6FA-EC14-44C0-999D-C542EBAD65D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3080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29"/>
            <a:ext cx="9144000" cy="514224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1" y="1837427"/>
            <a:ext cx="6858000" cy="795046"/>
          </a:xfrm>
        </p:spPr>
        <p:txBody>
          <a:bodyPr anchor="b">
            <a:normAutofit/>
          </a:bodyPr>
          <a:lstStyle>
            <a:lvl1pPr algn="ctr">
              <a:defRPr sz="360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1" y="2701529"/>
            <a:ext cx="6858000" cy="371631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1pPr>
            <a:lvl2pPr marL="342843" indent="0" algn="ctr">
              <a:buNone/>
              <a:defRPr sz="1500"/>
            </a:lvl2pPr>
            <a:lvl3pPr marL="685685" indent="0" algn="ctr">
              <a:buNone/>
              <a:defRPr sz="1400"/>
            </a:lvl3pPr>
            <a:lvl4pPr marL="1028528" indent="0" algn="ctr">
              <a:buNone/>
              <a:defRPr sz="1200"/>
            </a:lvl4pPr>
            <a:lvl5pPr marL="1371371" indent="0" algn="ctr">
              <a:buNone/>
              <a:defRPr sz="1200"/>
            </a:lvl5pPr>
            <a:lvl6pPr marL="1714215" indent="0" algn="ctr">
              <a:buNone/>
              <a:defRPr sz="1200"/>
            </a:lvl6pPr>
            <a:lvl7pPr marL="2057057" indent="0" algn="ctr">
              <a:buNone/>
              <a:defRPr sz="1200"/>
            </a:lvl7pPr>
            <a:lvl8pPr marL="2399900" indent="0" algn="ctr">
              <a:buNone/>
              <a:defRPr sz="1200"/>
            </a:lvl8pPr>
            <a:lvl9pPr marL="2742743" indent="0" algn="ctr">
              <a:buNone/>
              <a:defRPr sz="1200"/>
            </a:lvl9pPr>
          </a:lstStyle>
          <a:p>
            <a:r>
              <a:rPr lang="en-US" altLang="zh-TW" dirty="0"/>
              <a:t>Click to edit Master subtitle style</a:t>
            </a:r>
            <a:endParaRPr lang="en-US" dirty="0"/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>
          <a:xfrm>
            <a:off x="7291137" y="4832078"/>
            <a:ext cx="1756459" cy="273843"/>
          </a:xfrm>
          <a:prstGeom prst="rect">
            <a:avLst/>
          </a:prstGeom>
        </p:spPr>
        <p:txBody>
          <a:bodyPr lIns="68568" tIns="34285" rIns="68568" bIns="34285"/>
          <a:lstStyle>
            <a:lvl1pPr algn="r">
              <a:defRPr sz="800" b="1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r>
              <a:rPr lang="en-US"/>
              <a:t>Confidential    </a:t>
            </a:r>
            <a:fld id="{F4A073C8-56C6-2B4A-AD47-1720B2EB1AE9}" type="datetimeFigureOut">
              <a:rPr lang="en-US" smtClean="0"/>
              <a:pPr/>
              <a:t>12/30/2025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0903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95541"/>
            <a:ext cx="5793415" cy="455301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070C0"/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28650" y="880263"/>
            <a:ext cx="7886700" cy="3263503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298356" y="4860953"/>
            <a:ext cx="1749240" cy="273843"/>
          </a:xfrm>
          <a:prstGeom prst="rect">
            <a:avLst/>
          </a:prstGeom>
        </p:spPr>
        <p:txBody>
          <a:bodyPr lIns="68568" tIns="34285" rIns="68568" bIns="34285"/>
          <a:lstStyle>
            <a:lvl1pPr algn="r">
              <a:defRPr sz="800" b="1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r>
              <a:rPr lang="en-US" dirty="0"/>
              <a:t>Confidential    </a:t>
            </a:r>
            <a:fld id="{F4A073C8-56C6-2B4A-AD47-1720B2EB1AE9}" type="datetimeFigureOut">
              <a:rPr lang="en-US" smtClean="0"/>
              <a:pPr/>
              <a:t>12/30/2025</a:t>
            </a:fld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386106" y="4813469"/>
            <a:ext cx="2057400" cy="273843"/>
          </a:xfrm>
          <a:prstGeom prst="rect">
            <a:avLst/>
          </a:prstGeom>
        </p:spPr>
        <p:txBody>
          <a:bodyPr vert="horz" lIns="68568" tIns="34285" rIns="68568" bIns="34285" rtlCol="0" anchor="ctr"/>
          <a:lstStyle>
            <a:lvl1pPr algn="ctr">
              <a:defRPr sz="80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fld id="{13AF40FC-B79C-FD44-9429-EBADBC06F0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矩形 8"/>
          <p:cNvSpPr/>
          <p:nvPr userDrawn="1"/>
        </p:nvSpPr>
        <p:spPr>
          <a:xfrm>
            <a:off x="429238" y="-3162"/>
            <a:ext cx="114349" cy="503084"/>
          </a:xfrm>
          <a:prstGeom prst="rect">
            <a:avLst/>
          </a:prstGeom>
          <a:gradFill flip="none" rotWithShape="1">
            <a:gsLst>
              <a:gs pos="0">
                <a:srgbClr val="0083B8"/>
              </a:gs>
              <a:gs pos="100000">
                <a:srgbClr val="00A1DA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8348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95541"/>
            <a:ext cx="5793415" cy="455301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070C0"/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28650" y="880263"/>
            <a:ext cx="7886700" cy="3263503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298356" y="4860953"/>
            <a:ext cx="1749240" cy="273843"/>
          </a:xfrm>
          <a:prstGeom prst="rect">
            <a:avLst/>
          </a:prstGeom>
        </p:spPr>
        <p:txBody>
          <a:bodyPr lIns="68568" tIns="34285" rIns="68568" bIns="34285"/>
          <a:lstStyle>
            <a:lvl1pPr algn="r">
              <a:defRPr sz="800" b="1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r>
              <a:rPr lang="en-US" dirty="0"/>
              <a:t>Confidential    </a:t>
            </a:r>
            <a:fld id="{F4A073C8-56C6-2B4A-AD47-1720B2EB1AE9}" type="datetimeFigureOut">
              <a:rPr lang="en-US" smtClean="0"/>
              <a:pPr/>
              <a:t>12/30/2025</a:t>
            </a:fld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386106" y="4813469"/>
            <a:ext cx="2057400" cy="273843"/>
          </a:xfrm>
          <a:prstGeom prst="rect">
            <a:avLst/>
          </a:prstGeom>
        </p:spPr>
        <p:txBody>
          <a:bodyPr vert="horz" lIns="68568" tIns="34285" rIns="68568" bIns="34285" rtlCol="0" anchor="ctr"/>
          <a:lstStyle>
            <a:lvl1pPr algn="ctr">
              <a:defRPr sz="80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fld id="{13AF40FC-B79C-FD44-9429-EBADBC06F0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矩形 8"/>
          <p:cNvSpPr/>
          <p:nvPr userDrawn="1"/>
        </p:nvSpPr>
        <p:spPr>
          <a:xfrm>
            <a:off x="429238" y="-3162"/>
            <a:ext cx="114349" cy="503084"/>
          </a:xfrm>
          <a:prstGeom prst="rect">
            <a:avLst/>
          </a:prstGeom>
          <a:gradFill flip="none" rotWithShape="1">
            <a:gsLst>
              <a:gs pos="0">
                <a:srgbClr val="0083B8"/>
              </a:gs>
              <a:gs pos="100000">
                <a:srgbClr val="00A1DA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20"/>
          <p:cNvSpPr/>
          <p:nvPr userDrawn="1"/>
        </p:nvSpPr>
        <p:spPr>
          <a:xfrm>
            <a:off x="6384175" y="-6967"/>
            <a:ext cx="2762679" cy="306000"/>
          </a:xfrm>
          <a:custGeom>
            <a:avLst/>
            <a:gdLst>
              <a:gd name="connsiteX0" fmla="*/ 0 w 1845644"/>
              <a:gd name="connsiteY0" fmla="*/ 0 h 320842"/>
              <a:gd name="connsiteX1" fmla="*/ 1845644 w 1845644"/>
              <a:gd name="connsiteY1" fmla="*/ 0 h 320842"/>
              <a:gd name="connsiteX2" fmla="*/ 1845644 w 1845644"/>
              <a:gd name="connsiteY2" fmla="*/ 320842 h 320842"/>
              <a:gd name="connsiteX3" fmla="*/ 0 w 1845644"/>
              <a:gd name="connsiteY3" fmla="*/ 320842 h 320842"/>
              <a:gd name="connsiteX4" fmla="*/ 0 w 1845644"/>
              <a:gd name="connsiteY4" fmla="*/ 0 h 320842"/>
              <a:gd name="connsiteX0" fmla="*/ 0 w 2054192"/>
              <a:gd name="connsiteY0" fmla="*/ 0 h 328863"/>
              <a:gd name="connsiteX1" fmla="*/ 2054192 w 2054192"/>
              <a:gd name="connsiteY1" fmla="*/ 8021 h 328863"/>
              <a:gd name="connsiteX2" fmla="*/ 2054192 w 2054192"/>
              <a:gd name="connsiteY2" fmla="*/ 328863 h 328863"/>
              <a:gd name="connsiteX3" fmla="*/ 208548 w 2054192"/>
              <a:gd name="connsiteY3" fmla="*/ 328863 h 328863"/>
              <a:gd name="connsiteX4" fmla="*/ 0 w 2054192"/>
              <a:gd name="connsiteY4" fmla="*/ 0 h 328863"/>
              <a:gd name="connsiteX0" fmla="*/ 0 w 1987659"/>
              <a:gd name="connsiteY0" fmla="*/ 0 h 328863"/>
              <a:gd name="connsiteX1" fmla="*/ 1987659 w 1987659"/>
              <a:gd name="connsiteY1" fmla="*/ 8021 h 328863"/>
              <a:gd name="connsiteX2" fmla="*/ 1987659 w 1987659"/>
              <a:gd name="connsiteY2" fmla="*/ 328863 h 328863"/>
              <a:gd name="connsiteX3" fmla="*/ 142015 w 1987659"/>
              <a:gd name="connsiteY3" fmla="*/ 328863 h 328863"/>
              <a:gd name="connsiteX4" fmla="*/ 0 w 1987659"/>
              <a:gd name="connsiteY4" fmla="*/ 0 h 3288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87659" h="328863">
                <a:moveTo>
                  <a:pt x="0" y="0"/>
                </a:moveTo>
                <a:lnTo>
                  <a:pt x="1987659" y="8021"/>
                </a:lnTo>
                <a:lnTo>
                  <a:pt x="1987659" y="328863"/>
                </a:lnTo>
                <a:lnTo>
                  <a:pt x="142015" y="328863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0083B8"/>
              </a:gs>
              <a:gs pos="50000">
                <a:srgbClr val="00B6F6">
                  <a:shade val="67500"/>
                  <a:satMod val="115000"/>
                </a:srgbClr>
              </a:gs>
              <a:gs pos="100000">
                <a:srgbClr val="00B6F6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文字方塊 2"/>
          <p:cNvSpPr txBox="1">
            <a:spLocks noChangeArrowheads="1"/>
          </p:cNvSpPr>
          <p:nvPr userDrawn="1"/>
        </p:nvSpPr>
        <p:spPr bwMode="auto">
          <a:xfrm>
            <a:off x="6290220" y="12194"/>
            <a:ext cx="2826289" cy="286839"/>
          </a:xfrm>
          <a:custGeom>
            <a:avLst/>
            <a:gdLst>
              <a:gd name="connsiteX0" fmla="*/ 0 w 2072083"/>
              <a:gd name="connsiteY0" fmla="*/ 0 h 295887"/>
              <a:gd name="connsiteX1" fmla="*/ 2072083 w 2072083"/>
              <a:gd name="connsiteY1" fmla="*/ 0 h 295887"/>
              <a:gd name="connsiteX2" fmla="*/ 2072083 w 2072083"/>
              <a:gd name="connsiteY2" fmla="*/ 295887 h 295887"/>
              <a:gd name="connsiteX3" fmla="*/ 0 w 2072083"/>
              <a:gd name="connsiteY3" fmla="*/ 295887 h 295887"/>
              <a:gd name="connsiteX4" fmla="*/ 0 w 2072083"/>
              <a:gd name="connsiteY4" fmla="*/ 0 h 295887"/>
              <a:gd name="connsiteX0" fmla="*/ 67112 w 2072083"/>
              <a:gd name="connsiteY0" fmla="*/ 0 h 312665"/>
              <a:gd name="connsiteX1" fmla="*/ 2072083 w 2072083"/>
              <a:gd name="connsiteY1" fmla="*/ 16778 h 312665"/>
              <a:gd name="connsiteX2" fmla="*/ 2072083 w 2072083"/>
              <a:gd name="connsiteY2" fmla="*/ 312665 h 312665"/>
              <a:gd name="connsiteX3" fmla="*/ 0 w 2072083"/>
              <a:gd name="connsiteY3" fmla="*/ 312665 h 312665"/>
              <a:gd name="connsiteX4" fmla="*/ 67112 w 2072083"/>
              <a:gd name="connsiteY4" fmla="*/ 0 h 312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72083" h="312665">
                <a:moveTo>
                  <a:pt x="67112" y="0"/>
                </a:moveTo>
                <a:lnTo>
                  <a:pt x="2072083" y="16778"/>
                </a:lnTo>
                <a:lnTo>
                  <a:pt x="2072083" y="312665"/>
                </a:lnTo>
                <a:lnTo>
                  <a:pt x="0" y="312665"/>
                </a:lnTo>
                <a:lnTo>
                  <a:pt x="67112" y="0"/>
                </a:lnTo>
                <a:close/>
              </a:path>
            </a:pathLst>
          </a:cu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r"/>
            <a:r>
              <a:rPr lang="zh-TW" altLang="en-US" sz="105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結合通路、設計、製造的專業電子夥伴</a:t>
            </a:r>
          </a:p>
        </p:txBody>
      </p:sp>
    </p:spTree>
    <p:extLst>
      <p:ext uri="{BB962C8B-B14F-4D97-AF65-F5344CB8AC3E}">
        <p14:creationId xmlns:p14="http://schemas.microsoft.com/office/powerpoint/2010/main" val="210052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95541"/>
            <a:ext cx="5793415" cy="455301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070C0"/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xmlns="" id="{40D466DF-4BD8-4868-A9AD-0E89C717AD4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85169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圖片 14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29"/>
            <a:ext cx="9145121" cy="5142871"/>
          </a:xfrm>
          <a:prstGeom prst="rect">
            <a:avLst/>
          </a:prstGeom>
        </p:spPr>
      </p:pic>
      <p:sp>
        <p:nvSpPr>
          <p:cNvPr id="11" name="Title 1"/>
          <p:cNvSpPr>
            <a:spLocks noGrp="1"/>
          </p:cNvSpPr>
          <p:nvPr>
            <p:ph type="ctrTitle" hasCustomPrompt="1"/>
          </p:nvPr>
        </p:nvSpPr>
        <p:spPr>
          <a:xfrm>
            <a:off x="1143001" y="1837427"/>
            <a:ext cx="6858000" cy="795046"/>
          </a:xfrm>
        </p:spPr>
        <p:txBody>
          <a:bodyPr anchor="b">
            <a:normAutofit/>
          </a:bodyPr>
          <a:lstStyle>
            <a:lvl1pPr algn="ctr">
              <a:defRPr sz="3300" baseline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r>
              <a:rPr lang="en-US" altLang="zh-TW" dirty="0"/>
              <a:t>Click to edit Transition slide title</a:t>
            </a:r>
            <a:endParaRPr lang="en-US" dirty="0"/>
          </a:p>
        </p:txBody>
      </p:sp>
      <p:sp>
        <p:nvSpPr>
          <p:cNvPr id="12" name="Subtitle 2"/>
          <p:cNvSpPr>
            <a:spLocks noGrp="1"/>
          </p:cNvSpPr>
          <p:nvPr>
            <p:ph type="subTitle" idx="1"/>
          </p:nvPr>
        </p:nvSpPr>
        <p:spPr>
          <a:xfrm>
            <a:off x="1143001" y="2701529"/>
            <a:ext cx="6858000" cy="371631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itchFamily="34" charset="-120"/>
                <a:ea typeface="微軟正黑體" pitchFamily="34" charset="-120"/>
              </a:defRPr>
            </a:lvl1pPr>
            <a:lvl2pPr marL="342843" indent="0" algn="ctr">
              <a:buNone/>
              <a:defRPr sz="1500"/>
            </a:lvl2pPr>
            <a:lvl3pPr marL="685685" indent="0" algn="ctr">
              <a:buNone/>
              <a:defRPr sz="1400"/>
            </a:lvl3pPr>
            <a:lvl4pPr marL="1028528" indent="0" algn="ctr">
              <a:buNone/>
              <a:defRPr sz="1200"/>
            </a:lvl4pPr>
            <a:lvl5pPr marL="1371371" indent="0" algn="ctr">
              <a:buNone/>
              <a:defRPr sz="1200"/>
            </a:lvl5pPr>
            <a:lvl6pPr marL="1714215" indent="0" algn="ctr">
              <a:buNone/>
              <a:defRPr sz="1200"/>
            </a:lvl6pPr>
            <a:lvl7pPr marL="2057057" indent="0" algn="ctr">
              <a:buNone/>
              <a:defRPr sz="1200"/>
            </a:lvl7pPr>
            <a:lvl8pPr marL="2399900" indent="0" algn="ctr">
              <a:buNone/>
              <a:defRPr sz="1200"/>
            </a:lvl8pPr>
            <a:lvl9pPr marL="2742743" indent="0" algn="ctr">
              <a:buNone/>
              <a:defRPr sz="1200"/>
            </a:lvl9pPr>
          </a:lstStyle>
          <a:p>
            <a:r>
              <a:rPr lang="en-US" altLang="zh-TW" dirty="0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128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4131425"/>
            <a:ext cx="9144000" cy="10120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AAE26669-12ED-429A-B2E1-266CD318642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0391"/>
            <a:ext cx="9144000" cy="51708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66685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4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矩形 13"/>
          <p:cNvSpPr/>
          <p:nvPr userDrawn="1"/>
        </p:nvSpPr>
        <p:spPr>
          <a:xfrm>
            <a:off x="352926" y="2630905"/>
            <a:ext cx="8414085" cy="23902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/>
          <p:cNvSpPr txBox="1"/>
          <p:nvPr userDrawn="1"/>
        </p:nvSpPr>
        <p:spPr>
          <a:xfrm>
            <a:off x="628651" y="519967"/>
            <a:ext cx="272415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8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豐藝集團</a:t>
            </a:r>
          </a:p>
          <a:p>
            <a:pPr>
              <a:lnSpc>
                <a:spcPts val="3360"/>
              </a:lnSpc>
            </a:pPr>
            <a:r>
              <a:rPr lang="en-US" altLang="zh-TW" sz="2800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PROMATE GROUP</a:t>
            </a:r>
            <a:endParaRPr lang="zh-TW" altLang="en-US" sz="2800" dirty="0">
              <a:solidFill>
                <a:schemeClr val="bg1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pic>
        <p:nvPicPr>
          <p:cNvPr id="17" name="Picture 5" descr="D:\PSC\PSC materials\PMT CI logos\PROMATE LOGO +slogan-01.p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0962" y="3181037"/>
            <a:ext cx="963171" cy="349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文字方塊 17"/>
          <p:cNvSpPr txBox="1"/>
          <p:nvPr userDrawn="1"/>
        </p:nvSpPr>
        <p:spPr>
          <a:xfrm>
            <a:off x="352927" y="3641151"/>
            <a:ext cx="2759242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006699"/>
                </a:solidFill>
                <a:latin typeface="微軟正黑體" pitchFamily="34" charset="-120"/>
                <a:ea typeface="微軟正黑體" pitchFamily="34" charset="-120"/>
              </a:rPr>
              <a:t>專業電子通路商</a:t>
            </a:r>
            <a:endParaRPr lang="en-US" altLang="zh-TW" sz="1600" b="1" dirty="0">
              <a:solidFill>
                <a:srgbClr val="006699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006699"/>
                </a:solidFill>
                <a:latin typeface="微軟正黑體" pitchFamily="34" charset="-120"/>
                <a:ea typeface="微軟正黑體" pitchFamily="34" charset="-120"/>
              </a:rPr>
              <a:t>成立</a:t>
            </a:r>
            <a:r>
              <a:rPr lang="en-US" altLang="zh-TW" sz="1200" b="1" dirty="0">
                <a:solidFill>
                  <a:srgbClr val="006699"/>
                </a:solidFill>
                <a:latin typeface="微軟正黑體" pitchFamily="34" charset="-120"/>
                <a:ea typeface="微軟正黑體" pitchFamily="34" charset="-120"/>
              </a:rPr>
              <a:t>34</a:t>
            </a:r>
            <a:r>
              <a:rPr lang="zh-TW" altLang="en-US" sz="1200" b="1" dirty="0">
                <a:solidFill>
                  <a:srgbClr val="006699"/>
                </a:solidFill>
                <a:latin typeface="微軟正黑體" pitchFamily="34" charset="-120"/>
                <a:ea typeface="微軟正黑體" pitchFamily="34" charset="-120"/>
              </a:rPr>
              <a:t>年</a:t>
            </a:r>
            <a:endParaRPr lang="en-US" altLang="zh-TW" sz="1200" b="1" dirty="0">
              <a:solidFill>
                <a:srgbClr val="006699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006699"/>
                </a:solidFill>
                <a:latin typeface="微軟正黑體" pitchFamily="34" charset="-120"/>
                <a:ea typeface="微軟正黑體" pitchFamily="34" charset="-120"/>
              </a:rPr>
              <a:t>台灣排名第八</a:t>
            </a:r>
            <a:endParaRPr lang="en-US" altLang="zh-TW" sz="1200" b="1" dirty="0">
              <a:solidFill>
                <a:srgbClr val="006699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006699"/>
                </a:solidFill>
                <a:latin typeface="微軟正黑體" pitchFamily="34" charset="-120"/>
                <a:ea typeface="微軟正黑體" pitchFamily="34" charset="-120"/>
              </a:rPr>
              <a:t>半導體、面板</a:t>
            </a:r>
          </a:p>
        </p:txBody>
      </p:sp>
      <p:cxnSp>
        <p:nvCxnSpPr>
          <p:cNvPr id="19" name="直線接點 18"/>
          <p:cNvCxnSpPr/>
          <p:nvPr userDrawn="1"/>
        </p:nvCxnSpPr>
        <p:spPr>
          <a:xfrm>
            <a:off x="3112169" y="2977566"/>
            <a:ext cx="0" cy="175485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/>
          <p:cNvCxnSpPr/>
          <p:nvPr userDrawn="1"/>
        </p:nvCxnSpPr>
        <p:spPr>
          <a:xfrm>
            <a:off x="6023811" y="2950370"/>
            <a:ext cx="0" cy="175485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6" descr="D:\PSC\PSC materials\PSC - CI\PSClogo-01.png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990" y="3085087"/>
            <a:ext cx="902306" cy="451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文字方塊 21"/>
          <p:cNvSpPr txBox="1"/>
          <p:nvPr userDrawn="1"/>
        </p:nvSpPr>
        <p:spPr>
          <a:xfrm>
            <a:off x="3112169" y="3641151"/>
            <a:ext cx="2911641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006699"/>
                </a:solidFill>
                <a:latin typeface="微軟正黑體" pitchFamily="34" charset="-120"/>
                <a:ea typeface="微軟正黑體" pitchFamily="34" charset="-120"/>
              </a:rPr>
              <a:t>原廠委託設計代工</a:t>
            </a:r>
            <a:endParaRPr lang="en-US" altLang="zh-TW" sz="1600" b="1" dirty="0">
              <a:solidFill>
                <a:srgbClr val="006699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006699"/>
                </a:solidFill>
                <a:latin typeface="微軟正黑體" pitchFamily="34" charset="-120"/>
                <a:ea typeface="微軟正黑體" pitchFamily="34" charset="-120"/>
              </a:rPr>
              <a:t>成立</a:t>
            </a:r>
            <a:r>
              <a:rPr lang="en-US" altLang="zh-TW" sz="1200" b="1" dirty="0">
                <a:solidFill>
                  <a:srgbClr val="006699"/>
                </a:solidFill>
                <a:latin typeface="微軟正黑體" pitchFamily="34" charset="-120"/>
                <a:ea typeface="微軟正黑體" pitchFamily="34" charset="-120"/>
              </a:rPr>
              <a:t>20</a:t>
            </a:r>
            <a:r>
              <a:rPr lang="zh-TW" altLang="en-US" sz="1200" b="1" dirty="0">
                <a:solidFill>
                  <a:srgbClr val="006699"/>
                </a:solidFill>
                <a:latin typeface="微軟正黑體" pitchFamily="34" charset="-120"/>
                <a:ea typeface="微軟正黑體" pitchFamily="34" charset="-120"/>
              </a:rPr>
              <a:t>年</a:t>
            </a:r>
            <a:endParaRPr lang="en-US" altLang="zh-TW" sz="1200" b="1" dirty="0">
              <a:solidFill>
                <a:srgbClr val="006699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006699"/>
                </a:solidFill>
                <a:latin typeface="微軟正黑體" pitchFamily="34" charset="-120"/>
                <a:ea typeface="微軟正黑體" pitchFamily="34" charset="-120"/>
              </a:rPr>
              <a:t>專精於人機介面</a:t>
            </a:r>
            <a:endParaRPr lang="en-US" altLang="zh-TW" sz="1200" b="1" dirty="0">
              <a:solidFill>
                <a:srgbClr val="006699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006699"/>
                </a:solidFill>
                <a:latin typeface="微軟正黑體" pitchFamily="34" charset="-120"/>
                <a:ea typeface="微軟正黑體" pitchFamily="34" charset="-120"/>
              </a:rPr>
              <a:t>外銷歐美日</a:t>
            </a:r>
            <a:endParaRPr lang="en-US" altLang="zh-TW" sz="1200" b="1" dirty="0">
              <a:solidFill>
                <a:srgbClr val="006699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/>
            <a:endParaRPr lang="en-US" altLang="zh-TW" sz="1600" b="1" dirty="0">
              <a:solidFill>
                <a:srgbClr val="006699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pic>
        <p:nvPicPr>
          <p:cNvPr id="23" name="Picture 7" descr="D:\PSC\Vending\PSCritica sales-kit\Critica_VI_Design\PSCritica_logo_Final.jp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3095" y="3115670"/>
            <a:ext cx="862604" cy="415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9" descr="D:\PSC\Vending\PSCritica sales-kit\Critica_VI_Design\Final\PSTaptic_logo_235.png"/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8831" y="3241440"/>
            <a:ext cx="782330" cy="269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文字方塊 24"/>
          <p:cNvSpPr txBox="1"/>
          <p:nvPr userDrawn="1"/>
        </p:nvSpPr>
        <p:spPr>
          <a:xfrm>
            <a:off x="6023811" y="3641151"/>
            <a:ext cx="2743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b="1" dirty="0">
                <a:solidFill>
                  <a:srgbClr val="006699"/>
                </a:solidFill>
                <a:latin typeface="微軟正黑體" pitchFamily="34" charset="-120"/>
                <a:ea typeface="微軟正黑體" pitchFamily="34" charset="-120"/>
              </a:rPr>
              <a:t>IOT</a:t>
            </a:r>
            <a:r>
              <a:rPr lang="zh-TW" altLang="en-US" sz="1600" b="1" dirty="0">
                <a:solidFill>
                  <a:srgbClr val="006699"/>
                </a:solidFill>
                <a:latin typeface="微軟正黑體" pitchFamily="34" charset="-120"/>
                <a:ea typeface="微軟正黑體" pitchFamily="34" charset="-120"/>
              </a:rPr>
              <a:t>解決方案</a:t>
            </a:r>
            <a:endParaRPr lang="en-US" altLang="zh-TW" sz="1600" b="1" dirty="0">
              <a:solidFill>
                <a:srgbClr val="006699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006699"/>
                </a:solidFill>
                <a:latin typeface="微軟正黑體" pitchFamily="34" charset="-120"/>
                <a:ea typeface="微軟正黑體" pitchFamily="34" charset="-120"/>
              </a:rPr>
              <a:t>專注零售及商用機聯網領域</a:t>
            </a:r>
            <a:endParaRPr lang="en-US" altLang="zh-TW" sz="1200" b="1" dirty="0">
              <a:solidFill>
                <a:srgbClr val="006699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/>
            <a:endParaRPr lang="zh-TW" altLang="en-US" sz="1200" b="1" dirty="0">
              <a:solidFill>
                <a:srgbClr val="006699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26" name="文字方塊 25"/>
          <p:cNvSpPr txBox="1"/>
          <p:nvPr userDrawn="1"/>
        </p:nvSpPr>
        <p:spPr>
          <a:xfrm>
            <a:off x="4804757" y="2000957"/>
            <a:ext cx="37573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TW" altLang="en-US" sz="16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結合通路、設計、製造的專業電子夥伴</a:t>
            </a:r>
          </a:p>
        </p:txBody>
      </p:sp>
    </p:spTree>
    <p:extLst>
      <p:ext uri="{BB962C8B-B14F-4D97-AF65-F5344CB8AC3E}">
        <p14:creationId xmlns:p14="http://schemas.microsoft.com/office/powerpoint/2010/main" val="3330861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/>
          <p:cNvSpPr/>
          <p:nvPr userDrawn="1"/>
        </p:nvSpPr>
        <p:spPr>
          <a:xfrm>
            <a:off x="440603" y="759873"/>
            <a:ext cx="1125629" cy="6669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09585"/>
            <a:r>
              <a:rPr lang="en-US" altLang="zh-CN" sz="1867" dirty="0">
                <a:solidFill>
                  <a:srgbClr val="FFFFFF"/>
                </a:solidFill>
                <a:latin typeface="Segoe UI Light"/>
                <a:ea typeface="微软雅黑"/>
                <a:cs typeface="Segoe UI Light"/>
              </a:rPr>
              <a:t>Format</a:t>
            </a:r>
          </a:p>
          <a:p>
            <a:pPr defTabSz="609585"/>
            <a:r>
              <a:rPr lang="en-US" altLang="zh-CN" sz="1867" dirty="0">
                <a:solidFill>
                  <a:srgbClr val="FFFFFF"/>
                </a:solidFill>
                <a:latin typeface="Segoe UI Light"/>
                <a:ea typeface="微软雅黑"/>
                <a:cs typeface="Segoe UI Light"/>
              </a:rPr>
              <a:t>Guideline</a:t>
            </a:r>
            <a:endParaRPr lang="zh-CN" altLang="en-US" sz="1867" dirty="0">
              <a:solidFill>
                <a:srgbClr val="FFFFFF"/>
              </a:solidFill>
              <a:latin typeface="Segoe UI Light"/>
              <a:ea typeface="微软雅黑"/>
              <a:cs typeface="Segoe UI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2857674" y="841948"/>
            <a:ext cx="1402001" cy="22257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09585">
              <a:lnSpc>
                <a:spcPct val="130000"/>
              </a:lnSpc>
            </a:pPr>
            <a:r>
              <a:rPr lang="zh-TW" altLang="en-US" sz="1333" dirty="0">
                <a:solidFill>
                  <a:srgbClr val="FFFFFF"/>
                </a:solidFill>
                <a:latin typeface="微軟正黑體" pitchFamily="34" charset="-120"/>
                <a:ea typeface="微軟正黑體" pitchFamily="34" charset="-120"/>
                <a:cs typeface="Segoe UI Light"/>
              </a:rPr>
              <a:t>字體</a:t>
            </a:r>
            <a:r>
              <a:rPr lang="en-US" altLang="zh-TW" sz="1333" dirty="0">
                <a:solidFill>
                  <a:srgbClr val="FFFFFF"/>
                </a:solidFill>
                <a:latin typeface="微軟正黑體" pitchFamily="34" charset="-120"/>
                <a:ea typeface="微軟正黑體" pitchFamily="34" charset="-120"/>
                <a:cs typeface="Segoe UI Light"/>
              </a:rPr>
              <a:t>FONT</a:t>
            </a:r>
            <a:endParaRPr lang="en-US" altLang="zh-CN" sz="1333" dirty="0">
              <a:solidFill>
                <a:srgbClr val="FFFFFF"/>
              </a:solidFill>
              <a:latin typeface="微軟正黑體" pitchFamily="34" charset="-120"/>
              <a:ea typeface="微軟正黑體" pitchFamily="34" charset="-120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微軟正黑體" pitchFamily="34" charset="-120"/>
              <a:ea typeface="微軟正黑體" pitchFamily="34" charset="-120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微軟正黑體" pitchFamily="34" charset="-120"/>
              <a:ea typeface="微軟正黑體" pitchFamily="34" charset="-120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微軟正黑體" pitchFamily="34" charset="-120"/>
              <a:ea typeface="微軟正黑體" pitchFamily="34" charset="-120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微軟正黑體" pitchFamily="34" charset="-120"/>
              <a:ea typeface="微軟正黑體" pitchFamily="34" charset="-120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微軟正黑體" pitchFamily="34" charset="-120"/>
              <a:ea typeface="微軟正黑體" pitchFamily="34" charset="-120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zh-CN" altLang="en-US" sz="1333" dirty="0">
              <a:solidFill>
                <a:srgbClr val="FFFFFF"/>
              </a:solidFill>
              <a:latin typeface="微軟正黑體" pitchFamily="34" charset="-120"/>
              <a:ea typeface="微軟正黑體" pitchFamily="34" charset="-120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zh-CN" altLang="en-US" sz="1333" dirty="0">
              <a:solidFill>
                <a:srgbClr val="FFFFFF"/>
              </a:solidFill>
              <a:latin typeface="微軟正黑體" pitchFamily="34" charset="-120"/>
              <a:ea typeface="微軟正黑體" pitchFamily="34" charset="-120"/>
              <a:cs typeface="Segoe UI Light"/>
            </a:endParaRPr>
          </a:p>
        </p:txBody>
      </p:sp>
      <p:sp>
        <p:nvSpPr>
          <p:cNvPr id="12" name="矩形 11"/>
          <p:cNvSpPr/>
          <p:nvPr userDrawn="1"/>
        </p:nvSpPr>
        <p:spPr>
          <a:xfrm>
            <a:off x="4395052" y="841948"/>
            <a:ext cx="3727457" cy="22257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09585">
              <a:lnSpc>
                <a:spcPct val="130000"/>
              </a:lnSpc>
            </a:pPr>
            <a:r>
              <a:rPr lang="en-US" altLang="zh-TW" sz="1333" dirty="0">
                <a:solidFill>
                  <a:srgbClr val="FFFFFF"/>
                </a:solidFill>
                <a:latin typeface="微軟正黑體" pitchFamily="34" charset="-120"/>
                <a:ea typeface="微軟正黑體" pitchFamily="34" charset="-120"/>
                <a:cs typeface="Segoe UI Light"/>
              </a:rPr>
              <a:t>English : </a:t>
            </a:r>
            <a:r>
              <a:rPr lang="en-US" altLang="zh-CN" sz="1333" dirty="0">
                <a:solidFill>
                  <a:srgbClr val="FFFFFF"/>
                </a:solidFill>
                <a:latin typeface="微軟正黑體" pitchFamily="34" charset="-120"/>
                <a:ea typeface="微軟正黑體" pitchFamily="34" charset="-120"/>
                <a:cs typeface="Segoe UI Light"/>
              </a:rPr>
              <a:t>Calibri </a:t>
            </a:r>
          </a:p>
          <a:p>
            <a:pPr defTabSz="609585">
              <a:lnSpc>
                <a:spcPct val="130000"/>
              </a:lnSpc>
            </a:pPr>
            <a:r>
              <a:rPr lang="zh-CN" altLang="en-US" sz="1333" dirty="0">
                <a:solidFill>
                  <a:srgbClr val="FFFFFF"/>
                </a:solidFill>
                <a:latin typeface="微軟正黑體" pitchFamily="34" charset="-120"/>
                <a:ea typeface="微軟正黑體" pitchFamily="34" charset="-120"/>
                <a:cs typeface="Segoe UI Light"/>
              </a:rPr>
              <a:t>中文 </a:t>
            </a:r>
            <a:r>
              <a:rPr lang="zh-TW" altLang="en-US" sz="1333" dirty="0">
                <a:solidFill>
                  <a:srgbClr val="FFFFFF"/>
                </a:solidFill>
                <a:latin typeface="微軟正黑體" pitchFamily="34" charset="-120"/>
                <a:ea typeface="微軟正黑體" pitchFamily="34" charset="-120"/>
                <a:cs typeface="Segoe UI Light"/>
              </a:rPr>
              <a:t>微軟正黑體</a:t>
            </a:r>
            <a:endParaRPr lang="en-US" altLang="zh-CN" sz="1333" dirty="0">
              <a:solidFill>
                <a:srgbClr val="FFFFFF"/>
              </a:solidFill>
              <a:latin typeface="微軟正黑體" pitchFamily="34" charset="-120"/>
              <a:ea typeface="微軟正黑體" pitchFamily="34" charset="-120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微軟正黑體" pitchFamily="34" charset="-120"/>
              <a:ea typeface="微軟正黑體" pitchFamily="34" charset="-120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微軟正黑體" pitchFamily="34" charset="-120"/>
              <a:ea typeface="微軟正黑體" pitchFamily="34" charset="-120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微軟正黑體" pitchFamily="34" charset="-120"/>
              <a:ea typeface="微軟正黑體" pitchFamily="34" charset="-120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en-US" altLang="zh-CN" sz="1333" dirty="0">
              <a:solidFill>
                <a:srgbClr val="FFFFFF"/>
              </a:solidFill>
              <a:latin typeface="微軟正黑體" pitchFamily="34" charset="-120"/>
              <a:ea typeface="微軟正黑體" pitchFamily="34" charset="-120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zh-CN" altLang="en-US" sz="1333" dirty="0">
              <a:solidFill>
                <a:srgbClr val="FFFFFF"/>
              </a:solidFill>
              <a:latin typeface="微軟正黑體" pitchFamily="34" charset="-120"/>
              <a:ea typeface="微軟正黑體" pitchFamily="34" charset="-120"/>
              <a:cs typeface="Segoe UI Light"/>
            </a:endParaRPr>
          </a:p>
          <a:p>
            <a:pPr defTabSz="609585">
              <a:lnSpc>
                <a:spcPct val="130000"/>
              </a:lnSpc>
            </a:pPr>
            <a:endParaRPr lang="zh-CN" altLang="en-US" sz="1333" dirty="0">
              <a:solidFill>
                <a:srgbClr val="FFFFFF"/>
              </a:solidFill>
              <a:latin typeface="微軟正黑體" pitchFamily="34" charset="-120"/>
              <a:ea typeface="微軟正黑體" pitchFamily="34" charset="-120"/>
              <a:cs typeface="Segoe UI Light"/>
            </a:endParaRPr>
          </a:p>
        </p:txBody>
      </p:sp>
    </p:spTree>
    <p:extLst>
      <p:ext uri="{BB962C8B-B14F-4D97-AF65-F5344CB8AC3E}">
        <p14:creationId xmlns:p14="http://schemas.microsoft.com/office/powerpoint/2010/main" val="2672888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628652" y="95542"/>
            <a:ext cx="5793415" cy="455301"/>
          </a:xfrm>
        </p:spPr>
        <p:txBody>
          <a:bodyPr>
            <a:normAutofit/>
          </a:bodyPr>
          <a:lstStyle>
            <a:lvl1pPr>
              <a:defRPr sz="1800" b="1">
                <a:solidFill>
                  <a:srgbClr val="0070C0"/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4" name="矩形 3"/>
          <p:cNvSpPr/>
          <p:nvPr userDrawn="1"/>
        </p:nvSpPr>
        <p:spPr>
          <a:xfrm>
            <a:off x="429240" y="-3162"/>
            <a:ext cx="114349" cy="503084"/>
          </a:xfrm>
          <a:prstGeom prst="rect">
            <a:avLst/>
          </a:prstGeom>
          <a:gradFill flip="none" rotWithShape="1">
            <a:gsLst>
              <a:gs pos="0">
                <a:srgbClr val="0083B8"/>
              </a:gs>
              <a:gs pos="100000">
                <a:srgbClr val="00A1DA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</p:spTree>
    <p:extLst>
      <p:ext uri="{BB962C8B-B14F-4D97-AF65-F5344CB8AC3E}">
        <p14:creationId xmlns:p14="http://schemas.microsoft.com/office/powerpoint/2010/main" val="3731262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圖片 13"/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4770901"/>
            <a:ext cx="9144900" cy="37417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143903"/>
            <a:ext cx="7886700" cy="621305"/>
          </a:xfrm>
          <a:prstGeom prst="rect">
            <a:avLst/>
          </a:prstGeom>
        </p:spPr>
        <p:txBody>
          <a:bodyPr vert="horz" lIns="68568" tIns="34285" rIns="68568" bIns="34285" rtlCol="0" anchor="ctr">
            <a:normAutofit/>
          </a:bodyPr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38463"/>
            <a:ext cx="7886700" cy="3674445"/>
          </a:xfrm>
          <a:prstGeom prst="rect">
            <a:avLst/>
          </a:prstGeom>
        </p:spPr>
        <p:txBody>
          <a:bodyPr vert="horz" lIns="68568" tIns="34285" rIns="68568" bIns="34285" rtlCol="0">
            <a:normAutofit/>
          </a:bodyPr>
          <a:lstStyle/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86287" y="4822017"/>
            <a:ext cx="892347" cy="273843"/>
          </a:xfrm>
          <a:prstGeom prst="rect">
            <a:avLst/>
          </a:prstGeom>
        </p:spPr>
        <p:txBody>
          <a:bodyPr vert="horz" lIns="68568" tIns="34285" rIns="68568" bIns="34285" rtlCol="0" anchor="ctr"/>
          <a:lstStyle>
            <a:lvl1pPr algn="ctr">
              <a:defRPr sz="800" b="1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fld id="{13AF40FC-B79C-FD44-9429-EBADBC06F07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078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6" r:id="rId3"/>
    <p:sldLayoutId id="2147483655" r:id="rId4"/>
    <p:sldLayoutId id="2147483650" r:id="rId5"/>
    <p:sldLayoutId id="2147483652" r:id="rId6"/>
    <p:sldLayoutId id="2147483654" r:id="rId7"/>
    <p:sldLayoutId id="2147483653" r:id="rId8"/>
    <p:sldLayoutId id="2147483657" r:id="rId9"/>
  </p:sldLayoutIdLst>
  <p:txStyles>
    <p:titleStyle>
      <a:lvl1pPr algn="l" defTabSz="685685" rtl="0" eaLnBrk="1" latinLnBrk="0" hangingPunct="1">
        <a:lnSpc>
          <a:spcPct val="90000"/>
        </a:lnSpc>
        <a:spcBef>
          <a:spcPct val="0"/>
        </a:spcBef>
        <a:buNone/>
        <a:defRPr lang="en-US" altLang="zh-TW" sz="2700" b="1" kern="1200" dirty="0">
          <a:solidFill>
            <a:srgbClr val="1C4382"/>
          </a:solidFill>
          <a:latin typeface="微軟正黑體" pitchFamily="34" charset="-120"/>
          <a:ea typeface="微軟正黑體" pitchFamily="34" charset="-120"/>
          <a:cs typeface="+mj-cs"/>
        </a:defRPr>
      </a:lvl1pPr>
    </p:titleStyle>
    <p:bodyStyle>
      <a:lvl1pPr marL="171422" indent="-171422" algn="l" defTabSz="685685" rtl="0" eaLnBrk="1" latinLnBrk="0" hangingPunct="1">
        <a:lnSpc>
          <a:spcPct val="90000"/>
        </a:lnSpc>
        <a:spcBef>
          <a:spcPts val="750"/>
        </a:spcBef>
        <a:buFont typeface="Arial"/>
        <a:buChar char="•"/>
        <a:defRPr sz="2100" kern="1200">
          <a:solidFill>
            <a:schemeClr val="tx1">
              <a:lumMod val="75000"/>
              <a:lumOff val="25000"/>
            </a:schemeClr>
          </a:solidFill>
          <a:latin typeface="微軟正黑體" pitchFamily="34" charset="-120"/>
          <a:ea typeface="微軟正黑體" pitchFamily="34" charset="-120"/>
          <a:cs typeface="+mn-cs"/>
        </a:defRPr>
      </a:lvl1pPr>
      <a:lvl2pPr marL="514265" indent="-171422" algn="l" defTabSz="685685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微軟正黑體" pitchFamily="34" charset="-120"/>
          <a:ea typeface="微軟正黑體" pitchFamily="34" charset="-120"/>
          <a:cs typeface="+mn-cs"/>
        </a:defRPr>
      </a:lvl2pPr>
      <a:lvl3pPr marL="857107" indent="-171422" algn="l" defTabSz="685685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500" kern="1200">
          <a:solidFill>
            <a:schemeClr val="tx1">
              <a:lumMod val="75000"/>
              <a:lumOff val="25000"/>
            </a:schemeClr>
          </a:solidFill>
          <a:latin typeface="微軟正黑體" pitchFamily="34" charset="-120"/>
          <a:ea typeface="微軟正黑體" pitchFamily="34" charset="-120"/>
          <a:cs typeface="+mn-cs"/>
        </a:defRPr>
      </a:lvl3pPr>
      <a:lvl4pPr marL="1199950" indent="-171422" algn="l" defTabSz="685685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微軟正黑體" pitchFamily="34" charset="-120"/>
          <a:ea typeface="微軟正黑體" pitchFamily="34" charset="-120"/>
          <a:cs typeface="+mn-cs"/>
        </a:defRPr>
      </a:lvl4pPr>
      <a:lvl5pPr marL="1542793" indent="-171422" algn="l" defTabSz="685685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微軟正黑體" pitchFamily="34" charset="-120"/>
          <a:ea typeface="微軟正黑體" pitchFamily="34" charset="-120"/>
          <a:cs typeface="+mn-cs"/>
        </a:defRPr>
      </a:lvl5pPr>
      <a:lvl6pPr marL="1885635" indent="-171422" algn="l" defTabSz="685685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478" indent="-171422" algn="l" defTabSz="685685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321" indent="-171422" algn="l" defTabSz="685685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164" indent="-171422" algn="l" defTabSz="685685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685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43" algn="l" defTabSz="685685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685" algn="l" defTabSz="685685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528" algn="l" defTabSz="685685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371" algn="l" defTabSz="685685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215" algn="l" defTabSz="685685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057" algn="l" defTabSz="685685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99900" algn="l" defTabSz="685685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2743" algn="l" defTabSz="685685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34192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22547</TotalTime>
  <Words>0</Words>
  <Application>Microsoft Office PowerPoint</Application>
  <PresentationFormat>如螢幕大小 (16:9)</PresentationFormat>
  <Paragraphs>0</Paragraphs>
  <Slides>1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2" baseType="lpstr">
      <vt:lpstr>Office Theme</vt:lpstr>
      <vt:lpstr>PowerPoint 簡報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智慧生產管理數位轉型經驗分享</dc:title>
  <dc:creator>Andy Chen</dc:creator>
  <cp:lastModifiedBy>King Lin</cp:lastModifiedBy>
  <cp:revision>291</cp:revision>
  <dcterms:created xsi:type="dcterms:W3CDTF">2020-11-27T01:52:06Z</dcterms:created>
  <dcterms:modified xsi:type="dcterms:W3CDTF">2025-12-30T02:30:37Z</dcterms:modified>
</cp:coreProperties>
</file>