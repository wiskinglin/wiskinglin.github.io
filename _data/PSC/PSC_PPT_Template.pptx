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687" r:id="rId2"/>
    <p:sldId id="685" r:id="rId3"/>
    <p:sldId id="688" r:id="rId4"/>
  </p:sldIdLst>
  <p:sldSz cx="9144000" cy="5143500" type="screen16x9"/>
  <p:notesSz cx="6858000" cy="9144000"/>
  <p:defaultTextStyle>
    <a:defPPr>
      <a:defRPr lang="en-US"/>
    </a:defPPr>
    <a:lvl1pPr marL="0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43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685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528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371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215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057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900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743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E2FA"/>
    <a:srgbClr val="71E8FF"/>
    <a:srgbClr val="00FDFF"/>
    <a:srgbClr val="00D9F0"/>
    <a:srgbClr val="3C8C93"/>
    <a:srgbClr val="FFFFFF"/>
    <a:srgbClr val="D7D7D7"/>
    <a:srgbClr val="C7C7C7"/>
    <a:srgbClr val="B4B4B4"/>
    <a:srgbClr val="30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/>
    <p:restoredTop sz="82369" autoAdjust="0"/>
  </p:normalViewPr>
  <p:slideViewPr>
    <p:cSldViewPr snapToGrid="0" snapToObjects="1">
      <p:cViewPr varScale="1">
        <p:scale>
          <a:sx n="94" d="100"/>
          <a:sy n="94" d="100"/>
        </p:scale>
        <p:origin x="-1018" y="-72"/>
      </p:cViewPr>
      <p:guideLst>
        <p:guide orient="horz" pos="2160"/>
        <p:guide orient="horz" pos="162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2" d="100"/>
          <a:sy n="92" d="100"/>
        </p:scale>
        <p:origin x="393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="" xmlns:a16="http://schemas.microsoft.com/office/drawing/2014/main" id="{FD7239F7-48BE-4033-9139-71B833CE7B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25547E69-A3D0-4645-898C-127D13743B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7C7B4-AB09-4FBD-90D9-AEEE416DED9E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C92BD882-4BE9-4A45-8E16-878BAFB696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="" xmlns:a16="http://schemas.microsoft.com/office/drawing/2014/main" id="{FE470A4A-E0BC-49F0-9517-53D70AE09B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395EC-ABF3-4083-817B-9F751785EF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329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82E8D-725E-458B-A09B-99A6C25447E6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CD6FA-EC14-44C0-999D-C542EBAD65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08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"/>
            <a:ext cx="9144000" cy="5142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1" y="1837427"/>
            <a:ext cx="6858000" cy="795046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371631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342843" indent="0" algn="ctr">
              <a:buNone/>
              <a:defRPr sz="1500"/>
            </a:lvl2pPr>
            <a:lvl3pPr marL="685685" indent="0" algn="ctr">
              <a:buNone/>
              <a:defRPr sz="1400"/>
            </a:lvl3pPr>
            <a:lvl4pPr marL="1028528" indent="0" algn="ctr">
              <a:buNone/>
              <a:defRPr sz="1200"/>
            </a:lvl4pPr>
            <a:lvl5pPr marL="1371371" indent="0" algn="ctr">
              <a:buNone/>
              <a:defRPr sz="1200"/>
            </a:lvl5pPr>
            <a:lvl6pPr marL="1714215" indent="0" algn="ctr">
              <a:buNone/>
              <a:defRPr sz="1200"/>
            </a:lvl6pPr>
            <a:lvl7pPr marL="2057057" indent="0" algn="ctr">
              <a:buNone/>
              <a:defRPr sz="1200"/>
            </a:lvl7pPr>
            <a:lvl8pPr marL="2399900" indent="0" algn="ctr">
              <a:buNone/>
              <a:defRPr sz="1200"/>
            </a:lvl8pPr>
            <a:lvl9pPr marL="2742743" indent="0" algn="ctr">
              <a:buNone/>
              <a:defRPr sz="1200"/>
            </a:lvl9pPr>
          </a:lstStyle>
          <a:p>
            <a:r>
              <a:rPr lang="en-US" altLang="zh-TW" dirty="0"/>
              <a:t>Click to edit Master subtitle style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7291137" y="4832078"/>
            <a:ext cx="1756459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/>
              <a:t>Confidential    </a:t>
            </a:r>
            <a:fld id="{F4A073C8-56C6-2B4A-AD47-1720B2EB1AE9}" type="datetimeFigureOut">
              <a:rPr lang="en-US" smtClean="0"/>
              <a:pPr/>
              <a:t>6/16/2026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0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880263"/>
            <a:ext cx="7886700" cy="32635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356" y="4860953"/>
            <a:ext cx="1749240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dirty="0"/>
              <a:t>Confidential    </a:t>
            </a:r>
            <a:fld id="{F4A073C8-56C6-2B4A-AD47-1720B2EB1AE9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86106" y="4813469"/>
            <a:ext cx="2057400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29238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34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880263"/>
            <a:ext cx="7886700" cy="32635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356" y="4860953"/>
            <a:ext cx="1749240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dirty="0"/>
              <a:t>Confidential    </a:t>
            </a:r>
            <a:fld id="{F4A073C8-56C6-2B4A-AD47-1720B2EB1AE9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86106" y="4813469"/>
            <a:ext cx="2057400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29238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20"/>
          <p:cNvSpPr/>
          <p:nvPr userDrawn="1"/>
        </p:nvSpPr>
        <p:spPr>
          <a:xfrm>
            <a:off x="6384175" y="-6967"/>
            <a:ext cx="2762679" cy="306000"/>
          </a:xfrm>
          <a:custGeom>
            <a:avLst/>
            <a:gdLst>
              <a:gd name="connsiteX0" fmla="*/ 0 w 1845644"/>
              <a:gd name="connsiteY0" fmla="*/ 0 h 320842"/>
              <a:gd name="connsiteX1" fmla="*/ 1845644 w 1845644"/>
              <a:gd name="connsiteY1" fmla="*/ 0 h 320842"/>
              <a:gd name="connsiteX2" fmla="*/ 1845644 w 1845644"/>
              <a:gd name="connsiteY2" fmla="*/ 320842 h 320842"/>
              <a:gd name="connsiteX3" fmla="*/ 0 w 1845644"/>
              <a:gd name="connsiteY3" fmla="*/ 320842 h 320842"/>
              <a:gd name="connsiteX4" fmla="*/ 0 w 1845644"/>
              <a:gd name="connsiteY4" fmla="*/ 0 h 320842"/>
              <a:gd name="connsiteX0" fmla="*/ 0 w 2054192"/>
              <a:gd name="connsiteY0" fmla="*/ 0 h 328863"/>
              <a:gd name="connsiteX1" fmla="*/ 2054192 w 2054192"/>
              <a:gd name="connsiteY1" fmla="*/ 8021 h 328863"/>
              <a:gd name="connsiteX2" fmla="*/ 2054192 w 2054192"/>
              <a:gd name="connsiteY2" fmla="*/ 328863 h 328863"/>
              <a:gd name="connsiteX3" fmla="*/ 208548 w 2054192"/>
              <a:gd name="connsiteY3" fmla="*/ 328863 h 328863"/>
              <a:gd name="connsiteX4" fmla="*/ 0 w 2054192"/>
              <a:gd name="connsiteY4" fmla="*/ 0 h 328863"/>
              <a:gd name="connsiteX0" fmla="*/ 0 w 1987659"/>
              <a:gd name="connsiteY0" fmla="*/ 0 h 328863"/>
              <a:gd name="connsiteX1" fmla="*/ 1987659 w 1987659"/>
              <a:gd name="connsiteY1" fmla="*/ 8021 h 328863"/>
              <a:gd name="connsiteX2" fmla="*/ 1987659 w 1987659"/>
              <a:gd name="connsiteY2" fmla="*/ 328863 h 328863"/>
              <a:gd name="connsiteX3" fmla="*/ 142015 w 1987659"/>
              <a:gd name="connsiteY3" fmla="*/ 328863 h 328863"/>
              <a:gd name="connsiteX4" fmla="*/ 0 w 1987659"/>
              <a:gd name="connsiteY4" fmla="*/ 0 h 32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7659" h="328863">
                <a:moveTo>
                  <a:pt x="0" y="0"/>
                </a:moveTo>
                <a:lnTo>
                  <a:pt x="1987659" y="8021"/>
                </a:lnTo>
                <a:lnTo>
                  <a:pt x="1987659" y="328863"/>
                </a:lnTo>
                <a:lnTo>
                  <a:pt x="142015" y="3288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83B8"/>
              </a:gs>
              <a:gs pos="50000">
                <a:srgbClr val="00B6F6">
                  <a:shade val="67500"/>
                  <a:satMod val="115000"/>
                </a:srgbClr>
              </a:gs>
              <a:gs pos="100000">
                <a:srgbClr val="00B6F6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2"/>
          <p:cNvSpPr txBox="1">
            <a:spLocks noChangeArrowheads="1"/>
          </p:cNvSpPr>
          <p:nvPr userDrawn="1"/>
        </p:nvSpPr>
        <p:spPr bwMode="auto">
          <a:xfrm>
            <a:off x="6290220" y="12194"/>
            <a:ext cx="2826289" cy="286839"/>
          </a:xfrm>
          <a:custGeom>
            <a:avLst/>
            <a:gdLst>
              <a:gd name="connsiteX0" fmla="*/ 0 w 2072083"/>
              <a:gd name="connsiteY0" fmla="*/ 0 h 295887"/>
              <a:gd name="connsiteX1" fmla="*/ 2072083 w 2072083"/>
              <a:gd name="connsiteY1" fmla="*/ 0 h 295887"/>
              <a:gd name="connsiteX2" fmla="*/ 2072083 w 2072083"/>
              <a:gd name="connsiteY2" fmla="*/ 295887 h 295887"/>
              <a:gd name="connsiteX3" fmla="*/ 0 w 2072083"/>
              <a:gd name="connsiteY3" fmla="*/ 295887 h 295887"/>
              <a:gd name="connsiteX4" fmla="*/ 0 w 2072083"/>
              <a:gd name="connsiteY4" fmla="*/ 0 h 295887"/>
              <a:gd name="connsiteX0" fmla="*/ 67112 w 2072083"/>
              <a:gd name="connsiteY0" fmla="*/ 0 h 312665"/>
              <a:gd name="connsiteX1" fmla="*/ 2072083 w 2072083"/>
              <a:gd name="connsiteY1" fmla="*/ 16778 h 312665"/>
              <a:gd name="connsiteX2" fmla="*/ 2072083 w 2072083"/>
              <a:gd name="connsiteY2" fmla="*/ 312665 h 312665"/>
              <a:gd name="connsiteX3" fmla="*/ 0 w 2072083"/>
              <a:gd name="connsiteY3" fmla="*/ 312665 h 312665"/>
              <a:gd name="connsiteX4" fmla="*/ 67112 w 2072083"/>
              <a:gd name="connsiteY4" fmla="*/ 0 h 312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083" h="312665">
                <a:moveTo>
                  <a:pt x="67112" y="0"/>
                </a:moveTo>
                <a:lnTo>
                  <a:pt x="2072083" y="16778"/>
                </a:lnTo>
                <a:lnTo>
                  <a:pt x="2072083" y="312665"/>
                </a:lnTo>
                <a:lnTo>
                  <a:pt x="0" y="312665"/>
                </a:lnTo>
                <a:lnTo>
                  <a:pt x="67112" y="0"/>
                </a:lnTo>
                <a:close/>
              </a:path>
            </a:pathLst>
          </a:cu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/>
            <a:r>
              <a:rPr lang="zh-TW" altLang="en-US" sz="105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結合通路、設計、製造的專業電子夥伴</a:t>
            </a:r>
          </a:p>
        </p:txBody>
      </p:sp>
    </p:spTree>
    <p:extLst>
      <p:ext uri="{BB962C8B-B14F-4D97-AF65-F5344CB8AC3E}">
        <p14:creationId xmlns:p14="http://schemas.microsoft.com/office/powerpoint/2010/main" val="210052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="" xmlns:a16="http://schemas.microsoft.com/office/drawing/2014/main" id="{40D466DF-4BD8-4868-A9AD-0E89C717AD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16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"/>
            <a:ext cx="9145121" cy="5142871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1" y="1837427"/>
            <a:ext cx="6858000" cy="795046"/>
          </a:xfrm>
        </p:spPr>
        <p:txBody>
          <a:bodyPr anchor="b">
            <a:normAutofit/>
          </a:bodyPr>
          <a:lstStyle>
            <a:lvl1pPr algn="ctr">
              <a:defRPr sz="33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Transition slide 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371631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342843" indent="0" algn="ctr">
              <a:buNone/>
              <a:defRPr sz="1500"/>
            </a:lvl2pPr>
            <a:lvl3pPr marL="685685" indent="0" algn="ctr">
              <a:buNone/>
              <a:defRPr sz="1400"/>
            </a:lvl3pPr>
            <a:lvl4pPr marL="1028528" indent="0" algn="ctr">
              <a:buNone/>
              <a:defRPr sz="1200"/>
            </a:lvl4pPr>
            <a:lvl5pPr marL="1371371" indent="0" algn="ctr">
              <a:buNone/>
              <a:defRPr sz="1200"/>
            </a:lvl5pPr>
            <a:lvl6pPr marL="1714215" indent="0" algn="ctr">
              <a:buNone/>
              <a:defRPr sz="1200"/>
            </a:lvl6pPr>
            <a:lvl7pPr marL="2057057" indent="0" algn="ctr">
              <a:buNone/>
              <a:defRPr sz="1200"/>
            </a:lvl7pPr>
            <a:lvl8pPr marL="2399900" indent="0" algn="ctr">
              <a:buNone/>
              <a:defRPr sz="1200"/>
            </a:lvl8pPr>
            <a:lvl9pPr marL="2742743" indent="0" algn="ctr">
              <a:buNone/>
              <a:defRPr sz="1200"/>
            </a:lvl9pPr>
          </a:lstStyle>
          <a:p>
            <a:r>
              <a:rPr lang="en-US" altLang="zh-TW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2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131425"/>
            <a:ext cx="9144000" cy="1012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AE26669-12ED-429A-B2E1-266CD3186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391"/>
            <a:ext cx="9144000" cy="5170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68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 userDrawn="1"/>
        </p:nvSpPr>
        <p:spPr>
          <a:xfrm>
            <a:off x="352926" y="2630905"/>
            <a:ext cx="8414085" cy="23902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628651" y="519967"/>
            <a:ext cx="27241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豐藝集團</a:t>
            </a:r>
          </a:p>
          <a:p>
            <a:pPr>
              <a:lnSpc>
                <a:spcPts val="3360"/>
              </a:lnSpc>
            </a:pPr>
            <a:r>
              <a:rPr lang="en-US" altLang="zh-TW" sz="28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PROMATE GROUP</a:t>
            </a:r>
            <a:endParaRPr lang="zh-TW" altLang="en-US" sz="2800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7" name="Picture 5" descr="D:\PSC\PSC materials\PMT CI logos\PROMATE LOGO +slogan-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62" y="3181037"/>
            <a:ext cx="963171" cy="34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/>
          <p:cNvSpPr txBox="1"/>
          <p:nvPr userDrawn="1"/>
        </p:nvSpPr>
        <p:spPr>
          <a:xfrm>
            <a:off x="352927" y="3641151"/>
            <a:ext cx="27592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專業電子通路商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成立</a:t>
            </a:r>
            <a:r>
              <a:rPr lang="en-US" altLang="zh-TW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34</a:t>
            </a:r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年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台灣排名第八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半導體、面板</a:t>
            </a:r>
          </a:p>
        </p:txBody>
      </p:sp>
      <p:cxnSp>
        <p:nvCxnSpPr>
          <p:cNvPr id="19" name="直線接點 18"/>
          <p:cNvCxnSpPr/>
          <p:nvPr userDrawn="1"/>
        </p:nvCxnSpPr>
        <p:spPr>
          <a:xfrm>
            <a:off x="3112169" y="2977566"/>
            <a:ext cx="0" cy="175485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 userDrawn="1"/>
        </p:nvCxnSpPr>
        <p:spPr>
          <a:xfrm>
            <a:off x="6023811" y="2950370"/>
            <a:ext cx="0" cy="175485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6" descr="D:\PSC\PSC materials\PSC - CI\PSClogo-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990" y="3085087"/>
            <a:ext cx="902306" cy="45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字方塊 21"/>
          <p:cNvSpPr txBox="1"/>
          <p:nvPr userDrawn="1"/>
        </p:nvSpPr>
        <p:spPr>
          <a:xfrm>
            <a:off x="3112169" y="3641151"/>
            <a:ext cx="291164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原廠委託設計代工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成立</a:t>
            </a:r>
            <a:r>
              <a:rPr lang="en-US" altLang="zh-TW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20</a:t>
            </a:r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年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專精於人機介面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外銷歐美日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3" name="Picture 7" descr="D:\PSC\Vending\PSCritica sales-kit\Critica_VI_Design\PSCritica_logo_Final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095" y="3115670"/>
            <a:ext cx="862604" cy="41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9" descr="D:\PSC\Vending\PSCritica sales-kit\Critica_VI_Design\Final\PSTaptic_logo_23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831" y="3241440"/>
            <a:ext cx="782330" cy="26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/>
          <p:cNvSpPr txBox="1"/>
          <p:nvPr userDrawn="1"/>
        </p:nvSpPr>
        <p:spPr>
          <a:xfrm>
            <a:off x="6023811" y="3641151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IOT</a:t>
            </a:r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解決方案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專注零售及商用機聯網領域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endParaRPr lang="zh-TW" altLang="en-US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6" name="文字方塊 25"/>
          <p:cNvSpPr txBox="1"/>
          <p:nvPr userDrawn="1"/>
        </p:nvSpPr>
        <p:spPr>
          <a:xfrm>
            <a:off x="4804757" y="2000957"/>
            <a:ext cx="375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6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結合通路、設計、製造的專業電子夥伴</a:t>
            </a:r>
          </a:p>
        </p:txBody>
      </p:sp>
    </p:spTree>
    <p:extLst>
      <p:ext uri="{BB962C8B-B14F-4D97-AF65-F5344CB8AC3E}">
        <p14:creationId xmlns:p14="http://schemas.microsoft.com/office/powerpoint/2010/main" val="333086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440603" y="759873"/>
            <a:ext cx="1125629" cy="6669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en-US" altLang="zh-CN" sz="1867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Format</a:t>
            </a:r>
          </a:p>
          <a:p>
            <a:pPr defTabSz="609585"/>
            <a:r>
              <a:rPr lang="en-US" altLang="zh-CN" sz="1867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Guideline</a:t>
            </a:r>
            <a:endParaRPr lang="zh-CN" altLang="en-US" sz="1867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857674" y="841948"/>
            <a:ext cx="1402001" cy="2225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TW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字體</a:t>
            </a:r>
            <a:r>
              <a:rPr lang="en-US" altLang="zh-TW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FONT</a:t>
            </a: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395052" y="841948"/>
            <a:ext cx="3727457" cy="2225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TW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English : </a:t>
            </a:r>
            <a:r>
              <a:rPr lang="en-US" altLang="zh-CN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Calibri 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中文 </a:t>
            </a:r>
            <a:r>
              <a:rPr lang="zh-TW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微軟正黑體</a:t>
            </a: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7288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28652" y="95542"/>
            <a:ext cx="5793415" cy="455301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429240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373126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0901"/>
            <a:ext cx="9144900" cy="3741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43903"/>
            <a:ext cx="7886700" cy="621305"/>
          </a:xfrm>
          <a:prstGeom prst="rect">
            <a:avLst/>
          </a:prstGeom>
        </p:spPr>
        <p:txBody>
          <a:bodyPr vert="horz" lIns="68568" tIns="34285" rIns="68568" bIns="34285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38463"/>
            <a:ext cx="7886700" cy="3674445"/>
          </a:xfrm>
          <a:prstGeom prst="rect">
            <a:avLst/>
          </a:prstGeom>
        </p:spPr>
        <p:txBody>
          <a:bodyPr vert="horz" lIns="68568" tIns="34285" rIns="68568" bIns="34285" rtlCol="0">
            <a:normAutofit/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6287" y="4822017"/>
            <a:ext cx="892347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7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4" r:id="rId7"/>
    <p:sldLayoutId id="2147483653" r:id="rId8"/>
    <p:sldLayoutId id="2147483657" r:id="rId9"/>
  </p:sldLayoutIdLst>
  <p:txStyles>
    <p:titleStyle>
      <a:lvl1pPr algn="l" defTabSz="685685" rtl="0" eaLnBrk="1" latinLnBrk="0" hangingPunct="1">
        <a:lnSpc>
          <a:spcPct val="90000"/>
        </a:lnSpc>
        <a:spcBef>
          <a:spcPct val="0"/>
        </a:spcBef>
        <a:buNone/>
        <a:defRPr lang="en-US" altLang="zh-TW" sz="2700" b="1" kern="1200" dirty="0">
          <a:solidFill>
            <a:srgbClr val="1C4382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171422" indent="-171422" algn="l" defTabSz="685685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514265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857107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199950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1542793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1885635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78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321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164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43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85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28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71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215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057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900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743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00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19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627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22548</TotalTime>
  <Words>0</Words>
  <Application>Microsoft Office PowerPoint</Application>
  <PresentationFormat>如螢幕大小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Theme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智慧生產管理數位轉型經驗分享</dc:title>
  <dc:creator>Andy Chen</dc:creator>
  <cp:lastModifiedBy>King Lin</cp:lastModifiedBy>
  <cp:revision>292</cp:revision>
  <dcterms:created xsi:type="dcterms:W3CDTF">2020-11-27T01:52:06Z</dcterms:created>
  <dcterms:modified xsi:type="dcterms:W3CDTF">2026-06-16T05:48:26Z</dcterms:modified>
</cp:coreProperties>
</file>